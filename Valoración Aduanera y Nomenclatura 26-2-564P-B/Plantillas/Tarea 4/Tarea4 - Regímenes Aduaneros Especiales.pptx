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9DA1D5-8B3A-6740-B040-99C61D7E5B98}" v="26" dt="2026-08-09T22:48:15.952"/>
    <p1510:client id="{B693DEAB-0472-2B13-30A4-1E2DEBD121F6}" v="1" dt="2026-08-09T22:18:45.5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B693DEAB-0472-2B13-30A4-1E2DEBD121F6}"/>
    <pc:docChg chg="modSld">
      <pc:chgData name="Guest User" userId="" providerId="Windows Live" clId="Web-{B693DEAB-0472-2B13-30A4-1E2DEBD121F6}" dt="2026-08-09T22:18:45.538" v="0" actId="1076"/>
      <pc:docMkLst>
        <pc:docMk/>
      </pc:docMkLst>
      <pc:sldChg chg="modSp">
        <pc:chgData name="Guest User" userId="" providerId="Windows Live" clId="Web-{B693DEAB-0472-2B13-30A4-1E2DEBD121F6}" dt="2026-08-09T22:18:45.538" v="0" actId="1076"/>
        <pc:sldMkLst>
          <pc:docMk/>
          <pc:sldMk cId="0" sldId="261"/>
        </pc:sldMkLst>
        <pc:spChg chg="mod">
          <ac:chgData name="Guest User" userId="" providerId="Windows Live" clId="Web-{B693DEAB-0472-2B13-30A4-1E2DEBD121F6}" dt="2026-08-09T22:18:45.538" v="0" actId="1076"/>
          <ac:spMkLst>
            <pc:docMk/>
            <pc:sldMk cId="0" sldId="261"/>
            <ac:spMk id="24" creationId="{00000000-0000-0000-0000-000000000000}"/>
          </ac:spMkLst>
        </pc:spChg>
      </pc:sldChg>
    </pc:docChg>
  </pc:docChgLst>
  <pc:docChgLst>
    <pc:chgData name="Guest User" providerId="Windows Live" clId="Web-{339DA1D5-8B3A-6740-B040-99C61D7E5B98}"/>
    <pc:docChg chg="modSld">
      <pc:chgData name="Guest User" userId="" providerId="Windows Live" clId="Web-{339DA1D5-8B3A-6740-B040-99C61D7E5B98}" dt="2026-08-09T22:48:15.952" v="26" actId="20577"/>
      <pc:docMkLst>
        <pc:docMk/>
      </pc:docMkLst>
      <pc:sldChg chg="modSp">
        <pc:chgData name="Guest User" userId="" providerId="Windows Live" clId="Web-{339DA1D5-8B3A-6740-B040-99C61D7E5B98}" dt="2026-08-09T22:43:47.458" v="12" actId="20577"/>
        <pc:sldMkLst>
          <pc:docMk/>
          <pc:sldMk cId="0" sldId="261"/>
        </pc:sldMkLst>
        <pc:spChg chg="mod">
          <ac:chgData name="Guest User" userId="" providerId="Windows Live" clId="Web-{339DA1D5-8B3A-6740-B040-99C61D7E5B98}" dt="2026-08-09T22:43:47.458" v="12" actId="20577"/>
          <ac:spMkLst>
            <pc:docMk/>
            <pc:sldMk cId="0" sldId="261"/>
            <ac:spMk id="6" creationId="{00000000-0000-0000-0000-000000000000}"/>
          </ac:spMkLst>
        </pc:spChg>
      </pc:sldChg>
      <pc:sldChg chg="modSp">
        <pc:chgData name="Guest User" userId="" providerId="Windows Live" clId="Web-{339DA1D5-8B3A-6740-B040-99C61D7E5B98}" dt="2026-08-09T22:47:39.185" v="20" actId="20577"/>
        <pc:sldMkLst>
          <pc:docMk/>
          <pc:sldMk cId="0" sldId="263"/>
        </pc:sldMkLst>
        <pc:spChg chg="mod">
          <ac:chgData name="Guest User" userId="" providerId="Windows Live" clId="Web-{339DA1D5-8B3A-6740-B040-99C61D7E5B98}" dt="2026-08-09T22:47:39.185" v="20" actId="20577"/>
          <ac:spMkLst>
            <pc:docMk/>
            <pc:sldMk cId="0" sldId="263"/>
            <ac:spMk id="25" creationId="{00000000-0000-0000-0000-000000000000}"/>
          </ac:spMkLst>
        </pc:spChg>
        <pc:spChg chg="mod">
          <ac:chgData name="Guest User" userId="" providerId="Windows Live" clId="Web-{339DA1D5-8B3A-6740-B040-99C61D7E5B98}" dt="2026-08-09T22:46:03.494" v="16" actId="20577"/>
          <ac:spMkLst>
            <pc:docMk/>
            <pc:sldMk cId="0" sldId="263"/>
            <ac:spMk id="28" creationId="{00000000-0000-0000-0000-000000000000}"/>
          </ac:spMkLst>
        </pc:spChg>
      </pc:sldChg>
      <pc:sldChg chg="modSp">
        <pc:chgData name="Guest User" userId="" providerId="Windows Live" clId="Web-{339DA1D5-8B3A-6740-B040-99C61D7E5B98}" dt="2026-08-09T22:48:15.952" v="26" actId="20577"/>
        <pc:sldMkLst>
          <pc:docMk/>
          <pc:sldMk cId="0" sldId="264"/>
        </pc:sldMkLst>
        <pc:spChg chg="mod">
          <ac:chgData name="Guest User" userId="" providerId="Windows Live" clId="Web-{339DA1D5-8B3A-6740-B040-99C61D7E5B98}" dt="2026-08-09T22:48:15.952" v="26" actId="20577"/>
          <ac:spMkLst>
            <pc:docMk/>
            <pc:sldMk cId="0" sldId="264"/>
            <ac:spMk id="10" creationId="{00000000-0000-0000-0000-000000000000}"/>
          </ac:spMkLst>
        </pc:spChg>
      </pc:sldChg>
    </pc:docChg>
  </pc:docChgLst>
  <pc:docChgLst>
    <pc:chgData name="Eric Mozombite" userId="689e7940661f4766" providerId="LiveId" clId="{A612BDB4-80B0-422B-B32D-ABF5297297E2}"/>
    <pc:docChg chg="modSld">
      <pc:chgData name="Eric Mozombite" userId="689e7940661f4766" providerId="LiveId" clId="{A612BDB4-80B0-422B-B32D-ABF5297297E2}" dt="2026-08-08T22:53:37.731" v="15" actId="6549"/>
      <pc:docMkLst>
        <pc:docMk/>
      </pc:docMkLst>
      <pc:sldChg chg="modSp mod">
        <pc:chgData name="Eric Mozombite" userId="689e7940661f4766" providerId="LiveId" clId="{A612BDB4-80B0-422B-B32D-ABF5297297E2}" dt="2026-08-08T22:53:05.682" v="14" actId="20577"/>
        <pc:sldMkLst>
          <pc:docMk/>
          <pc:sldMk cId="0" sldId="257"/>
        </pc:sldMkLst>
        <pc:spChg chg="mod">
          <ac:chgData name="Eric Mozombite" userId="689e7940661f4766" providerId="LiveId" clId="{A612BDB4-80B0-422B-B32D-ABF5297297E2}" dt="2026-08-08T22:53:05.682" v="14" actId="20577"/>
          <ac:spMkLst>
            <pc:docMk/>
            <pc:sldMk cId="0" sldId="257"/>
            <ac:spMk id="3" creationId="{00000000-0000-0000-0000-000000000000}"/>
          </ac:spMkLst>
        </pc:spChg>
      </pc:sldChg>
      <pc:sldChg chg="modSp mod">
        <pc:chgData name="Eric Mozombite" userId="689e7940661f4766" providerId="LiveId" clId="{A612BDB4-80B0-422B-B32D-ABF5297297E2}" dt="2026-08-08T22:53:37.731" v="15" actId="6549"/>
        <pc:sldMkLst>
          <pc:docMk/>
          <pc:sldMk cId="0" sldId="259"/>
        </pc:sldMkLst>
        <pc:spChg chg="mod">
          <ac:chgData name="Eric Mozombite" userId="689e7940661f4766" providerId="LiveId" clId="{A612BDB4-80B0-422B-B32D-ABF5297297E2}" dt="2026-08-08T22:53:37.731" v="15" actId="6549"/>
          <ac:spMkLst>
            <pc:docMk/>
            <pc:sldMk cId="0" sldId="259"/>
            <ac:spMk id="2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2225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Presentación de la Tarea 4. Desarrollamos tres regímenes aduaneros especiales mediante casos aplicados, cada uno con su línea de tiempo y la documentación que se emite en cada etapa.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Cada integrante desarrolla un régimen distinto. El caso 1 se trabajó en pareja por tener dos nacionalizaciones parciales y tres emisiones de garantía.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Cuadro comparativo de entrada. La idea común a los tres es la suspensión del pago de tributos: en ningún caso se exonera, solo se difiere o se acota la base.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Marco conceptual común. Conviene fijar estas cuatro ideas antes de entrar a los casos porque se repiten en los tres.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 plazo general es de 18 meses. Los plazos especiales existen pero no aplican a este caso; se mencionan porque delimitan el régimen.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 fin determinado y el lugar específico son requisitos del régimen: no basta con traer la maquinaria, debe destinarse a un uso concreto en un lugar concreto.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 monto de la garantía no es arbitrario: es la liquidación completa de los tributos que se dejan de pagar. Se emite por un monto redondeado hacia arriba.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Esta es la línea de tiempo del caso. Lo importante: en cada etapa hay documentos concretos que se emiten, y la garantía se va reduciendo.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 cuadro resume toda la operación. Nótese que la garantía baja proporcionalmente al saldo, y que el plazo es independiente de las renovaciones.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Las cuatro formas de concluir el régimen. La ejecución automática es la consecuencia de la inacción: no requiere que la Aduana notifique nada.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Cierre del caso 1. La idea de fondo: el régimen no regala nada, difiere la decisión y el desembolso.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 depósito es el régimen más usado por los importadores. La diferencia clave con la admisión temporal: el plazo es fijo, no prorrogable, y no hay garantía.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 Warrant es un título valor. Lo esencial: es financiamiento bancario, no tiene efecto tributario aduanero.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 planteamiento parte de un problema real de caja. El depósito no reduce el tributo, lo reparte en el tiempo.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Nótese que el Warrant aparece en el medio de la línea: no es requisito del régimen, es una operación financiera que el importador añade porque necesita caja.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 cuadro muestra el flujo de caja completo. El préstamo entra, financia el primer despacho, y sale con intereses una vez que la venta genera liquidez.</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Estas tres advertencias son las que más se malinterpretan en la práctica. Especialmente la primera: el remate no borra la deuda.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Cierre del caso 2. Distinguir claramente los dos problemas que resuelve cada instrumento.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Distinguir perfeccionamiento de reparación es clave. El indicador objetivo es el cambio de partida arancelaria.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 valor de la materia prima aparece en la tabla en gris a propósito: es el dato que NO entra en la base imponible.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 factura del taller es el documento clave del caso: sin ella no se puede acreditar el valor agregado y la Aduana tributaría sobre el valor total.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Este es el corazón del caso. La base imponible excluye la materia prima nacional e incluye los cuatro conceptos logísticos de ida y vuelta.</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 liquidación sigue la secuencia normal de una importación: lo único distinto es la base sobre la que se aplica.</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 comparación hace visible el beneficio del régimen. Es un cálculo referencial para dimensionar el efecto, con las mismas tasas en ambos escenarios.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Cierre del caso 3. Los tres puntos son los que el profesor puede preguntar: plazo, prueba documental y destino final.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Cierre. La idea que amarra los tres casos: la suspensión no es exoneración, y la gestión del plazo y de los documentos es lo que hace la diferencia.</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960120"/>
            <a:ext cx="11094415" cy="310896"/>
          </a:xfrm>
          <a:prstGeom prst="rect">
            <a:avLst/>
          </a:prstGeom>
          <a:noFill/>
          <a:ln/>
        </p:spPr>
        <p:txBody>
          <a:bodyPr wrap="square" lIns="0" tIns="0" rIns="0" bIns="0" rtlCol="0" anchor="ctr"/>
          <a:lstStyle/>
          <a:p>
            <a:pPr marL="0" indent="0">
              <a:buNone/>
            </a:pPr>
            <a:r>
              <a:rPr lang="en-US" sz="1400" b="1" kern="0" spc="200">
                <a:solidFill>
                  <a:srgbClr val="0B3C5D"/>
                </a:solidFill>
                <a:latin typeface="Cambria" pitchFamily="34" charset="0"/>
                <a:ea typeface="Cambria" pitchFamily="34" charset="-122"/>
                <a:cs typeface="Cambria" pitchFamily="34" charset="-120"/>
              </a:rPr>
              <a:t>TAREA 4  ·  VALORACIÓN ADUANERA Y NOMENCLATURA</a:t>
            </a:r>
            <a:endParaRPr lang="en-US" sz="1400"/>
          </a:p>
        </p:txBody>
      </p:sp>
      <p:sp>
        <p:nvSpPr>
          <p:cNvPr id="3" name="Text 1"/>
          <p:cNvSpPr/>
          <p:nvPr/>
        </p:nvSpPr>
        <p:spPr>
          <a:xfrm>
            <a:off x="548640" y="1371600"/>
            <a:ext cx="11094415" cy="868680"/>
          </a:xfrm>
          <a:prstGeom prst="rect">
            <a:avLst/>
          </a:prstGeom>
          <a:noFill/>
          <a:ln/>
        </p:spPr>
        <p:txBody>
          <a:bodyPr wrap="square" lIns="0" tIns="0" rIns="0" bIns="0" rtlCol="0" anchor="ctr"/>
          <a:lstStyle/>
          <a:p>
            <a:pPr marL="0" indent="0">
              <a:buNone/>
            </a:pPr>
            <a:r>
              <a:rPr lang="en-US" sz="4600" b="1">
                <a:solidFill>
                  <a:srgbClr val="12212F"/>
                </a:solidFill>
                <a:latin typeface="Century Schoolbook" pitchFamily="34" charset="0"/>
                <a:ea typeface="Century Schoolbook" pitchFamily="34" charset="-122"/>
                <a:cs typeface="Century Schoolbook" pitchFamily="34" charset="-120"/>
              </a:rPr>
              <a:t>Regímenes Aduaneros Especiales</a:t>
            </a:r>
            <a:endParaRPr lang="en-US" sz="4600"/>
          </a:p>
        </p:txBody>
      </p:sp>
      <p:sp>
        <p:nvSpPr>
          <p:cNvPr id="4" name="Text 2"/>
          <p:cNvSpPr/>
          <p:nvPr/>
        </p:nvSpPr>
        <p:spPr>
          <a:xfrm>
            <a:off x="548640" y="2286000"/>
            <a:ext cx="9997135" cy="411480"/>
          </a:xfrm>
          <a:prstGeom prst="rect">
            <a:avLst/>
          </a:prstGeom>
          <a:noFill/>
          <a:ln/>
        </p:spPr>
        <p:txBody>
          <a:bodyPr wrap="square" lIns="0" tIns="0" rIns="0" bIns="0" rtlCol="0" anchor="ctr"/>
          <a:lstStyle/>
          <a:p>
            <a:pPr marL="0" indent="0">
              <a:buNone/>
            </a:pPr>
            <a:r>
              <a:rPr lang="en-US" sz="1800">
                <a:solidFill>
                  <a:srgbClr val="44586A"/>
                </a:solidFill>
                <a:latin typeface="Cambria" pitchFamily="34" charset="0"/>
                <a:ea typeface="Cambria" pitchFamily="34" charset="-122"/>
                <a:cs typeface="Cambria" pitchFamily="34" charset="-120"/>
              </a:rPr>
              <a:t>Tres casos aplicados: suspensión de tributos, garantías y valor agregado</a:t>
            </a:r>
            <a:endParaRPr lang="en-US" sz="1800"/>
          </a:p>
        </p:txBody>
      </p:sp>
      <p:sp>
        <p:nvSpPr>
          <p:cNvPr id="5" name="Shape 3"/>
          <p:cNvSpPr/>
          <p:nvPr/>
        </p:nvSpPr>
        <p:spPr>
          <a:xfrm>
            <a:off x="548640" y="3154680"/>
            <a:ext cx="3520440" cy="1600200"/>
          </a:xfrm>
          <a:prstGeom prst="roundRect">
            <a:avLst>
              <a:gd name="adj" fmla="val 3429"/>
            </a:avLst>
          </a:prstGeom>
          <a:solidFill>
            <a:srgbClr val="F1F6F9"/>
          </a:solidFill>
          <a:ln w="12700">
            <a:solidFill>
              <a:srgbClr val="C9D8E2"/>
            </a:solidFill>
            <a:prstDash val="solid"/>
          </a:ln>
        </p:spPr>
        <p:txBody>
          <a:bodyPr/>
          <a:lstStyle/>
          <a:p>
            <a:endParaRPr lang="es-PE"/>
          </a:p>
        </p:txBody>
      </p:sp>
      <p:sp>
        <p:nvSpPr>
          <p:cNvPr id="6" name="Shape 4"/>
          <p:cNvSpPr/>
          <p:nvPr/>
        </p:nvSpPr>
        <p:spPr>
          <a:xfrm>
            <a:off x="832104" y="2871216"/>
            <a:ext cx="566928" cy="566928"/>
          </a:xfrm>
          <a:prstGeom prst="ellipse">
            <a:avLst/>
          </a:prstGeom>
          <a:solidFill>
            <a:srgbClr val="1D7874"/>
          </a:solidFill>
          <a:ln w="12700">
            <a:solidFill>
              <a:srgbClr val="1D7874"/>
            </a:solidFill>
            <a:prstDash val="solid"/>
          </a:ln>
        </p:spPr>
        <p:txBody>
          <a:bodyPr/>
          <a:lstStyle/>
          <a:p>
            <a:endParaRPr lang="es-PE"/>
          </a:p>
        </p:txBody>
      </p:sp>
      <p:sp>
        <p:nvSpPr>
          <p:cNvPr id="7" name="Text 5"/>
          <p:cNvSpPr/>
          <p:nvPr/>
        </p:nvSpPr>
        <p:spPr>
          <a:xfrm>
            <a:off x="832104" y="2871216"/>
            <a:ext cx="566928" cy="566928"/>
          </a:xfrm>
          <a:prstGeom prst="rect">
            <a:avLst/>
          </a:prstGeom>
          <a:noFill/>
          <a:ln/>
        </p:spPr>
        <p:txBody>
          <a:bodyPr wrap="square" lIns="0" tIns="0" rIns="0" bIns="0" rtlCol="0" anchor="ctr"/>
          <a:lstStyle/>
          <a:p>
            <a:pPr marL="0" indent="0" algn="ctr">
              <a:buNone/>
            </a:pPr>
            <a:r>
              <a:rPr lang="en-US" sz="1800" b="1">
                <a:solidFill>
                  <a:srgbClr val="FFFFFF"/>
                </a:solidFill>
                <a:latin typeface="Century Schoolbook" pitchFamily="34" charset="0"/>
                <a:ea typeface="Century Schoolbook" pitchFamily="34" charset="-122"/>
                <a:cs typeface="Century Schoolbook" pitchFamily="34" charset="-120"/>
              </a:rPr>
              <a:t>1</a:t>
            </a:r>
            <a:endParaRPr lang="en-US" sz="1800"/>
          </a:p>
        </p:txBody>
      </p:sp>
      <p:sp>
        <p:nvSpPr>
          <p:cNvPr id="8" name="Text 6"/>
          <p:cNvSpPr/>
          <p:nvPr/>
        </p:nvSpPr>
        <p:spPr>
          <a:xfrm>
            <a:off x="749808" y="3675888"/>
            <a:ext cx="3108960" cy="384048"/>
          </a:xfrm>
          <a:prstGeom prst="rect">
            <a:avLst/>
          </a:prstGeom>
          <a:noFill/>
          <a:ln/>
        </p:spPr>
        <p:txBody>
          <a:bodyPr wrap="square" lIns="0" tIns="0" rIns="0" bIns="0" rtlCol="0" anchor="ctr"/>
          <a:lstStyle/>
          <a:p>
            <a:pPr marL="0" indent="0">
              <a:buNone/>
            </a:pPr>
            <a:r>
              <a:rPr lang="en-US" sz="1600" b="1">
                <a:solidFill>
                  <a:srgbClr val="1D7874"/>
                </a:solidFill>
                <a:latin typeface="Century Schoolbook" pitchFamily="34" charset="0"/>
                <a:ea typeface="Century Schoolbook" pitchFamily="34" charset="-122"/>
                <a:cs typeface="Century Schoolbook" pitchFamily="34" charset="-120"/>
              </a:rPr>
              <a:t>Admisión Temporal</a:t>
            </a:r>
            <a:endParaRPr lang="en-US" sz="1600"/>
          </a:p>
        </p:txBody>
      </p:sp>
      <p:sp>
        <p:nvSpPr>
          <p:cNvPr id="9" name="Text 7"/>
          <p:cNvSpPr/>
          <p:nvPr/>
        </p:nvSpPr>
        <p:spPr>
          <a:xfrm>
            <a:off x="749808" y="4059936"/>
            <a:ext cx="3108960" cy="566928"/>
          </a:xfrm>
          <a:prstGeom prst="rect">
            <a:avLst/>
          </a:prstGeom>
          <a:noFill/>
          <a:ln/>
        </p:spPr>
        <p:txBody>
          <a:bodyPr wrap="square" lIns="0" tIns="0" rIns="0" bIns="0" rtlCol="0" anchor="ctr"/>
          <a:lstStyle/>
          <a:p>
            <a:pPr marL="0" indent="0">
              <a:buNone/>
            </a:pPr>
            <a:r>
              <a:rPr lang="en-US" sz="1300">
                <a:solidFill>
                  <a:srgbClr val="12212F"/>
                </a:solidFill>
                <a:latin typeface="Cambria" pitchFamily="34" charset="0"/>
                <a:ea typeface="Cambria" pitchFamily="34" charset="-122"/>
                <a:cs typeface="Cambria" pitchFamily="34" charset="-120"/>
              </a:rPr>
              <a:t>Reexportación en el mismo estado</a:t>
            </a:r>
            <a:endParaRPr lang="en-US" sz="1300"/>
          </a:p>
        </p:txBody>
      </p:sp>
      <p:sp>
        <p:nvSpPr>
          <p:cNvPr id="10" name="Shape 8"/>
          <p:cNvSpPr/>
          <p:nvPr/>
        </p:nvSpPr>
        <p:spPr>
          <a:xfrm>
            <a:off x="4325112" y="3154680"/>
            <a:ext cx="3520440" cy="1600200"/>
          </a:xfrm>
          <a:prstGeom prst="roundRect">
            <a:avLst>
              <a:gd name="adj" fmla="val 3429"/>
            </a:avLst>
          </a:prstGeom>
          <a:solidFill>
            <a:srgbClr val="F1F6F9"/>
          </a:solidFill>
          <a:ln w="12700">
            <a:solidFill>
              <a:srgbClr val="C9D8E2"/>
            </a:solidFill>
            <a:prstDash val="solid"/>
          </a:ln>
        </p:spPr>
        <p:txBody>
          <a:bodyPr/>
          <a:lstStyle/>
          <a:p>
            <a:endParaRPr lang="es-PE"/>
          </a:p>
        </p:txBody>
      </p:sp>
      <p:sp>
        <p:nvSpPr>
          <p:cNvPr id="11" name="Shape 9"/>
          <p:cNvSpPr/>
          <p:nvPr/>
        </p:nvSpPr>
        <p:spPr>
          <a:xfrm>
            <a:off x="4608576" y="2871216"/>
            <a:ext cx="566928" cy="566928"/>
          </a:xfrm>
          <a:prstGeom prst="ellipse">
            <a:avLst/>
          </a:prstGeom>
          <a:solidFill>
            <a:srgbClr val="A65E2E"/>
          </a:solidFill>
          <a:ln w="12700">
            <a:solidFill>
              <a:srgbClr val="A65E2E"/>
            </a:solidFill>
            <a:prstDash val="solid"/>
          </a:ln>
        </p:spPr>
        <p:txBody>
          <a:bodyPr/>
          <a:lstStyle/>
          <a:p>
            <a:endParaRPr lang="es-PE"/>
          </a:p>
        </p:txBody>
      </p:sp>
      <p:sp>
        <p:nvSpPr>
          <p:cNvPr id="12" name="Text 10"/>
          <p:cNvSpPr/>
          <p:nvPr/>
        </p:nvSpPr>
        <p:spPr>
          <a:xfrm>
            <a:off x="4608576" y="2871216"/>
            <a:ext cx="566928" cy="566928"/>
          </a:xfrm>
          <a:prstGeom prst="rect">
            <a:avLst/>
          </a:prstGeom>
          <a:noFill/>
          <a:ln/>
        </p:spPr>
        <p:txBody>
          <a:bodyPr wrap="square" lIns="0" tIns="0" rIns="0" bIns="0" rtlCol="0" anchor="ctr"/>
          <a:lstStyle/>
          <a:p>
            <a:pPr marL="0" indent="0" algn="ctr">
              <a:buNone/>
            </a:pPr>
            <a:r>
              <a:rPr lang="en-US" sz="1800" b="1">
                <a:solidFill>
                  <a:srgbClr val="FFFFFF"/>
                </a:solidFill>
                <a:latin typeface="Century Schoolbook" pitchFamily="34" charset="0"/>
                <a:ea typeface="Century Schoolbook" pitchFamily="34" charset="-122"/>
                <a:cs typeface="Century Schoolbook" pitchFamily="34" charset="-120"/>
              </a:rPr>
              <a:t>2</a:t>
            </a:r>
            <a:endParaRPr lang="en-US" sz="1800"/>
          </a:p>
        </p:txBody>
      </p:sp>
      <p:sp>
        <p:nvSpPr>
          <p:cNvPr id="13" name="Text 11"/>
          <p:cNvSpPr/>
          <p:nvPr/>
        </p:nvSpPr>
        <p:spPr>
          <a:xfrm>
            <a:off x="4526280" y="3675888"/>
            <a:ext cx="3108960" cy="384048"/>
          </a:xfrm>
          <a:prstGeom prst="rect">
            <a:avLst/>
          </a:prstGeom>
          <a:noFill/>
          <a:ln/>
        </p:spPr>
        <p:txBody>
          <a:bodyPr wrap="square" lIns="0" tIns="0" rIns="0" bIns="0" rtlCol="0" anchor="ctr"/>
          <a:lstStyle/>
          <a:p>
            <a:pPr marL="0" indent="0">
              <a:buNone/>
            </a:pPr>
            <a:r>
              <a:rPr lang="en-US" sz="1600" b="1">
                <a:solidFill>
                  <a:srgbClr val="A65E2E"/>
                </a:solidFill>
                <a:latin typeface="Century Schoolbook" pitchFamily="34" charset="0"/>
                <a:ea typeface="Century Schoolbook" pitchFamily="34" charset="-122"/>
                <a:cs typeface="Century Schoolbook" pitchFamily="34" charset="-120"/>
              </a:rPr>
              <a:t>Depósito Aduanero</a:t>
            </a:r>
            <a:endParaRPr lang="en-US" sz="1600"/>
          </a:p>
        </p:txBody>
      </p:sp>
      <p:sp>
        <p:nvSpPr>
          <p:cNvPr id="14" name="Text 12"/>
          <p:cNvSpPr/>
          <p:nvPr/>
        </p:nvSpPr>
        <p:spPr>
          <a:xfrm>
            <a:off x="4526280" y="4059936"/>
            <a:ext cx="3108960" cy="566928"/>
          </a:xfrm>
          <a:prstGeom prst="rect">
            <a:avLst/>
          </a:prstGeom>
          <a:noFill/>
          <a:ln/>
        </p:spPr>
        <p:txBody>
          <a:bodyPr wrap="square" lIns="0" tIns="0" rIns="0" bIns="0" rtlCol="0" anchor="ctr"/>
          <a:lstStyle/>
          <a:p>
            <a:pPr marL="0" indent="0">
              <a:buNone/>
            </a:pPr>
            <a:r>
              <a:rPr lang="en-US" sz="1300">
                <a:solidFill>
                  <a:srgbClr val="12212F"/>
                </a:solidFill>
                <a:latin typeface="Cambria" pitchFamily="34" charset="0"/>
                <a:ea typeface="Cambria" pitchFamily="34" charset="-122"/>
                <a:cs typeface="Cambria" pitchFamily="34" charset="-120"/>
              </a:rPr>
              <a:t>Financiamiento con Warrant</a:t>
            </a:r>
            <a:endParaRPr lang="en-US" sz="1300"/>
          </a:p>
        </p:txBody>
      </p:sp>
      <p:sp>
        <p:nvSpPr>
          <p:cNvPr id="15" name="Shape 13"/>
          <p:cNvSpPr/>
          <p:nvPr/>
        </p:nvSpPr>
        <p:spPr>
          <a:xfrm>
            <a:off x="8101584" y="3154680"/>
            <a:ext cx="3520440" cy="1600200"/>
          </a:xfrm>
          <a:prstGeom prst="roundRect">
            <a:avLst>
              <a:gd name="adj" fmla="val 3429"/>
            </a:avLst>
          </a:prstGeom>
          <a:solidFill>
            <a:srgbClr val="F1F6F9"/>
          </a:solidFill>
          <a:ln w="12700">
            <a:solidFill>
              <a:srgbClr val="C9D8E2"/>
            </a:solidFill>
            <a:prstDash val="solid"/>
          </a:ln>
        </p:spPr>
        <p:txBody>
          <a:bodyPr/>
          <a:lstStyle/>
          <a:p>
            <a:endParaRPr lang="es-PE"/>
          </a:p>
        </p:txBody>
      </p:sp>
      <p:sp>
        <p:nvSpPr>
          <p:cNvPr id="16" name="Shape 14"/>
          <p:cNvSpPr/>
          <p:nvPr/>
        </p:nvSpPr>
        <p:spPr>
          <a:xfrm>
            <a:off x="8385048" y="2871216"/>
            <a:ext cx="566928" cy="566928"/>
          </a:xfrm>
          <a:prstGeom prst="ellipse">
            <a:avLst/>
          </a:prstGeom>
          <a:solidFill>
            <a:srgbClr val="7A3B69"/>
          </a:solidFill>
          <a:ln w="12700">
            <a:solidFill>
              <a:srgbClr val="7A3B69"/>
            </a:solidFill>
            <a:prstDash val="solid"/>
          </a:ln>
        </p:spPr>
        <p:txBody>
          <a:bodyPr/>
          <a:lstStyle/>
          <a:p>
            <a:endParaRPr lang="es-PE"/>
          </a:p>
        </p:txBody>
      </p:sp>
      <p:sp>
        <p:nvSpPr>
          <p:cNvPr id="17" name="Text 15"/>
          <p:cNvSpPr/>
          <p:nvPr/>
        </p:nvSpPr>
        <p:spPr>
          <a:xfrm>
            <a:off x="8385048" y="2871216"/>
            <a:ext cx="566928" cy="566928"/>
          </a:xfrm>
          <a:prstGeom prst="rect">
            <a:avLst/>
          </a:prstGeom>
          <a:noFill/>
          <a:ln/>
        </p:spPr>
        <p:txBody>
          <a:bodyPr wrap="square" lIns="0" tIns="0" rIns="0" bIns="0" rtlCol="0" anchor="ctr"/>
          <a:lstStyle/>
          <a:p>
            <a:pPr marL="0" indent="0" algn="ctr">
              <a:buNone/>
            </a:pPr>
            <a:r>
              <a:rPr lang="en-US" sz="1800" b="1">
                <a:solidFill>
                  <a:srgbClr val="FFFFFF"/>
                </a:solidFill>
                <a:latin typeface="Century Schoolbook" pitchFamily="34" charset="0"/>
                <a:ea typeface="Century Schoolbook" pitchFamily="34" charset="-122"/>
                <a:cs typeface="Century Schoolbook" pitchFamily="34" charset="-120"/>
              </a:rPr>
              <a:t>3</a:t>
            </a:r>
            <a:endParaRPr lang="en-US" sz="1800"/>
          </a:p>
        </p:txBody>
      </p:sp>
      <p:sp>
        <p:nvSpPr>
          <p:cNvPr id="18" name="Text 16"/>
          <p:cNvSpPr/>
          <p:nvPr/>
        </p:nvSpPr>
        <p:spPr>
          <a:xfrm>
            <a:off x="8302752" y="3675888"/>
            <a:ext cx="3108960" cy="384048"/>
          </a:xfrm>
          <a:prstGeom prst="rect">
            <a:avLst/>
          </a:prstGeom>
          <a:noFill/>
          <a:ln/>
        </p:spPr>
        <p:txBody>
          <a:bodyPr wrap="square" lIns="0" tIns="0" rIns="0" bIns="0" rtlCol="0" anchor="ctr"/>
          <a:lstStyle/>
          <a:p>
            <a:pPr marL="0" indent="0">
              <a:buNone/>
            </a:pPr>
            <a:r>
              <a:rPr lang="en-US" sz="1600" b="1">
                <a:solidFill>
                  <a:srgbClr val="7A3B69"/>
                </a:solidFill>
                <a:latin typeface="Century Schoolbook" pitchFamily="34" charset="0"/>
                <a:ea typeface="Century Schoolbook" pitchFamily="34" charset="-122"/>
                <a:cs typeface="Century Schoolbook" pitchFamily="34" charset="-120"/>
              </a:rPr>
              <a:t>Perfeccionamiento Pasivo</a:t>
            </a:r>
            <a:endParaRPr lang="en-US" sz="1600"/>
          </a:p>
        </p:txBody>
      </p:sp>
      <p:sp>
        <p:nvSpPr>
          <p:cNvPr id="19" name="Text 17"/>
          <p:cNvSpPr/>
          <p:nvPr/>
        </p:nvSpPr>
        <p:spPr>
          <a:xfrm>
            <a:off x="8302752" y="4059936"/>
            <a:ext cx="3108960" cy="566928"/>
          </a:xfrm>
          <a:prstGeom prst="rect">
            <a:avLst/>
          </a:prstGeom>
          <a:noFill/>
          <a:ln/>
        </p:spPr>
        <p:txBody>
          <a:bodyPr wrap="square" lIns="0" tIns="0" rIns="0" bIns="0" rtlCol="0" anchor="ctr"/>
          <a:lstStyle/>
          <a:p>
            <a:pPr marL="0" indent="0">
              <a:buNone/>
            </a:pPr>
            <a:r>
              <a:rPr lang="en-US" sz="1300">
                <a:solidFill>
                  <a:srgbClr val="12212F"/>
                </a:solidFill>
                <a:latin typeface="Cambria" pitchFamily="34" charset="0"/>
                <a:ea typeface="Cambria" pitchFamily="34" charset="-122"/>
                <a:cs typeface="Cambria" pitchFamily="34" charset="-120"/>
              </a:rPr>
              <a:t>Exportación temporal</a:t>
            </a:r>
            <a:endParaRPr lang="en-US" sz="1300"/>
          </a:p>
        </p:txBody>
      </p:sp>
      <p:sp>
        <p:nvSpPr>
          <p:cNvPr id="20" name="Text 18"/>
          <p:cNvSpPr/>
          <p:nvPr/>
        </p:nvSpPr>
        <p:spPr>
          <a:xfrm>
            <a:off x="548640" y="5074920"/>
            <a:ext cx="11094415" cy="274320"/>
          </a:xfrm>
          <a:prstGeom prst="rect">
            <a:avLst/>
          </a:prstGeom>
          <a:noFill/>
          <a:ln/>
        </p:spPr>
        <p:txBody>
          <a:bodyPr wrap="square" lIns="0" tIns="0" rIns="0" bIns="0" rtlCol="0" anchor="ctr"/>
          <a:lstStyle/>
          <a:p>
            <a:pPr marL="0" indent="0">
              <a:buNone/>
            </a:pPr>
            <a:r>
              <a:rPr lang="en-US" sz="1350" b="1">
                <a:solidFill>
                  <a:srgbClr val="12212F"/>
                </a:solidFill>
                <a:latin typeface="Cambria" pitchFamily="34" charset="0"/>
                <a:ea typeface="Cambria" pitchFamily="34" charset="-122"/>
                <a:cs typeface="Cambria" pitchFamily="34" charset="-120"/>
              </a:rPr>
              <a:t>Docente:  </a:t>
            </a:r>
            <a:r>
              <a:rPr lang="en-US" sz="1350">
                <a:solidFill>
                  <a:srgbClr val="12212F"/>
                </a:solidFill>
                <a:latin typeface="Cambria" pitchFamily="34" charset="0"/>
                <a:ea typeface="Cambria" pitchFamily="34" charset="-122"/>
                <a:cs typeface="Cambria" pitchFamily="34" charset="-120"/>
              </a:rPr>
              <a:t>Héctor Francisco Espiell Mateos</a:t>
            </a:r>
            <a:endParaRPr lang="en-US" sz="1350"/>
          </a:p>
        </p:txBody>
      </p:sp>
      <p:sp>
        <p:nvSpPr>
          <p:cNvPr id="21" name="Text 19"/>
          <p:cNvSpPr/>
          <p:nvPr/>
        </p:nvSpPr>
        <p:spPr>
          <a:xfrm>
            <a:off x="548640" y="5376672"/>
            <a:ext cx="11094415" cy="274320"/>
          </a:xfrm>
          <a:prstGeom prst="rect">
            <a:avLst/>
          </a:prstGeom>
          <a:noFill/>
          <a:ln/>
        </p:spPr>
        <p:txBody>
          <a:bodyPr wrap="square" lIns="0" tIns="0" rIns="0" bIns="0" rtlCol="0" anchor="ctr"/>
          <a:lstStyle/>
          <a:p>
            <a:pPr marL="0" indent="0">
              <a:buNone/>
            </a:pPr>
            <a:r>
              <a:rPr lang="en-US" sz="1350" b="1">
                <a:solidFill>
                  <a:srgbClr val="12212F"/>
                </a:solidFill>
                <a:latin typeface="Cambria" pitchFamily="34" charset="0"/>
                <a:ea typeface="Cambria" pitchFamily="34" charset="-122"/>
                <a:cs typeface="Cambria" pitchFamily="34" charset="-120"/>
              </a:rPr>
              <a:t>Integrantes:  </a:t>
            </a:r>
            <a:r>
              <a:rPr lang="en-US" sz="1350">
                <a:solidFill>
                  <a:srgbClr val="12212F"/>
                </a:solidFill>
                <a:latin typeface="Cambria" pitchFamily="34" charset="0"/>
                <a:ea typeface="Cambria" pitchFamily="34" charset="-122"/>
                <a:cs typeface="Cambria" pitchFamily="34" charset="-120"/>
              </a:rPr>
              <a:t>Eric Mozombite Shishco  ·  Anderson Quispe Sánchez  ·  Nicolás Castro Polastri  ·  Marilin Medina Apolinario</a:t>
            </a:r>
            <a:endParaRPr lang="en-US" sz="1350"/>
          </a:p>
        </p:txBody>
      </p:sp>
      <p:sp>
        <p:nvSpPr>
          <p:cNvPr id="22" name="Text 20"/>
          <p:cNvSpPr/>
          <p:nvPr/>
        </p:nvSpPr>
        <p:spPr>
          <a:xfrm>
            <a:off x="548640" y="5806440"/>
            <a:ext cx="11094415" cy="274320"/>
          </a:xfrm>
          <a:prstGeom prst="rect">
            <a:avLst/>
          </a:prstGeom>
          <a:noFill/>
          <a:ln/>
        </p:spPr>
        <p:txBody>
          <a:bodyPr wrap="square" lIns="0" tIns="0" rIns="0" bIns="0" rtlCol="0" anchor="ctr"/>
          <a:lstStyle/>
          <a:p>
            <a:pPr marL="0" indent="0">
              <a:buNone/>
            </a:pPr>
            <a:r>
              <a:rPr lang="en-US" sz="1200">
                <a:solidFill>
                  <a:srgbClr val="44586A"/>
                </a:solidFill>
                <a:latin typeface="Cambria" pitchFamily="34" charset="0"/>
                <a:ea typeface="Cambria" pitchFamily="34" charset="-122"/>
                <a:cs typeface="Cambria" pitchFamily="34" charset="-120"/>
              </a:rPr>
              <a:t>ADEX  ·  Ciclo V  ·  Agosto de 2026</a:t>
            </a:r>
            <a:endParaRPr lang="en-US"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0B3C5D"/>
                </a:solidFill>
                <a:latin typeface="Cambria" pitchFamily="34" charset="0"/>
                <a:ea typeface="Cambria" pitchFamily="34" charset="-122"/>
                <a:cs typeface="Cambria" pitchFamily="34" charset="-120"/>
              </a:rPr>
              <a:t>ORGANIZACIÓN DEL GRUPO</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rPr>
              <a:t>Casos</a:t>
            </a:r>
            <a:endParaRPr lang="en-US" sz="3000"/>
          </a:p>
        </p:txBody>
      </p:sp>
      <p:sp>
        <p:nvSpPr>
          <p:cNvPr id="4" name="Shape 2"/>
          <p:cNvSpPr/>
          <p:nvPr/>
        </p:nvSpPr>
        <p:spPr>
          <a:xfrm>
            <a:off x="548640" y="1508760"/>
            <a:ext cx="11094415" cy="1371600"/>
          </a:xfrm>
          <a:prstGeom prst="roundRect">
            <a:avLst>
              <a:gd name="adj" fmla="val 4000"/>
            </a:avLst>
          </a:prstGeom>
          <a:solidFill>
            <a:srgbClr val="F1F6F9"/>
          </a:solidFill>
          <a:ln w="12700">
            <a:solidFill>
              <a:srgbClr val="C9D8E2"/>
            </a:solidFill>
            <a:prstDash val="solid"/>
          </a:ln>
        </p:spPr>
        <p:txBody>
          <a:bodyPr/>
          <a:lstStyle/>
          <a:p>
            <a:endParaRPr lang="es-PE"/>
          </a:p>
        </p:txBody>
      </p:sp>
      <p:sp>
        <p:nvSpPr>
          <p:cNvPr id="5" name="Shape 3"/>
          <p:cNvSpPr/>
          <p:nvPr/>
        </p:nvSpPr>
        <p:spPr>
          <a:xfrm>
            <a:off x="896112" y="1883664"/>
            <a:ext cx="621792" cy="621792"/>
          </a:xfrm>
          <a:prstGeom prst="ellipse">
            <a:avLst/>
          </a:prstGeom>
          <a:solidFill>
            <a:srgbClr val="1D7874"/>
          </a:solidFill>
          <a:ln w="12700">
            <a:solidFill>
              <a:srgbClr val="1D7874"/>
            </a:solidFill>
            <a:prstDash val="solid"/>
          </a:ln>
        </p:spPr>
        <p:txBody>
          <a:bodyPr/>
          <a:lstStyle/>
          <a:p>
            <a:endParaRPr lang="es-PE"/>
          </a:p>
        </p:txBody>
      </p:sp>
      <p:sp>
        <p:nvSpPr>
          <p:cNvPr id="6" name="Text 4"/>
          <p:cNvSpPr/>
          <p:nvPr/>
        </p:nvSpPr>
        <p:spPr>
          <a:xfrm>
            <a:off x="896112" y="1883664"/>
            <a:ext cx="621792" cy="621792"/>
          </a:xfrm>
          <a:prstGeom prst="rect">
            <a:avLst/>
          </a:prstGeom>
          <a:noFill/>
          <a:ln/>
        </p:spPr>
        <p:txBody>
          <a:bodyPr wrap="square" lIns="0" tIns="0" rIns="0" bIns="0" rtlCol="0" anchor="ctr"/>
          <a:lstStyle/>
          <a:p>
            <a:pPr marL="0" indent="0" algn="ctr">
              <a:buNone/>
            </a:pPr>
            <a:r>
              <a:rPr lang="en-US" sz="1800" b="1">
                <a:solidFill>
                  <a:srgbClr val="FFFFFF"/>
                </a:solidFill>
                <a:latin typeface="Century Schoolbook" pitchFamily="34" charset="0"/>
                <a:ea typeface="Century Schoolbook" pitchFamily="34" charset="-122"/>
                <a:cs typeface="Century Schoolbook" pitchFamily="34" charset="-120"/>
              </a:rPr>
              <a:t>1</a:t>
            </a:r>
            <a:endParaRPr lang="en-US" sz="1800"/>
          </a:p>
        </p:txBody>
      </p:sp>
      <p:sp>
        <p:nvSpPr>
          <p:cNvPr id="7" name="Text 5"/>
          <p:cNvSpPr/>
          <p:nvPr/>
        </p:nvSpPr>
        <p:spPr>
          <a:xfrm>
            <a:off x="1737360" y="1691640"/>
            <a:ext cx="5029200" cy="457200"/>
          </a:xfrm>
          <a:prstGeom prst="rect">
            <a:avLst/>
          </a:prstGeom>
          <a:noFill/>
          <a:ln/>
        </p:spPr>
        <p:txBody>
          <a:bodyPr wrap="square" lIns="0" tIns="0" rIns="0" bIns="0" rtlCol="0" anchor="ctr"/>
          <a:lstStyle/>
          <a:p>
            <a:pPr marL="0" indent="0">
              <a:buNone/>
            </a:pPr>
            <a:r>
              <a:rPr lang="en-US" sz="1500" b="1">
                <a:solidFill>
                  <a:srgbClr val="1D7874"/>
                </a:solidFill>
                <a:latin typeface="Century Schoolbook" pitchFamily="34" charset="0"/>
                <a:ea typeface="Century Schoolbook" pitchFamily="34" charset="-122"/>
                <a:cs typeface="Century Schoolbook" pitchFamily="34" charset="-120"/>
              </a:rPr>
              <a:t>Admisión Temporal para Reexportación en el Mismo Estado</a:t>
            </a:r>
            <a:endParaRPr lang="en-US" sz="1500"/>
          </a:p>
        </p:txBody>
      </p:sp>
      <p:sp>
        <p:nvSpPr>
          <p:cNvPr id="8" name="Text 6"/>
          <p:cNvSpPr/>
          <p:nvPr/>
        </p:nvSpPr>
        <p:spPr>
          <a:xfrm>
            <a:off x="1737360" y="2194560"/>
            <a:ext cx="5029200" cy="411480"/>
          </a:xfrm>
          <a:prstGeom prst="rect">
            <a:avLst/>
          </a:prstGeom>
          <a:noFill/>
          <a:ln/>
        </p:spPr>
        <p:txBody>
          <a:bodyPr wrap="square" lIns="0" tIns="0" rIns="0" bIns="0" rtlCol="0" anchor="ctr"/>
          <a:lstStyle/>
          <a:p>
            <a:pPr marL="0" indent="0">
              <a:buNone/>
            </a:pPr>
            <a:r>
              <a:rPr lang="en-US" sz="1300">
                <a:solidFill>
                  <a:srgbClr val="12212F"/>
                </a:solidFill>
                <a:latin typeface="Cambria" pitchFamily="34" charset="0"/>
                <a:ea typeface="Cambria" pitchFamily="34" charset="-122"/>
                <a:cs typeface="Cambria" pitchFamily="34" charset="-120"/>
              </a:rPr>
              <a:t>Andina Ingeniería y Construcción S.A.C.</a:t>
            </a:r>
            <a:endParaRPr lang="en-US" sz="1300"/>
          </a:p>
        </p:txBody>
      </p:sp>
      <p:sp>
        <p:nvSpPr>
          <p:cNvPr id="9" name="Text 7"/>
          <p:cNvSpPr/>
          <p:nvPr/>
        </p:nvSpPr>
        <p:spPr>
          <a:xfrm>
            <a:off x="7223760" y="1709928"/>
            <a:ext cx="3840480" cy="237744"/>
          </a:xfrm>
          <a:prstGeom prst="rect">
            <a:avLst/>
          </a:prstGeom>
          <a:noFill/>
          <a:ln/>
        </p:spPr>
        <p:txBody>
          <a:bodyPr wrap="square" lIns="0" tIns="0" rIns="0" bIns="0" rtlCol="0" anchor="ctr"/>
          <a:lstStyle/>
          <a:p>
            <a:pPr marL="0" indent="0">
              <a:buNone/>
            </a:pPr>
            <a:r>
              <a:rPr lang="en-US" sz="950" b="1" kern="0" spc="120">
                <a:solidFill>
                  <a:srgbClr val="44586A"/>
                </a:solidFill>
                <a:latin typeface="Cambria" pitchFamily="34" charset="0"/>
                <a:ea typeface="Cambria" pitchFamily="34" charset="-122"/>
                <a:cs typeface="Cambria" pitchFamily="34" charset="-120"/>
              </a:rPr>
              <a:t>RESPONSABLE</a:t>
            </a:r>
            <a:endParaRPr lang="en-US" sz="950"/>
          </a:p>
        </p:txBody>
      </p:sp>
      <p:sp>
        <p:nvSpPr>
          <p:cNvPr id="10" name="Text 8"/>
          <p:cNvSpPr/>
          <p:nvPr/>
        </p:nvSpPr>
        <p:spPr>
          <a:xfrm>
            <a:off x="7223760" y="1965960"/>
            <a:ext cx="3840480" cy="731520"/>
          </a:xfrm>
          <a:prstGeom prst="rect">
            <a:avLst/>
          </a:prstGeom>
          <a:noFill/>
          <a:ln/>
        </p:spPr>
        <p:txBody>
          <a:bodyPr wrap="square" lIns="0" tIns="0" rIns="0" bIns="0" rtlCol="0" anchor="ctr"/>
          <a:lstStyle/>
          <a:p>
            <a:pPr marL="0" indent="0">
              <a:lnSpc>
                <a:spcPts val="1700"/>
              </a:lnSpc>
              <a:buNone/>
            </a:pPr>
            <a:r>
              <a:rPr lang="en-US" sz="1300" b="1">
                <a:solidFill>
                  <a:srgbClr val="12212F"/>
                </a:solidFill>
                <a:latin typeface="Cambria" pitchFamily="34" charset="0"/>
                <a:ea typeface="Cambria" pitchFamily="34" charset="-122"/>
                <a:cs typeface="Cambria" pitchFamily="34" charset="-120"/>
              </a:rPr>
              <a:t>Eric Mozombite Shishco</a:t>
            </a:r>
            <a:endParaRPr lang="en-US" sz="1300"/>
          </a:p>
          <a:p>
            <a:pPr marL="0" indent="0">
              <a:lnSpc>
                <a:spcPts val="1700"/>
              </a:lnSpc>
              <a:buNone/>
            </a:pPr>
            <a:r>
              <a:rPr lang="en-US" sz="1300" b="1">
                <a:solidFill>
                  <a:srgbClr val="12212F"/>
                </a:solidFill>
                <a:latin typeface="Cambria" pitchFamily="34" charset="0"/>
                <a:ea typeface="Cambria" pitchFamily="34" charset="-122"/>
                <a:cs typeface="Cambria" pitchFamily="34" charset="-120"/>
              </a:rPr>
              <a:t>Marilin Medina Apolinario</a:t>
            </a:r>
            <a:endParaRPr lang="en-US" sz="1300"/>
          </a:p>
        </p:txBody>
      </p:sp>
      <p:sp>
        <p:nvSpPr>
          <p:cNvPr id="11" name="Shape 9"/>
          <p:cNvSpPr/>
          <p:nvPr/>
        </p:nvSpPr>
        <p:spPr>
          <a:xfrm>
            <a:off x="548640" y="3081528"/>
            <a:ext cx="11094415" cy="1371600"/>
          </a:xfrm>
          <a:prstGeom prst="roundRect">
            <a:avLst>
              <a:gd name="adj" fmla="val 4000"/>
            </a:avLst>
          </a:prstGeom>
          <a:solidFill>
            <a:srgbClr val="FFFFFF"/>
          </a:solidFill>
          <a:ln w="12700">
            <a:solidFill>
              <a:srgbClr val="C9D8E2"/>
            </a:solidFill>
            <a:prstDash val="solid"/>
          </a:ln>
        </p:spPr>
        <p:txBody>
          <a:bodyPr/>
          <a:lstStyle/>
          <a:p>
            <a:endParaRPr lang="es-PE"/>
          </a:p>
        </p:txBody>
      </p:sp>
      <p:sp>
        <p:nvSpPr>
          <p:cNvPr id="12" name="Shape 10"/>
          <p:cNvSpPr/>
          <p:nvPr/>
        </p:nvSpPr>
        <p:spPr>
          <a:xfrm>
            <a:off x="896112" y="3456432"/>
            <a:ext cx="621792" cy="621792"/>
          </a:xfrm>
          <a:prstGeom prst="ellipse">
            <a:avLst/>
          </a:prstGeom>
          <a:solidFill>
            <a:srgbClr val="A65E2E"/>
          </a:solidFill>
          <a:ln w="12700">
            <a:solidFill>
              <a:srgbClr val="A65E2E"/>
            </a:solidFill>
            <a:prstDash val="solid"/>
          </a:ln>
        </p:spPr>
        <p:txBody>
          <a:bodyPr/>
          <a:lstStyle/>
          <a:p>
            <a:endParaRPr lang="es-PE"/>
          </a:p>
        </p:txBody>
      </p:sp>
      <p:sp>
        <p:nvSpPr>
          <p:cNvPr id="13" name="Text 11"/>
          <p:cNvSpPr/>
          <p:nvPr/>
        </p:nvSpPr>
        <p:spPr>
          <a:xfrm>
            <a:off x="896112" y="3456432"/>
            <a:ext cx="621792" cy="621792"/>
          </a:xfrm>
          <a:prstGeom prst="rect">
            <a:avLst/>
          </a:prstGeom>
          <a:noFill/>
          <a:ln/>
        </p:spPr>
        <p:txBody>
          <a:bodyPr wrap="square" lIns="0" tIns="0" rIns="0" bIns="0" rtlCol="0" anchor="ctr"/>
          <a:lstStyle/>
          <a:p>
            <a:pPr marL="0" indent="0" algn="ctr">
              <a:buNone/>
            </a:pPr>
            <a:r>
              <a:rPr lang="en-US" sz="1800" b="1">
                <a:solidFill>
                  <a:srgbClr val="FFFFFF"/>
                </a:solidFill>
                <a:latin typeface="Century Schoolbook" pitchFamily="34" charset="0"/>
                <a:ea typeface="Century Schoolbook" pitchFamily="34" charset="-122"/>
                <a:cs typeface="Century Schoolbook" pitchFamily="34" charset="-120"/>
              </a:rPr>
              <a:t>2</a:t>
            </a:r>
            <a:endParaRPr lang="en-US" sz="1800"/>
          </a:p>
        </p:txBody>
      </p:sp>
      <p:sp>
        <p:nvSpPr>
          <p:cNvPr id="14" name="Text 12"/>
          <p:cNvSpPr/>
          <p:nvPr/>
        </p:nvSpPr>
        <p:spPr>
          <a:xfrm>
            <a:off x="1737360" y="3264408"/>
            <a:ext cx="5029200" cy="457200"/>
          </a:xfrm>
          <a:prstGeom prst="rect">
            <a:avLst/>
          </a:prstGeom>
          <a:noFill/>
          <a:ln/>
        </p:spPr>
        <p:txBody>
          <a:bodyPr wrap="square" lIns="0" tIns="0" rIns="0" bIns="0" rtlCol="0" anchor="ctr"/>
          <a:lstStyle/>
          <a:p>
            <a:pPr marL="0" indent="0">
              <a:buNone/>
            </a:pPr>
            <a:r>
              <a:rPr lang="en-US" sz="1500" b="1">
                <a:solidFill>
                  <a:srgbClr val="A65E2E"/>
                </a:solidFill>
                <a:latin typeface="Century Schoolbook" pitchFamily="34" charset="0"/>
                <a:ea typeface="Century Schoolbook" pitchFamily="34" charset="-122"/>
                <a:cs typeface="Century Schoolbook" pitchFamily="34" charset="-120"/>
              </a:rPr>
              <a:t>Depósito Aduanero con Warrant</a:t>
            </a:r>
            <a:endParaRPr lang="en-US" sz="1500"/>
          </a:p>
        </p:txBody>
      </p:sp>
      <p:sp>
        <p:nvSpPr>
          <p:cNvPr id="15" name="Text 13"/>
          <p:cNvSpPr/>
          <p:nvPr/>
        </p:nvSpPr>
        <p:spPr>
          <a:xfrm>
            <a:off x="1737360" y="3767328"/>
            <a:ext cx="5029200" cy="411480"/>
          </a:xfrm>
          <a:prstGeom prst="rect">
            <a:avLst/>
          </a:prstGeom>
          <a:noFill/>
          <a:ln/>
        </p:spPr>
        <p:txBody>
          <a:bodyPr wrap="square" lIns="0" tIns="0" rIns="0" bIns="0" rtlCol="0" anchor="ctr"/>
          <a:lstStyle/>
          <a:p>
            <a:pPr marL="0" indent="0">
              <a:buNone/>
            </a:pPr>
            <a:r>
              <a:rPr lang="en-US" sz="1300">
                <a:solidFill>
                  <a:srgbClr val="12212F"/>
                </a:solidFill>
                <a:latin typeface="Cambria" pitchFamily="34" charset="0"/>
                <a:ea typeface="Cambria" pitchFamily="34" charset="-122"/>
                <a:cs typeface="Cambria" pitchFamily="34" charset="-120"/>
              </a:rPr>
              <a:t>TecnoImport Perú S.A.C.</a:t>
            </a:r>
            <a:endParaRPr lang="en-US" sz="1300"/>
          </a:p>
        </p:txBody>
      </p:sp>
      <p:sp>
        <p:nvSpPr>
          <p:cNvPr id="16" name="Text 14"/>
          <p:cNvSpPr/>
          <p:nvPr/>
        </p:nvSpPr>
        <p:spPr>
          <a:xfrm>
            <a:off x="7223760" y="3282696"/>
            <a:ext cx="3840480" cy="237744"/>
          </a:xfrm>
          <a:prstGeom prst="rect">
            <a:avLst/>
          </a:prstGeom>
          <a:noFill/>
          <a:ln/>
        </p:spPr>
        <p:txBody>
          <a:bodyPr wrap="square" lIns="0" tIns="0" rIns="0" bIns="0" rtlCol="0" anchor="ctr"/>
          <a:lstStyle/>
          <a:p>
            <a:pPr marL="0" indent="0">
              <a:buNone/>
            </a:pPr>
            <a:r>
              <a:rPr lang="en-US" sz="950" b="1" kern="0" spc="120">
                <a:solidFill>
                  <a:srgbClr val="44586A"/>
                </a:solidFill>
                <a:latin typeface="Cambria" pitchFamily="34" charset="0"/>
                <a:ea typeface="Cambria" pitchFamily="34" charset="-122"/>
                <a:cs typeface="Cambria" pitchFamily="34" charset="-120"/>
              </a:rPr>
              <a:t>RESPONSABLE</a:t>
            </a:r>
            <a:endParaRPr lang="en-US" sz="950"/>
          </a:p>
        </p:txBody>
      </p:sp>
      <p:sp>
        <p:nvSpPr>
          <p:cNvPr id="17" name="Text 15"/>
          <p:cNvSpPr/>
          <p:nvPr/>
        </p:nvSpPr>
        <p:spPr>
          <a:xfrm>
            <a:off x="7223760" y="3538728"/>
            <a:ext cx="3840480" cy="731520"/>
          </a:xfrm>
          <a:prstGeom prst="rect">
            <a:avLst/>
          </a:prstGeom>
          <a:noFill/>
          <a:ln/>
        </p:spPr>
        <p:txBody>
          <a:bodyPr wrap="square" lIns="0" tIns="0" rIns="0" bIns="0" rtlCol="0" anchor="ctr"/>
          <a:lstStyle/>
          <a:p>
            <a:pPr marL="0" indent="0">
              <a:lnSpc>
                <a:spcPts val="1700"/>
              </a:lnSpc>
              <a:buNone/>
            </a:pPr>
            <a:r>
              <a:rPr lang="en-US" sz="1300" b="1">
                <a:solidFill>
                  <a:srgbClr val="12212F"/>
                </a:solidFill>
                <a:latin typeface="Cambria" pitchFamily="34" charset="0"/>
                <a:ea typeface="Cambria" pitchFamily="34" charset="-122"/>
                <a:cs typeface="Cambria" pitchFamily="34" charset="-120"/>
              </a:rPr>
              <a:t>Anderson Quispe Sánchez</a:t>
            </a:r>
            <a:endParaRPr lang="en-US" sz="1300"/>
          </a:p>
        </p:txBody>
      </p:sp>
      <p:sp>
        <p:nvSpPr>
          <p:cNvPr id="18" name="Shape 16"/>
          <p:cNvSpPr/>
          <p:nvPr/>
        </p:nvSpPr>
        <p:spPr>
          <a:xfrm>
            <a:off x="548640" y="4654296"/>
            <a:ext cx="11094415" cy="1371600"/>
          </a:xfrm>
          <a:prstGeom prst="roundRect">
            <a:avLst>
              <a:gd name="adj" fmla="val 4000"/>
            </a:avLst>
          </a:prstGeom>
          <a:solidFill>
            <a:srgbClr val="F1F6F9"/>
          </a:solidFill>
          <a:ln w="12700">
            <a:solidFill>
              <a:srgbClr val="C9D8E2"/>
            </a:solidFill>
            <a:prstDash val="solid"/>
          </a:ln>
        </p:spPr>
        <p:txBody>
          <a:bodyPr/>
          <a:lstStyle/>
          <a:p>
            <a:endParaRPr lang="es-PE"/>
          </a:p>
        </p:txBody>
      </p:sp>
      <p:sp>
        <p:nvSpPr>
          <p:cNvPr id="19" name="Shape 17"/>
          <p:cNvSpPr/>
          <p:nvPr/>
        </p:nvSpPr>
        <p:spPr>
          <a:xfrm>
            <a:off x="896112" y="5029200"/>
            <a:ext cx="621792" cy="621792"/>
          </a:xfrm>
          <a:prstGeom prst="ellipse">
            <a:avLst/>
          </a:prstGeom>
          <a:solidFill>
            <a:srgbClr val="7A3B69"/>
          </a:solidFill>
          <a:ln w="12700">
            <a:solidFill>
              <a:srgbClr val="7A3B69"/>
            </a:solidFill>
            <a:prstDash val="solid"/>
          </a:ln>
        </p:spPr>
        <p:txBody>
          <a:bodyPr/>
          <a:lstStyle/>
          <a:p>
            <a:endParaRPr lang="es-PE"/>
          </a:p>
        </p:txBody>
      </p:sp>
      <p:sp>
        <p:nvSpPr>
          <p:cNvPr id="20" name="Text 18"/>
          <p:cNvSpPr/>
          <p:nvPr/>
        </p:nvSpPr>
        <p:spPr>
          <a:xfrm>
            <a:off x="896112" y="5029200"/>
            <a:ext cx="621792" cy="621792"/>
          </a:xfrm>
          <a:prstGeom prst="rect">
            <a:avLst/>
          </a:prstGeom>
          <a:noFill/>
          <a:ln/>
        </p:spPr>
        <p:txBody>
          <a:bodyPr wrap="square" lIns="0" tIns="0" rIns="0" bIns="0" rtlCol="0" anchor="ctr"/>
          <a:lstStyle/>
          <a:p>
            <a:pPr marL="0" indent="0" algn="ctr">
              <a:buNone/>
            </a:pPr>
            <a:r>
              <a:rPr lang="en-US" sz="1800" b="1">
                <a:solidFill>
                  <a:srgbClr val="FFFFFF"/>
                </a:solidFill>
                <a:latin typeface="Century Schoolbook" pitchFamily="34" charset="0"/>
                <a:ea typeface="Century Schoolbook" pitchFamily="34" charset="-122"/>
                <a:cs typeface="Century Schoolbook" pitchFamily="34" charset="-120"/>
              </a:rPr>
              <a:t>3</a:t>
            </a:r>
            <a:endParaRPr lang="en-US" sz="1800"/>
          </a:p>
        </p:txBody>
      </p:sp>
      <p:sp>
        <p:nvSpPr>
          <p:cNvPr id="21" name="Text 19"/>
          <p:cNvSpPr/>
          <p:nvPr/>
        </p:nvSpPr>
        <p:spPr>
          <a:xfrm>
            <a:off x="1737360" y="4837176"/>
            <a:ext cx="5029200" cy="457200"/>
          </a:xfrm>
          <a:prstGeom prst="rect">
            <a:avLst/>
          </a:prstGeom>
          <a:noFill/>
          <a:ln/>
        </p:spPr>
        <p:txBody>
          <a:bodyPr wrap="square" lIns="0" tIns="0" rIns="0" bIns="0" rtlCol="0" anchor="ctr"/>
          <a:lstStyle/>
          <a:p>
            <a:pPr marL="0" indent="0">
              <a:buNone/>
            </a:pPr>
            <a:r>
              <a:rPr lang="en-US" sz="1500" b="1">
                <a:solidFill>
                  <a:srgbClr val="7A3B69"/>
                </a:solidFill>
                <a:latin typeface="Century Schoolbook" pitchFamily="34" charset="0"/>
                <a:ea typeface="Century Schoolbook" pitchFamily="34" charset="-122"/>
                <a:cs typeface="Century Schoolbook" pitchFamily="34" charset="-120"/>
              </a:rPr>
              <a:t>Exportación Temporal para Perfeccionamiento Pasivo</a:t>
            </a:r>
            <a:endParaRPr lang="en-US" sz="1500"/>
          </a:p>
        </p:txBody>
      </p:sp>
      <p:sp>
        <p:nvSpPr>
          <p:cNvPr id="22" name="Text 20"/>
          <p:cNvSpPr/>
          <p:nvPr/>
        </p:nvSpPr>
        <p:spPr>
          <a:xfrm>
            <a:off x="1737360" y="5340096"/>
            <a:ext cx="5029200" cy="411480"/>
          </a:xfrm>
          <a:prstGeom prst="rect">
            <a:avLst/>
          </a:prstGeom>
          <a:noFill/>
          <a:ln/>
        </p:spPr>
        <p:txBody>
          <a:bodyPr wrap="square" lIns="0" tIns="0" rIns="0" bIns="0" rtlCol="0" anchor="ctr"/>
          <a:lstStyle/>
          <a:p>
            <a:pPr marL="0" indent="0">
              <a:buNone/>
            </a:pPr>
            <a:r>
              <a:rPr lang="en-US" sz="1300">
                <a:solidFill>
                  <a:srgbClr val="12212F"/>
                </a:solidFill>
                <a:latin typeface="Cambria" pitchFamily="34" charset="0"/>
                <a:ea typeface="Cambria" pitchFamily="34" charset="-122"/>
                <a:cs typeface="Cambria" pitchFamily="34" charset="-120"/>
              </a:rPr>
              <a:t>Joyas del Inca S.A.C.</a:t>
            </a:r>
            <a:endParaRPr lang="en-US" sz="1300"/>
          </a:p>
        </p:txBody>
      </p:sp>
      <p:sp>
        <p:nvSpPr>
          <p:cNvPr id="23" name="Text 21"/>
          <p:cNvSpPr/>
          <p:nvPr/>
        </p:nvSpPr>
        <p:spPr>
          <a:xfrm>
            <a:off x="7223760" y="4855464"/>
            <a:ext cx="3840480" cy="237744"/>
          </a:xfrm>
          <a:prstGeom prst="rect">
            <a:avLst/>
          </a:prstGeom>
          <a:noFill/>
          <a:ln/>
        </p:spPr>
        <p:txBody>
          <a:bodyPr wrap="square" lIns="0" tIns="0" rIns="0" bIns="0" rtlCol="0" anchor="ctr"/>
          <a:lstStyle/>
          <a:p>
            <a:pPr marL="0" indent="0">
              <a:buNone/>
            </a:pPr>
            <a:r>
              <a:rPr lang="en-US" sz="950" b="1" kern="0" spc="120">
                <a:solidFill>
                  <a:srgbClr val="44586A"/>
                </a:solidFill>
                <a:latin typeface="Cambria" pitchFamily="34" charset="0"/>
                <a:ea typeface="Cambria" pitchFamily="34" charset="-122"/>
                <a:cs typeface="Cambria" pitchFamily="34" charset="-120"/>
              </a:rPr>
              <a:t>RESPONSABLE</a:t>
            </a:r>
            <a:endParaRPr lang="en-US" sz="950"/>
          </a:p>
        </p:txBody>
      </p:sp>
      <p:sp>
        <p:nvSpPr>
          <p:cNvPr id="24" name="Text 22"/>
          <p:cNvSpPr/>
          <p:nvPr/>
        </p:nvSpPr>
        <p:spPr>
          <a:xfrm>
            <a:off x="7223760" y="5111496"/>
            <a:ext cx="3840480" cy="731520"/>
          </a:xfrm>
          <a:prstGeom prst="rect">
            <a:avLst/>
          </a:prstGeom>
          <a:noFill/>
          <a:ln/>
        </p:spPr>
        <p:txBody>
          <a:bodyPr wrap="square" lIns="0" tIns="0" rIns="0" bIns="0" rtlCol="0" anchor="ctr"/>
          <a:lstStyle/>
          <a:p>
            <a:pPr marL="0" indent="0">
              <a:lnSpc>
                <a:spcPts val="1700"/>
              </a:lnSpc>
              <a:buNone/>
            </a:pPr>
            <a:r>
              <a:rPr lang="en-US" sz="1300" b="1">
                <a:solidFill>
                  <a:srgbClr val="12212F"/>
                </a:solidFill>
                <a:latin typeface="Cambria" pitchFamily="34" charset="0"/>
                <a:ea typeface="Cambria" pitchFamily="34" charset="-122"/>
                <a:cs typeface="Cambria" pitchFamily="34" charset="-120"/>
              </a:rPr>
              <a:t>Nicolás Castro Polastri</a:t>
            </a:r>
            <a:endParaRPr lang="en-US" sz="1300"/>
          </a:p>
        </p:txBody>
      </p:sp>
      <p:sp>
        <p:nvSpPr>
          <p:cNvPr id="25" name="Text 23"/>
          <p:cNvSpPr/>
          <p:nvPr/>
        </p:nvSpPr>
        <p:spPr>
          <a:xfrm>
            <a:off x="548640" y="6400800"/>
            <a:ext cx="1036289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Tarea 4 · Regímenes Aduaneros Especiales</a:t>
            </a:r>
            <a:endParaRPr lang="en-US" sz="950"/>
          </a:p>
        </p:txBody>
      </p:sp>
      <p:sp>
        <p:nvSpPr>
          <p:cNvPr id="26" name="Text 24"/>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2</a:t>
            </a:r>
            <a:endParaRPr lang="en-US" sz="9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0B3C5D"/>
                </a:solidFill>
                <a:latin typeface="Cambria" pitchFamily="34" charset="0"/>
                <a:ea typeface="Cambria" pitchFamily="34" charset="-122"/>
                <a:cs typeface="Cambria" pitchFamily="34" charset="-120"/>
              </a:rPr>
              <a:t>MARCO GENERAL</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Los tres regímenes en una vista</a:t>
            </a:r>
            <a:endParaRPr lang="en-US" sz="3000"/>
          </a:p>
        </p:txBody>
      </p:sp>
      <p:sp>
        <p:nvSpPr>
          <p:cNvPr id="4" name="Shape 2"/>
          <p:cNvSpPr/>
          <p:nvPr/>
        </p:nvSpPr>
        <p:spPr>
          <a:xfrm>
            <a:off x="548640" y="1600200"/>
            <a:ext cx="3520440" cy="4480560"/>
          </a:xfrm>
          <a:prstGeom prst="roundRect">
            <a:avLst>
              <a:gd name="adj" fmla="val 1558"/>
            </a:avLst>
          </a:prstGeom>
          <a:solidFill>
            <a:srgbClr val="F1F6F9"/>
          </a:solidFill>
          <a:ln w="12700">
            <a:solidFill>
              <a:srgbClr val="C9D8E2"/>
            </a:solidFill>
            <a:prstDash val="solid"/>
          </a:ln>
        </p:spPr>
        <p:txBody>
          <a:bodyPr/>
          <a:lstStyle/>
          <a:p>
            <a:endParaRPr lang="es-PE"/>
          </a:p>
        </p:txBody>
      </p:sp>
      <p:sp>
        <p:nvSpPr>
          <p:cNvPr id="5" name="Shape 3"/>
          <p:cNvSpPr/>
          <p:nvPr/>
        </p:nvSpPr>
        <p:spPr>
          <a:xfrm>
            <a:off x="822960" y="1325880"/>
            <a:ext cx="548640" cy="548640"/>
          </a:xfrm>
          <a:prstGeom prst="ellipse">
            <a:avLst/>
          </a:prstGeom>
          <a:solidFill>
            <a:srgbClr val="1D7874"/>
          </a:solidFill>
          <a:ln w="12700">
            <a:solidFill>
              <a:srgbClr val="1D7874"/>
            </a:solidFill>
            <a:prstDash val="solid"/>
          </a:ln>
        </p:spPr>
        <p:txBody>
          <a:bodyPr/>
          <a:lstStyle/>
          <a:p>
            <a:endParaRPr lang="es-PE"/>
          </a:p>
        </p:txBody>
      </p:sp>
      <p:sp>
        <p:nvSpPr>
          <p:cNvPr id="6" name="Text 4"/>
          <p:cNvSpPr/>
          <p:nvPr/>
        </p:nvSpPr>
        <p:spPr>
          <a:xfrm>
            <a:off x="822960" y="1325880"/>
            <a:ext cx="548640" cy="548640"/>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1</a:t>
            </a:r>
            <a:endParaRPr lang="en-US" sz="1400"/>
          </a:p>
        </p:txBody>
      </p:sp>
      <p:sp>
        <p:nvSpPr>
          <p:cNvPr id="7" name="Text 5"/>
          <p:cNvSpPr/>
          <p:nvPr/>
        </p:nvSpPr>
        <p:spPr>
          <a:xfrm>
            <a:off x="749808" y="2029968"/>
            <a:ext cx="3108960" cy="384048"/>
          </a:xfrm>
          <a:prstGeom prst="rect">
            <a:avLst/>
          </a:prstGeom>
          <a:noFill/>
          <a:ln/>
        </p:spPr>
        <p:txBody>
          <a:bodyPr wrap="square" lIns="0" tIns="0" rIns="0" bIns="0" rtlCol="0" anchor="ctr"/>
          <a:lstStyle/>
          <a:p>
            <a:pPr marL="0" indent="0">
              <a:buNone/>
            </a:pPr>
            <a:r>
              <a:rPr lang="en-US" sz="1600" b="1">
                <a:solidFill>
                  <a:srgbClr val="1D7874"/>
                </a:solidFill>
                <a:latin typeface="Century Schoolbook" pitchFamily="34" charset="0"/>
                <a:ea typeface="Century Schoolbook" pitchFamily="34" charset="-122"/>
                <a:cs typeface="Century Schoolbook" pitchFamily="34" charset="-120"/>
              </a:rPr>
              <a:t>Admisión Temporal</a:t>
            </a:r>
            <a:endParaRPr lang="en-US" sz="1600"/>
          </a:p>
        </p:txBody>
      </p:sp>
      <p:sp>
        <p:nvSpPr>
          <p:cNvPr id="8" name="Text 6"/>
          <p:cNvSpPr/>
          <p:nvPr/>
        </p:nvSpPr>
        <p:spPr>
          <a:xfrm>
            <a:off x="749808" y="2542032"/>
            <a:ext cx="3108960" cy="219456"/>
          </a:xfrm>
          <a:prstGeom prst="rect">
            <a:avLst/>
          </a:prstGeom>
          <a:noFill/>
          <a:ln/>
        </p:spPr>
        <p:txBody>
          <a:bodyPr wrap="square" lIns="0" tIns="0" rIns="0" bIns="0" rtlCol="0" anchor="ctr"/>
          <a:lstStyle/>
          <a:p>
            <a:pPr marL="0" indent="0">
              <a:buNone/>
            </a:pPr>
            <a:r>
              <a:rPr lang="en-US" sz="900" b="1" kern="0" spc="100">
                <a:solidFill>
                  <a:srgbClr val="44586A"/>
                </a:solidFill>
                <a:latin typeface="Cambria" pitchFamily="34" charset="0"/>
                <a:ea typeface="Cambria" pitchFamily="34" charset="-122"/>
                <a:cs typeface="Cambria" pitchFamily="34" charset="-120"/>
              </a:rPr>
              <a:t>QUÉ PERMITE</a:t>
            </a:r>
            <a:endParaRPr lang="en-US" sz="900"/>
          </a:p>
        </p:txBody>
      </p:sp>
      <p:sp>
        <p:nvSpPr>
          <p:cNvPr id="9" name="Text 7"/>
          <p:cNvSpPr/>
          <p:nvPr/>
        </p:nvSpPr>
        <p:spPr>
          <a:xfrm>
            <a:off x="749808" y="2761488"/>
            <a:ext cx="3127248" cy="658368"/>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Ingresar mercancía identificable con suspensión de tributos, para un fin determinado en un lugar específico.</a:t>
            </a:r>
            <a:endParaRPr lang="en-US" sz="1150"/>
          </a:p>
        </p:txBody>
      </p:sp>
      <p:sp>
        <p:nvSpPr>
          <p:cNvPr id="10" name="Text 8"/>
          <p:cNvSpPr/>
          <p:nvPr/>
        </p:nvSpPr>
        <p:spPr>
          <a:xfrm>
            <a:off x="749808" y="3429000"/>
            <a:ext cx="3108960" cy="219456"/>
          </a:xfrm>
          <a:prstGeom prst="rect">
            <a:avLst/>
          </a:prstGeom>
          <a:noFill/>
          <a:ln/>
        </p:spPr>
        <p:txBody>
          <a:bodyPr wrap="square" lIns="0" tIns="0" rIns="0" bIns="0" rtlCol="0" anchor="ctr"/>
          <a:lstStyle/>
          <a:p>
            <a:pPr marL="0" indent="0">
              <a:buNone/>
            </a:pPr>
            <a:r>
              <a:rPr lang="en-US" sz="900" b="1" kern="0" spc="100">
                <a:solidFill>
                  <a:srgbClr val="44586A"/>
                </a:solidFill>
                <a:latin typeface="Cambria" pitchFamily="34" charset="0"/>
                <a:ea typeface="Cambria" pitchFamily="34" charset="-122"/>
                <a:cs typeface="Cambria" pitchFamily="34" charset="-120"/>
              </a:rPr>
              <a:t>PLAZO</a:t>
            </a:r>
            <a:endParaRPr lang="en-US" sz="900"/>
          </a:p>
        </p:txBody>
      </p:sp>
      <p:sp>
        <p:nvSpPr>
          <p:cNvPr id="11" name="Text 9"/>
          <p:cNvSpPr/>
          <p:nvPr/>
        </p:nvSpPr>
        <p:spPr>
          <a:xfrm>
            <a:off x="749808" y="3648456"/>
            <a:ext cx="3127248" cy="658368"/>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18 meses desde el levante.</a:t>
            </a:r>
            <a:endParaRPr lang="en-US" sz="1150"/>
          </a:p>
        </p:txBody>
      </p:sp>
      <p:sp>
        <p:nvSpPr>
          <p:cNvPr id="12" name="Text 10"/>
          <p:cNvSpPr/>
          <p:nvPr/>
        </p:nvSpPr>
        <p:spPr>
          <a:xfrm>
            <a:off x="749808" y="4315968"/>
            <a:ext cx="3108960" cy="219456"/>
          </a:xfrm>
          <a:prstGeom prst="rect">
            <a:avLst/>
          </a:prstGeom>
          <a:noFill/>
          <a:ln/>
        </p:spPr>
        <p:txBody>
          <a:bodyPr wrap="square" lIns="0" tIns="0" rIns="0" bIns="0" rtlCol="0" anchor="ctr"/>
          <a:lstStyle/>
          <a:p>
            <a:pPr marL="0" indent="0">
              <a:buNone/>
            </a:pPr>
            <a:r>
              <a:rPr lang="en-US" sz="900" b="1" kern="0" spc="100">
                <a:solidFill>
                  <a:srgbClr val="44586A"/>
                </a:solidFill>
                <a:latin typeface="Cambria" pitchFamily="34" charset="0"/>
                <a:ea typeface="Cambria" pitchFamily="34" charset="-122"/>
                <a:cs typeface="Cambria" pitchFamily="34" charset="-120"/>
              </a:rPr>
              <a:t>GARANTÍA</a:t>
            </a:r>
            <a:endParaRPr lang="en-US" sz="900"/>
          </a:p>
        </p:txBody>
      </p:sp>
      <p:sp>
        <p:nvSpPr>
          <p:cNvPr id="13" name="Text 11"/>
          <p:cNvSpPr/>
          <p:nvPr/>
        </p:nvSpPr>
        <p:spPr>
          <a:xfrm>
            <a:off x="749808" y="4535424"/>
            <a:ext cx="3127248" cy="658368"/>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Sí, Carta Fianza por los tributos suspendidos.</a:t>
            </a:r>
            <a:endParaRPr lang="en-US" sz="1150"/>
          </a:p>
        </p:txBody>
      </p:sp>
      <p:sp>
        <p:nvSpPr>
          <p:cNvPr id="14" name="Text 12"/>
          <p:cNvSpPr/>
          <p:nvPr/>
        </p:nvSpPr>
        <p:spPr>
          <a:xfrm>
            <a:off x="749808" y="5202936"/>
            <a:ext cx="3108960" cy="219456"/>
          </a:xfrm>
          <a:prstGeom prst="rect">
            <a:avLst/>
          </a:prstGeom>
          <a:noFill/>
          <a:ln/>
        </p:spPr>
        <p:txBody>
          <a:bodyPr wrap="square" lIns="0" tIns="0" rIns="0" bIns="0" rtlCol="0" anchor="ctr"/>
          <a:lstStyle/>
          <a:p>
            <a:pPr marL="0" indent="0">
              <a:buNone/>
            </a:pPr>
            <a:r>
              <a:rPr lang="en-US" sz="900" b="1" kern="0" spc="100">
                <a:solidFill>
                  <a:srgbClr val="44586A"/>
                </a:solidFill>
                <a:latin typeface="Cambria" pitchFamily="34" charset="0"/>
                <a:ea typeface="Cambria" pitchFamily="34" charset="-122"/>
                <a:cs typeface="Cambria" pitchFamily="34" charset="-120"/>
              </a:rPr>
              <a:t>OBLIGACIÓN FINAL</a:t>
            </a:r>
            <a:endParaRPr lang="en-US" sz="900"/>
          </a:p>
        </p:txBody>
      </p:sp>
      <p:sp>
        <p:nvSpPr>
          <p:cNvPr id="15" name="Text 13"/>
          <p:cNvSpPr/>
          <p:nvPr/>
        </p:nvSpPr>
        <p:spPr>
          <a:xfrm>
            <a:off x="749808" y="5422392"/>
            <a:ext cx="3127248" cy="658368"/>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Reexportar en el mismo estado, salvo depreciación por uso.</a:t>
            </a:r>
            <a:endParaRPr lang="en-US" sz="1150"/>
          </a:p>
        </p:txBody>
      </p:sp>
      <p:sp>
        <p:nvSpPr>
          <p:cNvPr id="16" name="Shape 14"/>
          <p:cNvSpPr/>
          <p:nvPr/>
        </p:nvSpPr>
        <p:spPr>
          <a:xfrm>
            <a:off x="4325112" y="1600200"/>
            <a:ext cx="3520440" cy="4480560"/>
          </a:xfrm>
          <a:prstGeom prst="roundRect">
            <a:avLst>
              <a:gd name="adj" fmla="val 1558"/>
            </a:avLst>
          </a:prstGeom>
          <a:solidFill>
            <a:srgbClr val="FFFFFF"/>
          </a:solidFill>
          <a:ln w="12700">
            <a:solidFill>
              <a:srgbClr val="C9D8E2"/>
            </a:solidFill>
            <a:prstDash val="solid"/>
          </a:ln>
        </p:spPr>
        <p:txBody>
          <a:bodyPr/>
          <a:lstStyle/>
          <a:p>
            <a:endParaRPr lang="es-PE"/>
          </a:p>
        </p:txBody>
      </p:sp>
      <p:sp>
        <p:nvSpPr>
          <p:cNvPr id="17" name="Shape 15"/>
          <p:cNvSpPr/>
          <p:nvPr/>
        </p:nvSpPr>
        <p:spPr>
          <a:xfrm>
            <a:off x="4599432" y="1325880"/>
            <a:ext cx="548640" cy="548640"/>
          </a:xfrm>
          <a:prstGeom prst="ellipse">
            <a:avLst/>
          </a:prstGeom>
          <a:solidFill>
            <a:srgbClr val="A65E2E"/>
          </a:solidFill>
          <a:ln w="12700">
            <a:solidFill>
              <a:srgbClr val="A65E2E"/>
            </a:solidFill>
            <a:prstDash val="solid"/>
          </a:ln>
        </p:spPr>
        <p:txBody>
          <a:bodyPr/>
          <a:lstStyle/>
          <a:p>
            <a:endParaRPr lang="es-PE"/>
          </a:p>
        </p:txBody>
      </p:sp>
      <p:sp>
        <p:nvSpPr>
          <p:cNvPr id="18" name="Text 16"/>
          <p:cNvSpPr/>
          <p:nvPr/>
        </p:nvSpPr>
        <p:spPr>
          <a:xfrm>
            <a:off x="4599432" y="1325880"/>
            <a:ext cx="548640" cy="548640"/>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2</a:t>
            </a:r>
            <a:endParaRPr lang="en-US" sz="1400"/>
          </a:p>
        </p:txBody>
      </p:sp>
      <p:sp>
        <p:nvSpPr>
          <p:cNvPr id="19" name="Text 17"/>
          <p:cNvSpPr/>
          <p:nvPr/>
        </p:nvSpPr>
        <p:spPr>
          <a:xfrm>
            <a:off x="4526280" y="2029968"/>
            <a:ext cx="3108960" cy="384048"/>
          </a:xfrm>
          <a:prstGeom prst="rect">
            <a:avLst/>
          </a:prstGeom>
          <a:noFill/>
          <a:ln/>
        </p:spPr>
        <p:txBody>
          <a:bodyPr wrap="square" lIns="0" tIns="0" rIns="0" bIns="0" rtlCol="0" anchor="ctr"/>
          <a:lstStyle/>
          <a:p>
            <a:pPr marL="0" indent="0">
              <a:buNone/>
            </a:pPr>
            <a:r>
              <a:rPr lang="en-US" sz="1600" b="1">
                <a:solidFill>
                  <a:srgbClr val="A65E2E"/>
                </a:solidFill>
                <a:latin typeface="Century Schoolbook" pitchFamily="34" charset="0"/>
                <a:ea typeface="Century Schoolbook" pitchFamily="34" charset="-122"/>
                <a:cs typeface="Century Schoolbook" pitchFamily="34" charset="-120"/>
              </a:rPr>
              <a:t>Depósito Aduanero</a:t>
            </a:r>
            <a:endParaRPr lang="en-US" sz="1600"/>
          </a:p>
        </p:txBody>
      </p:sp>
      <p:sp>
        <p:nvSpPr>
          <p:cNvPr id="20" name="Text 18"/>
          <p:cNvSpPr/>
          <p:nvPr/>
        </p:nvSpPr>
        <p:spPr>
          <a:xfrm>
            <a:off x="4526280" y="2542032"/>
            <a:ext cx="3108960" cy="219456"/>
          </a:xfrm>
          <a:prstGeom prst="rect">
            <a:avLst/>
          </a:prstGeom>
          <a:noFill/>
          <a:ln/>
        </p:spPr>
        <p:txBody>
          <a:bodyPr wrap="square" lIns="0" tIns="0" rIns="0" bIns="0" rtlCol="0" anchor="ctr"/>
          <a:lstStyle/>
          <a:p>
            <a:pPr marL="0" indent="0">
              <a:buNone/>
            </a:pPr>
            <a:r>
              <a:rPr lang="en-US" sz="900" b="1" kern="0" spc="100">
                <a:solidFill>
                  <a:srgbClr val="44586A"/>
                </a:solidFill>
                <a:latin typeface="Cambria" pitchFamily="34" charset="0"/>
                <a:ea typeface="Cambria" pitchFamily="34" charset="-122"/>
                <a:cs typeface="Cambria" pitchFamily="34" charset="-120"/>
              </a:rPr>
              <a:t>QUÉ PERMITE</a:t>
            </a:r>
            <a:endParaRPr lang="en-US" sz="900"/>
          </a:p>
        </p:txBody>
      </p:sp>
      <p:sp>
        <p:nvSpPr>
          <p:cNvPr id="21" name="Text 19"/>
          <p:cNvSpPr/>
          <p:nvPr/>
        </p:nvSpPr>
        <p:spPr>
          <a:xfrm>
            <a:off x="4526280" y="2761488"/>
            <a:ext cx="3127248" cy="658368"/>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Almacenar la mercancía sin pagar tributos mientras se consigue liquidez o se vende por lotes.</a:t>
            </a:r>
            <a:endParaRPr lang="en-US" sz="1150"/>
          </a:p>
        </p:txBody>
      </p:sp>
      <p:sp>
        <p:nvSpPr>
          <p:cNvPr id="22" name="Text 20"/>
          <p:cNvSpPr/>
          <p:nvPr/>
        </p:nvSpPr>
        <p:spPr>
          <a:xfrm>
            <a:off x="4526280" y="3429000"/>
            <a:ext cx="3108960" cy="219456"/>
          </a:xfrm>
          <a:prstGeom prst="rect">
            <a:avLst/>
          </a:prstGeom>
          <a:noFill/>
          <a:ln/>
        </p:spPr>
        <p:txBody>
          <a:bodyPr wrap="square" lIns="0" tIns="0" rIns="0" bIns="0" rtlCol="0" anchor="ctr"/>
          <a:lstStyle/>
          <a:p>
            <a:pPr marL="0" indent="0">
              <a:buNone/>
            </a:pPr>
            <a:r>
              <a:rPr lang="en-US" sz="900" b="1" kern="0" spc="100">
                <a:solidFill>
                  <a:srgbClr val="44586A"/>
                </a:solidFill>
                <a:latin typeface="Cambria" pitchFamily="34" charset="0"/>
                <a:ea typeface="Cambria" pitchFamily="34" charset="-122"/>
                <a:cs typeface="Cambria" pitchFamily="34" charset="-120"/>
              </a:rPr>
              <a:t>PLAZO</a:t>
            </a:r>
            <a:endParaRPr lang="en-US" sz="900"/>
          </a:p>
        </p:txBody>
      </p:sp>
      <p:sp>
        <p:nvSpPr>
          <p:cNvPr id="23" name="Text 21"/>
          <p:cNvSpPr/>
          <p:nvPr/>
        </p:nvSpPr>
        <p:spPr>
          <a:xfrm>
            <a:off x="4526280" y="3648456"/>
            <a:ext cx="3127248" cy="658368"/>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12 meses desde la numeración. No prorrogable.</a:t>
            </a:r>
            <a:endParaRPr lang="en-US" sz="1150"/>
          </a:p>
        </p:txBody>
      </p:sp>
      <p:sp>
        <p:nvSpPr>
          <p:cNvPr id="24" name="Text 22"/>
          <p:cNvSpPr/>
          <p:nvPr/>
        </p:nvSpPr>
        <p:spPr>
          <a:xfrm>
            <a:off x="4526280" y="4315968"/>
            <a:ext cx="3108960" cy="219456"/>
          </a:xfrm>
          <a:prstGeom prst="rect">
            <a:avLst/>
          </a:prstGeom>
          <a:noFill/>
          <a:ln/>
        </p:spPr>
        <p:txBody>
          <a:bodyPr wrap="square" lIns="0" tIns="0" rIns="0" bIns="0" rtlCol="0" anchor="ctr"/>
          <a:lstStyle/>
          <a:p>
            <a:pPr marL="0" indent="0">
              <a:buNone/>
            </a:pPr>
            <a:r>
              <a:rPr lang="en-US" sz="900" b="1" kern="0" spc="100">
                <a:solidFill>
                  <a:srgbClr val="44586A"/>
                </a:solidFill>
                <a:latin typeface="Cambria" pitchFamily="34" charset="0"/>
                <a:ea typeface="Cambria" pitchFamily="34" charset="-122"/>
                <a:cs typeface="Cambria" pitchFamily="34" charset="-120"/>
              </a:rPr>
              <a:t>GARANTÍA</a:t>
            </a:r>
            <a:endParaRPr lang="en-US" sz="900"/>
          </a:p>
        </p:txBody>
      </p:sp>
      <p:sp>
        <p:nvSpPr>
          <p:cNvPr id="25" name="Text 23"/>
          <p:cNvSpPr/>
          <p:nvPr/>
        </p:nvSpPr>
        <p:spPr>
          <a:xfrm>
            <a:off x="4526280" y="4535424"/>
            <a:ext cx="3127248" cy="658368"/>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No exige fianza. El Warrant es financiamiento, no garantía aduanera.</a:t>
            </a:r>
            <a:endParaRPr lang="en-US" sz="1150"/>
          </a:p>
        </p:txBody>
      </p:sp>
      <p:sp>
        <p:nvSpPr>
          <p:cNvPr id="26" name="Text 24"/>
          <p:cNvSpPr/>
          <p:nvPr/>
        </p:nvSpPr>
        <p:spPr>
          <a:xfrm>
            <a:off x="4526280" y="5202936"/>
            <a:ext cx="3108960" cy="219456"/>
          </a:xfrm>
          <a:prstGeom prst="rect">
            <a:avLst/>
          </a:prstGeom>
          <a:noFill/>
          <a:ln/>
        </p:spPr>
        <p:txBody>
          <a:bodyPr wrap="square" lIns="0" tIns="0" rIns="0" bIns="0" rtlCol="0" anchor="ctr"/>
          <a:lstStyle/>
          <a:p>
            <a:pPr marL="0" indent="0">
              <a:buNone/>
            </a:pPr>
            <a:r>
              <a:rPr lang="en-US" sz="900" b="1" kern="0" spc="100">
                <a:solidFill>
                  <a:srgbClr val="44586A"/>
                </a:solidFill>
                <a:latin typeface="Cambria" pitchFamily="34" charset="0"/>
                <a:ea typeface="Cambria" pitchFamily="34" charset="-122"/>
                <a:cs typeface="Cambria" pitchFamily="34" charset="-120"/>
              </a:rPr>
              <a:t>OBLIGACIÓN FINAL</a:t>
            </a:r>
            <a:endParaRPr lang="en-US" sz="900"/>
          </a:p>
        </p:txBody>
      </p:sp>
      <p:sp>
        <p:nvSpPr>
          <p:cNvPr id="27" name="Text 25"/>
          <p:cNvSpPr/>
          <p:nvPr/>
        </p:nvSpPr>
        <p:spPr>
          <a:xfrm>
            <a:off x="4526280" y="5422392"/>
            <a:ext cx="3127248" cy="658368"/>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Nacionalizar o reexportar antes del vencimiento.</a:t>
            </a:r>
            <a:endParaRPr lang="en-US" sz="1150"/>
          </a:p>
        </p:txBody>
      </p:sp>
      <p:sp>
        <p:nvSpPr>
          <p:cNvPr id="28" name="Shape 26"/>
          <p:cNvSpPr/>
          <p:nvPr/>
        </p:nvSpPr>
        <p:spPr>
          <a:xfrm>
            <a:off x="8101584" y="1600200"/>
            <a:ext cx="3520440" cy="4480560"/>
          </a:xfrm>
          <a:prstGeom prst="roundRect">
            <a:avLst>
              <a:gd name="adj" fmla="val 1558"/>
            </a:avLst>
          </a:prstGeom>
          <a:solidFill>
            <a:srgbClr val="F1F6F9"/>
          </a:solidFill>
          <a:ln w="12700">
            <a:solidFill>
              <a:srgbClr val="C9D8E2"/>
            </a:solidFill>
            <a:prstDash val="solid"/>
          </a:ln>
        </p:spPr>
        <p:txBody>
          <a:bodyPr/>
          <a:lstStyle/>
          <a:p>
            <a:endParaRPr lang="es-PE"/>
          </a:p>
        </p:txBody>
      </p:sp>
      <p:sp>
        <p:nvSpPr>
          <p:cNvPr id="29" name="Shape 27"/>
          <p:cNvSpPr/>
          <p:nvPr/>
        </p:nvSpPr>
        <p:spPr>
          <a:xfrm>
            <a:off x="8375904" y="1325880"/>
            <a:ext cx="548640" cy="548640"/>
          </a:xfrm>
          <a:prstGeom prst="ellipse">
            <a:avLst/>
          </a:prstGeom>
          <a:solidFill>
            <a:srgbClr val="7A3B69"/>
          </a:solidFill>
          <a:ln w="12700">
            <a:solidFill>
              <a:srgbClr val="7A3B69"/>
            </a:solidFill>
            <a:prstDash val="solid"/>
          </a:ln>
        </p:spPr>
        <p:txBody>
          <a:bodyPr/>
          <a:lstStyle/>
          <a:p>
            <a:endParaRPr lang="es-PE"/>
          </a:p>
        </p:txBody>
      </p:sp>
      <p:sp>
        <p:nvSpPr>
          <p:cNvPr id="30" name="Text 28"/>
          <p:cNvSpPr/>
          <p:nvPr/>
        </p:nvSpPr>
        <p:spPr>
          <a:xfrm>
            <a:off x="8375904" y="1325880"/>
            <a:ext cx="548640" cy="548640"/>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3</a:t>
            </a:r>
            <a:endParaRPr lang="en-US" sz="1400"/>
          </a:p>
        </p:txBody>
      </p:sp>
      <p:sp>
        <p:nvSpPr>
          <p:cNvPr id="31" name="Text 29"/>
          <p:cNvSpPr/>
          <p:nvPr/>
        </p:nvSpPr>
        <p:spPr>
          <a:xfrm>
            <a:off x="8302752" y="2029968"/>
            <a:ext cx="3108960" cy="384048"/>
          </a:xfrm>
          <a:prstGeom prst="rect">
            <a:avLst/>
          </a:prstGeom>
          <a:noFill/>
          <a:ln/>
        </p:spPr>
        <p:txBody>
          <a:bodyPr wrap="square" lIns="0" tIns="0" rIns="0" bIns="0" rtlCol="0" anchor="ctr"/>
          <a:lstStyle/>
          <a:p>
            <a:pPr marL="0" indent="0">
              <a:buNone/>
            </a:pPr>
            <a:r>
              <a:rPr lang="en-US" sz="1600" b="1">
                <a:solidFill>
                  <a:srgbClr val="7A3B69"/>
                </a:solidFill>
                <a:latin typeface="Century Schoolbook" pitchFamily="34" charset="0"/>
                <a:ea typeface="Century Schoolbook" pitchFamily="34" charset="-122"/>
                <a:cs typeface="Century Schoolbook" pitchFamily="34" charset="-120"/>
              </a:rPr>
              <a:t>Perfeccionamiento Pasivo</a:t>
            </a:r>
            <a:endParaRPr lang="en-US" sz="1600"/>
          </a:p>
        </p:txBody>
      </p:sp>
      <p:sp>
        <p:nvSpPr>
          <p:cNvPr id="32" name="Text 30"/>
          <p:cNvSpPr/>
          <p:nvPr/>
        </p:nvSpPr>
        <p:spPr>
          <a:xfrm>
            <a:off x="8302752" y="2542032"/>
            <a:ext cx="3108960" cy="219456"/>
          </a:xfrm>
          <a:prstGeom prst="rect">
            <a:avLst/>
          </a:prstGeom>
          <a:noFill/>
          <a:ln/>
        </p:spPr>
        <p:txBody>
          <a:bodyPr wrap="square" lIns="0" tIns="0" rIns="0" bIns="0" rtlCol="0" anchor="ctr"/>
          <a:lstStyle/>
          <a:p>
            <a:pPr marL="0" indent="0">
              <a:buNone/>
            </a:pPr>
            <a:r>
              <a:rPr lang="en-US" sz="900" b="1" kern="0" spc="100">
                <a:solidFill>
                  <a:srgbClr val="44586A"/>
                </a:solidFill>
                <a:latin typeface="Cambria" pitchFamily="34" charset="0"/>
                <a:ea typeface="Cambria" pitchFamily="34" charset="-122"/>
                <a:cs typeface="Cambria" pitchFamily="34" charset="-120"/>
              </a:rPr>
              <a:t>QUÉ PERMITE</a:t>
            </a:r>
            <a:endParaRPr lang="en-US" sz="900"/>
          </a:p>
        </p:txBody>
      </p:sp>
      <p:sp>
        <p:nvSpPr>
          <p:cNvPr id="33" name="Text 31"/>
          <p:cNvSpPr/>
          <p:nvPr/>
        </p:nvSpPr>
        <p:spPr>
          <a:xfrm>
            <a:off x="8302752" y="2761488"/>
            <a:ext cx="3127248" cy="658368"/>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Exportar temporalmente insumos nacionales para que retornen transformados.</a:t>
            </a:r>
            <a:endParaRPr lang="en-US" sz="1150"/>
          </a:p>
        </p:txBody>
      </p:sp>
      <p:sp>
        <p:nvSpPr>
          <p:cNvPr id="34" name="Text 32"/>
          <p:cNvSpPr/>
          <p:nvPr/>
        </p:nvSpPr>
        <p:spPr>
          <a:xfrm>
            <a:off x="8302752" y="3429000"/>
            <a:ext cx="3108960" cy="219456"/>
          </a:xfrm>
          <a:prstGeom prst="rect">
            <a:avLst/>
          </a:prstGeom>
          <a:noFill/>
          <a:ln/>
        </p:spPr>
        <p:txBody>
          <a:bodyPr wrap="square" lIns="0" tIns="0" rIns="0" bIns="0" rtlCol="0" anchor="ctr"/>
          <a:lstStyle/>
          <a:p>
            <a:pPr marL="0" indent="0">
              <a:buNone/>
            </a:pPr>
            <a:r>
              <a:rPr lang="en-US" sz="900" b="1" kern="0" spc="100">
                <a:solidFill>
                  <a:srgbClr val="44586A"/>
                </a:solidFill>
                <a:latin typeface="Cambria" pitchFamily="34" charset="0"/>
                <a:ea typeface="Cambria" pitchFamily="34" charset="-122"/>
                <a:cs typeface="Cambria" pitchFamily="34" charset="-120"/>
              </a:rPr>
              <a:t>PLAZO</a:t>
            </a:r>
            <a:endParaRPr lang="en-US" sz="900"/>
          </a:p>
        </p:txBody>
      </p:sp>
      <p:sp>
        <p:nvSpPr>
          <p:cNvPr id="35" name="Text 33"/>
          <p:cNvSpPr/>
          <p:nvPr/>
        </p:nvSpPr>
        <p:spPr>
          <a:xfrm>
            <a:off x="8302752" y="3648456"/>
            <a:ext cx="3127248" cy="658368"/>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12 meses desde el término del embarque, ampliable.</a:t>
            </a:r>
            <a:endParaRPr lang="en-US" sz="1150"/>
          </a:p>
        </p:txBody>
      </p:sp>
      <p:sp>
        <p:nvSpPr>
          <p:cNvPr id="36" name="Text 34"/>
          <p:cNvSpPr/>
          <p:nvPr/>
        </p:nvSpPr>
        <p:spPr>
          <a:xfrm>
            <a:off x="8302752" y="4315968"/>
            <a:ext cx="3108960" cy="219456"/>
          </a:xfrm>
          <a:prstGeom prst="rect">
            <a:avLst/>
          </a:prstGeom>
          <a:noFill/>
          <a:ln/>
        </p:spPr>
        <p:txBody>
          <a:bodyPr wrap="square" lIns="0" tIns="0" rIns="0" bIns="0" rtlCol="0" anchor="ctr"/>
          <a:lstStyle/>
          <a:p>
            <a:pPr marL="0" indent="0">
              <a:buNone/>
            </a:pPr>
            <a:r>
              <a:rPr lang="en-US" sz="900" b="1" kern="0" spc="100">
                <a:solidFill>
                  <a:srgbClr val="44586A"/>
                </a:solidFill>
                <a:latin typeface="Cambria" pitchFamily="34" charset="0"/>
                <a:ea typeface="Cambria" pitchFamily="34" charset="-122"/>
                <a:cs typeface="Cambria" pitchFamily="34" charset="-120"/>
              </a:rPr>
              <a:t>GARANTÍA</a:t>
            </a:r>
            <a:endParaRPr lang="en-US" sz="900"/>
          </a:p>
        </p:txBody>
      </p:sp>
      <p:sp>
        <p:nvSpPr>
          <p:cNvPr id="37" name="Text 35"/>
          <p:cNvSpPr/>
          <p:nvPr/>
        </p:nvSpPr>
        <p:spPr>
          <a:xfrm>
            <a:off x="8302752" y="4535424"/>
            <a:ext cx="3127248" cy="658368"/>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No aplica garantía por suspensión.</a:t>
            </a:r>
            <a:endParaRPr lang="en-US" sz="1150"/>
          </a:p>
        </p:txBody>
      </p:sp>
      <p:sp>
        <p:nvSpPr>
          <p:cNvPr id="38" name="Text 36"/>
          <p:cNvSpPr/>
          <p:nvPr/>
        </p:nvSpPr>
        <p:spPr>
          <a:xfrm>
            <a:off x="8302752" y="5202936"/>
            <a:ext cx="3108960" cy="219456"/>
          </a:xfrm>
          <a:prstGeom prst="rect">
            <a:avLst/>
          </a:prstGeom>
          <a:noFill/>
          <a:ln/>
        </p:spPr>
        <p:txBody>
          <a:bodyPr wrap="square" lIns="0" tIns="0" rIns="0" bIns="0" rtlCol="0" anchor="ctr"/>
          <a:lstStyle/>
          <a:p>
            <a:pPr marL="0" indent="0">
              <a:buNone/>
            </a:pPr>
            <a:r>
              <a:rPr lang="en-US" sz="900" b="1" kern="0" spc="100">
                <a:solidFill>
                  <a:srgbClr val="44586A"/>
                </a:solidFill>
                <a:latin typeface="Cambria" pitchFamily="34" charset="0"/>
                <a:ea typeface="Cambria" pitchFamily="34" charset="-122"/>
                <a:cs typeface="Cambria" pitchFamily="34" charset="-120"/>
              </a:rPr>
              <a:t>OBLIGACIÓN FINAL</a:t>
            </a:r>
            <a:endParaRPr lang="en-US" sz="900"/>
          </a:p>
        </p:txBody>
      </p:sp>
      <p:sp>
        <p:nvSpPr>
          <p:cNvPr id="39" name="Text 37"/>
          <p:cNvSpPr/>
          <p:nvPr/>
        </p:nvSpPr>
        <p:spPr>
          <a:xfrm>
            <a:off x="8302752" y="5422392"/>
            <a:ext cx="3127248" cy="658368"/>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Pagar tributos solo sobre el valor agregado en el exterior.</a:t>
            </a:r>
            <a:endParaRPr lang="en-US" sz="1150"/>
          </a:p>
        </p:txBody>
      </p:sp>
      <p:sp>
        <p:nvSpPr>
          <p:cNvPr id="40" name="Text 38"/>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Los tres regímenes suspenden el pago de tributos. Se diferencian en el plazo, la garantía y la obligación final.</a:t>
            </a:r>
            <a:endParaRPr lang="en-US" sz="950"/>
          </a:p>
        </p:txBody>
      </p:sp>
      <p:sp>
        <p:nvSpPr>
          <p:cNvPr id="41" name="Text 39"/>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ERIC MOZOMBITE</a:t>
            </a:r>
            <a:endParaRPr lang="en-US" sz="850"/>
          </a:p>
        </p:txBody>
      </p:sp>
      <p:sp>
        <p:nvSpPr>
          <p:cNvPr id="42" name="Text 40"/>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3</a:t>
            </a:r>
            <a:endParaRPr lang="en-US" sz="9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0B3C5D"/>
                </a:solidFill>
                <a:latin typeface="Cambria" pitchFamily="34" charset="0"/>
                <a:ea typeface="Cambria" pitchFamily="34" charset="-122"/>
                <a:cs typeface="Cambria" pitchFamily="34" charset="-120"/>
              </a:rPr>
              <a:t>MARCO GENERAL</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Cuatro ideas que sostienen los tres casos</a:t>
            </a:r>
            <a:endParaRPr lang="en-US" sz="3000"/>
          </a:p>
        </p:txBody>
      </p:sp>
      <p:sp>
        <p:nvSpPr>
          <p:cNvPr id="4" name="Shape 2"/>
          <p:cNvSpPr/>
          <p:nvPr/>
        </p:nvSpPr>
        <p:spPr>
          <a:xfrm>
            <a:off x="548640" y="1572768"/>
            <a:ext cx="5440680" cy="2011680"/>
          </a:xfrm>
          <a:prstGeom prst="roundRect">
            <a:avLst>
              <a:gd name="adj" fmla="val 2727"/>
            </a:avLst>
          </a:prstGeom>
          <a:solidFill>
            <a:srgbClr val="F1F6F9"/>
          </a:solidFill>
          <a:ln w="12700">
            <a:solidFill>
              <a:srgbClr val="C9D8E2"/>
            </a:solidFill>
            <a:prstDash val="solid"/>
          </a:ln>
        </p:spPr>
        <p:txBody>
          <a:bodyPr/>
          <a:lstStyle/>
          <a:p>
            <a:endParaRPr lang="es-PE"/>
          </a:p>
        </p:txBody>
      </p:sp>
      <p:sp>
        <p:nvSpPr>
          <p:cNvPr id="5" name="Shape 3"/>
          <p:cNvSpPr/>
          <p:nvPr/>
        </p:nvSpPr>
        <p:spPr>
          <a:xfrm>
            <a:off x="841248" y="1865376"/>
            <a:ext cx="548640" cy="548640"/>
          </a:xfrm>
          <a:prstGeom prst="ellipse">
            <a:avLst/>
          </a:prstGeom>
          <a:solidFill>
            <a:srgbClr val="0B3C5D"/>
          </a:solidFill>
          <a:ln w="12700">
            <a:solidFill>
              <a:srgbClr val="0B3C5D"/>
            </a:solidFill>
            <a:prstDash val="solid"/>
          </a:ln>
        </p:spPr>
        <p:txBody>
          <a:bodyPr/>
          <a:lstStyle/>
          <a:p>
            <a:endParaRPr lang="es-PE"/>
          </a:p>
        </p:txBody>
      </p:sp>
      <p:sp>
        <p:nvSpPr>
          <p:cNvPr id="6" name="Text 4"/>
          <p:cNvSpPr/>
          <p:nvPr/>
        </p:nvSpPr>
        <p:spPr>
          <a:xfrm>
            <a:off x="841248" y="1865376"/>
            <a:ext cx="548640" cy="548640"/>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A</a:t>
            </a:r>
            <a:endParaRPr lang="en-US" sz="1400"/>
          </a:p>
        </p:txBody>
      </p:sp>
      <p:sp>
        <p:nvSpPr>
          <p:cNvPr id="7" name="Text 5"/>
          <p:cNvSpPr/>
          <p:nvPr/>
        </p:nvSpPr>
        <p:spPr>
          <a:xfrm>
            <a:off x="1572768" y="1847088"/>
            <a:ext cx="4206240" cy="548640"/>
          </a:xfrm>
          <a:prstGeom prst="rect">
            <a:avLst/>
          </a:prstGeom>
          <a:noFill/>
          <a:ln/>
        </p:spPr>
        <p:txBody>
          <a:bodyPr wrap="square" lIns="0" tIns="0" rIns="0" bIns="0" rtlCol="0" anchor="ctr"/>
          <a:lstStyle/>
          <a:p>
            <a:pPr marL="0" indent="0">
              <a:buNone/>
            </a:pPr>
            <a:r>
              <a:rPr lang="en-US" sz="1600" b="1">
                <a:solidFill>
                  <a:srgbClr val="0B3C5D"/>
                </a:solidFill>
                <a:latin typeface="Century Schoolbook" pitchFamily="34" charset="0"/>
                <a:ea typeface="Century Schoolbook" pitchFamily="34" charset="-122"/>
                <a:cs typeface="Century Schoolbook" pitchFamily="34" charset="-120"/>
              </a:rPr>
              <a:t>Suspender no es exonerar</a:t>
            </a:r>
            <a:endParaRPr lang="en-US" sz="1600"/>
          </a:p>
        </p:txBody>
      </p:sp>
      <p:sp>
        <p:nvSpPr>
          <p:cNvPr id="8" name="Text 6"/>
          <p:cNvSpPr/>
          <p:nvPr/>
        </p:nvSpPr>
        <p:spPr>
          <a:xfrm>
            <a:off x="822960" y="2505456"/>
            <a:ext cx="4937760" cy="960120"/>
          </a:xfrm>
          <a:prstGeom prst="rect">
            <a:avLst/>
          </a:prstGeom>
          <a:noFill/>
          <a:ln/>
        </p:spPr>
        <p:txBody>
          <a:bodyPr wrap="square" lIns="0" tIns="0" rIns="0" bIns="0" rtlCol="0" anchor="ctr"/>
          <a:lstStyle/>
          <a:p>
            <a:pPr marL="0" indent="0">
              <a:lnSpc>
                <a:spcPts val="1600"/>
              </a:lnSpc>
              <a:buNone/>
            </a:pPr>
            <a:r>
              <a:rPr lang="en-US" sz="1250">
                <a:solidFill>
                  <a:srgbClr val="12212F"/>
                </a:solidFill>
                <a:latin typeface="Cambria" pitchFamily="34" charset="0"/>
                <a:ea typeface="Cambria" pitchFamily="34" charset="-122"/>
                <a:cs typeface="Cambria" pitchFamily="34" charset="-120"/>
              </a:rPr>
              <a:t>En estos regímenes el tributo no desaparece: queda suspendido. Si la mercancía se queda en el país, se paga. Si sale, no. La decisión se toma dentro del plazo.</a:t>
            </a:r>
            <a:endParaRPr lang="en-US" sz="1250"/>
          </a:p>
        </p:txBody>
      </p:sp>
      <p:sp>
        <p:nvSpPr>
          <p:cNvPr id="9" name="Shape 7"/>
          <p:cNvSpPr/>
          <p:nvPr/>
        </p:nvSpPr>
        <p:spPr>
          <a:xfrm>
            <a:off x="6190488" y="1572768"/>
            <a:ext cx="5440680" cy="2011680"/>
          </a:xfrm>
          <a:prstGeom prst="roundRect">
            <a:avLst>
              <a:gd name="adj" fmla="val 2727"/>
            </a:avLst>
          </a:prstGeom>
          <a:solidFill>
            <a:srgbClr val="FFFFFF"/>
          </a:solidFill>
          <a:ln w="12700">
            <a:solidFill>
              <a:srgbClr val="C9D8E2"/>
            </a:solidFill>
            <a:prstDash val="solid"/>
          </a:ln>
        </p:spPr>
        <p:txBody>
          <a:bodyPr/>
          <a:lstStyle/>
          <a:p>
            <a:endParaRPr lang="es-PE"/>
          </a:p>
        </p:txBody>
      </p:sp>
      <p:sp>
        <p:nvSpPr>
          <p:cNvPr id="10" name="Shape 8"/>
          <p:cNvSpPr/>
          <p:nvPr/>
        </p:nvSpPr>
        <p:spPr>
          <a:xfrm>
            <a:off x="6483096" y="1865376"/>
            <a:ext cx="548640" cy="548640"/>
          </a:xfrm>
          <a:prstGeom prst="ellipse">
            <a:avLst/>
          </a:prstGeom>
          <a:solidFill>
            <a:srgbClr val="1D7874"/>
          </a:solidFill>
          <a:ln w="12700">
            <a:solidFill>
              <a:srgbClr val="1D7874"/>
            </a:solidFill>
            <a:prstDash val="solid"/>
          </a:ln>
        </p:spPr>
        <p:txBody>
          <a:bodyPr/>
          <a:lstStyle/>
          <a:p>
            <a:endParaRPr lang="es-PE"/>
          </a:p>
        </p:txBody>
      </p:sp>
      <p:sp>
        <p:nvSpPr>
          <p:cNvPr id="11" name="Text 9"/>
          <p:cNvSpPr/>
          <p:nvPr/>
        </p:nvSpPr>
        <p:spPr>
          <a:xfrm>
            <a:off x="6483096" y="1865376"/>
            <a:ext cx="548640" cy="548640"/>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B</a:t>
            </a:r>
            <a:endParaRPr lang="en-US" sz="1400"/>
          </a:p>
        </p:txBody>
      </p:sp>
      <p:sp>
        <p:nvSpPr>
          <p:cNvPr id="12" name="Text 10"/>
          <p:cNvSpPr/>
          <p:nvPr/>
        </p:nvSpPr>
        <p:spPr>
          <a:xfrm>
            <a:off x="7214616" y="1847088"/>
            <a:ext cx="4206240" cy="548640"/>
          </a:xfrm>
          <a:prstGeom prst="rect">
            <a:avLst/>
          </a:prstGeom>
          <a:noFill/>
          <a:ln/>
        </p:spPr>
        <p:txBody>
          <a:bodyPr wrap="square" lIns="0" tIns="0" rIns="0" bIns="0" rtlCol="0" anchor="ctr"/>
          <a:lstStyle/>
          <a:p>
            <a:pPr marL="0" indent="0">
              <a:buNone/>
            </a:pPr>
            <a:r>
              <a:rPr lang="en-US" sz="1600" b="1">
                <a:solidFill>
                  <a:srgbClr val="1D7874"/>
                </a:solidFill>
                <a:latin typeface="Century Schoolbook" pitchFamily="34" charset="0"/>
                <a:ea typeface="Century Schoolbook" pitchFamily="34" charset="-122"/>
                <a:cs typeface="Century Schoolbook" pitchFamily="34" charset="-120"/>
              </a:rPr>
              <a:t>La garantía cubre lo que sigue suspendido</a:t>
            </a:r>
            <a:endParaRPr lang="en-US" sz="1600"/>
          </a:p>
        </p:txBody>
      </p:sp>
      <p:sp>
        <p:nvSpPr>
          <p:cNvPr id="13" name="Text 11"/>
          <p:cNvSpPr/>
          <p:nvPr/>
        </p:nvSpPr>
        <p:spPr>
          <a:xfrm>
            <a:off x="6464808" y="2505456"/>
            <a:ext cx="4937760" cy="960120"/>
          </a:xfrm>
          <a:prstGeom prst="rect">
            <a:avLst/>
          </a:prstGeom>
          <a:noFill/>
          <a:ln/>
        </p:spPr>
        <p:txBody>
          <a:bodyPr wrap="square" lIns="0" tIns="0" rIns="0" bIns="0" rtlCol="0" anchor="ctr"/>
          <a:lstStyle/>
          <a:p>
            <a:pPr marL="0" indent="0">
              <a:lnSpc>
                <a:spcPts val="1600"/>
              </a:lnSpc>
              <a:buNone/>
            </a:pPr>
            <a:r>
              <a:rPr lang="en-US" sz="1250">
                <a:solidFill>
                  <a:srgbClr val="12212F"/>
                </a:solidFill>
                <a:latin typeface="Cambria" pitchFamily="34" charset="0"/>
                <a:ea typeface="Cambria" pitchFamily="34" charset="-122"/>
                <a:cs typeface="Cambria" pitchFamily="34" charset="-120"/>
              </a:rPr>
              <a:t>La Carta Fianza se calcula sobre los derechos arancelarios y demás impuestos suspendidos. Al nacionalizar una parte, la garantía se renueva por el saldo: no tiene sentido garantizar lo ya pagado.</a:t>
            </a:r>
            <a:endParaRPr lang="en-US" sz="1250"/>
          </a:p>
        </p:txBody>
      </p:sp>
      <p:sp>
        <p:nvSpPr>
          <p:cNvPr id="14" name="Shape 12"/>
          <p:cNvSpPr/>
          <p:nvPr/>
        </p:nvSpPr>
        <p:spPr>
          <a:xfrm>
            <a:off x="548640" y="3785616"/>
            <a:ext cx="5440680" cy="2011680"/>
          </a:xfrm>
          <a:prstGeom prst="roundRect">
            <a:avLst>
              <a:gd name="adj" fmla="val 2727"/>
            </a:avLst>
          </a:prstGeom>
          <a:solidFill>
            <a:srgbClr val="F1F6F9"/>
          </a:solidFill>
          <a:ln w="12700">
            <a:solidFill>
              <a:srgbClr val="C9D8E2"/>
            </a:solidFill>
            <a:prstDash val="solid"/>
          </a:ln>
        </p:spPr>
        <p:txBody>
          <a:bodyPr/>
          <a:lstStyle/>
          <a:p>
            <a:endParaRPr lang="es-PE"/>
          </a:p>
        </p:txBody>
      </p:sp>
      <p:sp>
        <p:nvSpPr>
          <p:cNvPr id="15" name="Shape 13"/>
          <p:cNvSpPr/>
          <p:nvPr/>
        </p:nvSpPr>
        <p:spPr>
          <a:xfrm>
            <a:off x="841248" y="4078224"/>
            <a:ext cx="548640" cy="548640"/>
          </a:xfrm>
          <a:prstGeom prst="ellipse">
            <a:avLst/>
          </a:prstGeom>
          <a:solidFill>
            <a:srgbClr val="A65E2E"/>
          </a:solidFill>
          <a:ln w="12700">
            <a:solidFill>
              <a:srgbClr val="A65E2E"/>
            </a:solidFill>
            <a:prstDash val="solid"/>
          </a:ln>
        </p:spPr>
        <p:txBody>
          <a:bodyPr/>
          <a:lstStyle/>
          <a:p>
            <a:endParaRPr lang="es-PE"/>
          </a:p>
        </p:txBody>
      </p:sp>
      <p:sp>
        <p:nvSpPr>
          <p:cNvPr id="16" name="Text 14"/>
          <p:cNvSpPr/>
          <p:nvPr/>
        </p:nvSpPr>
        <p:spPr>
          <a:xfrm>
            <a:off x="841248" y="4078224"/>
            <a:ext cx="548640" cy="548640"/>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C</a:t>
            </a:r>
            <a:endParaRPr lang="en-US" sz="1400"/>
          </a:p>
        </p:txBody>
      </p:sp>
      <p:sp>
        <p:nvSpPr>
          <p:cNvPr id="17" name="Text 15"/>
          <p:cNvSpPr/>
          <p:nvPr/>
        </p:nvSpPr>
        <p:spPr>
          <a:xfrm>
            <a:off x="1572768" y="4059936"/>
            <a:ext cx="4206240" cy="548640"/>
          </a:xfrm>
          <a:prstGeom prst="rect">
            <a:avLst/>
          </a:prstGeom>
          <a:noFill/>
          <a:ln/>
        </p:spPr>
        <p:txBody>
          <a:bodyPr wrap="square" lIns="0" tIns="0" rIns="0" bIns="0" rtlCol="0" anchor="ctr"/>
          <a:lstStyle/>
          <a:p>
            <a:pPr marL="0" indent="0">
              <a:buNone/>
            </a:pPr>
            <a:r>
              <a:rPr lang="en-US" sz="1600" b="1">
                <a:solidFill>
                  <a:srgbClr val="A65E2E"/>
                </a:solidFill>
                <a:latin typeface="Century Schoolbook" pitchFamily="34" charset="0"/>
                <a:ea typeface="Century Schoolbook" pitchFamily="34" charset="-122"/>
                <a:cs typeface="Century Schoolbook" pitchFamily="34" charset="-120"/>
              </a:rPr>
              <a:t>El plazo manda</a:t>
            </a:r>
            <a:endParaRPr lang="en-US" sz="1600"/>
          </a:p>
        </p:txBody>
      </p:sp>
      <p:sp>
        <p:nvSpPr>
          <p:cNvPr id="18" name="Text 16"/>
          <p:cNvSpPr/>
          <p:nvPr/>
        </p:nvSpPr>
        <p:spPr>
          <a:xfrm>
            <a:off x="822960" y="4718304"/>
            <a:ext cx="4937760" cy="960120"/>
          </a:xfrm>
          <a:prstGeom prst="rect">
            <a:avLst/>
          </a:prstGeom>
          <a:noFill/>
          <a:ln/>
        </p:spPr>
        <p:txBody>
          <a:bodyPr wrap="square" lIns="0" tIns="0" rIns="0" bIns="0" rtlCol="0" anchor="ctr"/>
          <a:lstStyle/>
          <a:p>
            <a:pPr marL="0" indent="0">
              <a:lnSpc>
                <a:spcPts val="1600"/>
              </a:lnSpc>
              <a:buNone/>
            </a:pPr>
            <a:r>
              <a:rPr lang="en-US" sz="1250">
                <a:solidFill>
                  <a:srgbClr val="12212F"/>
                </a:solidFill>
                <a:latin typeface="Cambria" pitchFamily="34" charset="0"/>
                <a:ea typeface="Cambria" pitchFamily="34" charset="-122"/>
                <a:cs typeface="Cambria" pitchFamily="34" charset="-120"/>
              </a:rPr>
              <a:t>Vencido el plazo sin concluir el régimen, la consecuencia es automática: nacionalización automática y ejecución de la garantía al día siguiente, o abandono legal de la mercancía.</a:t>
            </a:r>
            <a:endParaRPr lang="en-US" sz="1250"/>
          </a:p>
        </p:txBody>
      </p:sp>
      <p:sp>
        <p:nvSpPr>
          <p:cNvPr id="19" name="Shape 17"/>
          <p:cNvSpPr/>
          <p:nvPr/>
        </p:nvSpPr>
        <p:spPr>
          <a:xfrm>
            <a:off x="6190488" y="3785616"/>
            <a:ext cx="5440680" cy="2011680"/>
          </a:xfrm>
          <a:prstGeom prst="roundRect">
            <a:avLst>
              <a:gd name="adj" fmla="val 2727"/>
            </a:avLst>
          </a:prstGeom>
          <a:solidFill>
            <a:srgbClr val="FFFFFF"/>
          </a:solidFill>
          <a:ln w="12700">
            <a:solidFill>
              <a:srgbClr val="C9D8E2"/>
            </a:solidFill>
            <a:prstDash val="solid"/>
          </a:ln>
        </p:spPr>
        <p:txBody>
          <a:bodyPr/>
          <a:lstStyle/>
          <a:p>
            <a:endParaRPr lang="es-PE"/>
          </a:p>
        </p:txBody>
      </p:sp>
      <p:sp>
        <p:nvSpPr>
          <p:cNvPr id="20" name="Shape 18"/>
          <p:cNvSpPr/>
          <p:nvPr/>
        </p:nvSpPr>
        <p:spPr>
          <a:xfrm>
            <a:off x="6483096" y="4078224"/>
            <a:ext cx="548640" cy="548640"/>
          </a:xfrm>
          <a:prstGeom prst="ellipse">
            <a:avLst/>
          </a:prstGeom>
          <a:solidFill>
            <a:srgbClr val="7A3B69"/>
          </a:solidFill>
          <a:ln w="12700">
            <a:solidFill>
              <a:srgbClr val="7A3B69"/>
            </a:solidFill>
            <a:prstDash val="solid"/>
          </a:ln>
        </p:spPr>
        <p:txBody>
          <a:bodyPr/>
          <a:lstStyle/>
          <a:p>
            <a:endParaRPr lang="es-PE"/>
          </a:p>
        </p:txBody>
      </p:sp>
      <p:sp>
        <p:nvSpPr>
          <p:cNvPr id="21" name="Text 19"/>
          <p:cNvSpPr/>
          <p:nvPr/>
        </p:nvSpPr>
        <p:spPr>
          <a:xfrm>
            <a:off x="6483096" y="4078224"/>
            <a:ext cx="548640" cy="548640"/>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D</a:t>
            </a:r>
            <a:endParaRPr lang="en-US" sz="1400"/>
          </a:p>
        </p:txBody>
      </p:sp>
      <p:sp>
        <p:nvSpPr>
          <p:cNvPr id="22" name="Text 20"/>
          <p:cNvSpPr/>
          <p:nvPr/>
        </p:nvSpPr>
        <p:spPr>
          <a:xfrm>
            <a:off x="7214616" y="4059936"/>
            <a:ext cx="4206240" cy="548640"/>
          </a:xfrm>
          <a:prstGeom prst="rect">
            <a:avLst/>
          </a:prstGeom>
          <a:noFill/>
          <a:ln/>
        </p:spPr>
        <p:txBody>
          <a:bodyPr wrap="square" lIns="0" tIns="0" rIns="0" bIns="0" rtlCol="0" anchor="ctr"/>
          <a:lstStyle/>
          <a:p>
            <a:pPr marL="0" indent="0">
              <a:buNone/>
            </a:pPr>
            <a:r>
              <a:rPr lang="en-US" sz="1600" b="1">
                <a:solidFill>
                  <a:srgbClr val="7A3B69"/>
                </a:solidFill>
                <a:latin typeface="Century Schoolbook" pitchFamily="34" charset="0"/>
                <a:ea typeface="Century Schoolbook" pitchFamily="34" charset="-122"/>
                <a:cs typeface="Century Schoolbook" pitchFamily="34" charset="-120"/>
              </a:rPr>
              <a:t>La base imponible no siempre es el valor total</a:t>
            </a:r>
            <a:endParaRPr lang="en-US" sz="1600"/>
          </a:p>
        </p:txBody>
      </p:sp>
      <p:sp>
        <p:nvSpPr>
          <p:cNvPr id="23" name="Text 21"/>
          <p:cNvSpPr/>
          <p:nvPr/>
        </p:nvSpPr>
        <p:spPr>
          <a:xfrm>
            <a:off x="6464808" y="4718304"/>
            <a:ext cx="4937760" cy="960120"/>
          </a:xfrm>
          <a:prstGeom prst="rect">
            <a:avLst/>
          </a:prstGeom>
          <a:noFill/>
          <a:ln/>
        </p:spPr>
        <p:txBody>
          <a:bodyPr wrap="square" lIns="0" tIns="0" rIns="0" bIns="0" rtlCol="0" anchor="ctr"/>
          <a:lstStyle/>
          <a:p>
            <a:pPr marL="0" indent="0">
              <a:lnSpc>
                <a:spcPts val="1600"/>
              </a:lnSpc>
              <a:buNone/>
            </a:pPr>
            <a:r>
              <a:rPr lang="en-US" sz="1250">
                <a:solidFill>
                  <a:srgbClr val="12212F"/>
                </a:solidFill>
                <a:latin typeface="Cambria" pitchFamily="34" charset="0"/>
                <a:ea typeface="Cambria" pitchFamily="34" charset="-122"/>
                <a:cs typeface="Cambria" pitchFamily="34" charset="-120"/>
              </a:rPr>
              <a:t>En el perfeccionamiento pasivo se tributa únicamente sobre el valor agregado en el extranjero más los fletes y seguros de ida y retorno, no sobre el valor del producto terminado.</a:t>
            </a:r>
            <a:endParaRPr lang="en-US" sz="1250"/>
          </a:p>
        </p:txBody>
      </p:sp>
      <p:sp>
        <p:nvSpPr>
          <p:cNvPr id="24" name="Text 22"/>
          <p:cNvSpPr/>
          <p:nvPr/>
        </p:nvSpPr>
        <p:spPr>
          <a:xfrm>
            <a:off x="548640" y="6400800"/>
            <a:ext cx="68881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Estas cuatro ideas se aplican, en distinto grado, a los tres casos que siguen.</a:t>
            </a:r>
            <a:endParaRPr lang="en-US" sz="950"/>
          </a:p>
        </p:txBody>
      </p:sp>
      <p:sp>
        <p:nvSpPr>
          <p:cNvPr id="25" name="Text 23"/>
          <p:cNvSpPr/>
          <p:nvPr/>
        </p:nvSpPr>
        <p:spPr>
          <a:xfrm>
            <a:off x="7711135" y="6400800"/>
            <a:ext cx="31089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ERIC MOZOMBITE · MARILIN MEDINA</a:t>
            </a:r>
            <a:endParaRPr lang="en-US" sz="850"/>
          </a:p>
        </p:txBody>
      </p:sp>
      <p:sp>
        <p:nvSpPr>
          <p:cNvPr id="26" name="Text 24"/>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4</a:t>
            </a:r>
            <a:endParaRPr lang="en-US" sz="9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4EDF3"/>
        </a:solidFill>
        <a:effectLst/>
      </p:bgPr>
    </p:bg>
    <p:spTree>
      <p:nvGrpSpPr>
        <p:cNvPr id="1" name=""/>
        <p:cNvGrpSpPr/>
        <p:nvPr/>
      </p:nvGrpSpPr>
      <p:grpSpPr>
        <a:xfrm>
          <a:off x="0" y="0"/>
          <a:ext cx="0" cy="0"/>
          <a:chOff x="0" y="0"/>
          <a:chExt cx="0" cy="0"/>
        </a:xfrm>
      </p:grpSpPr>
      <p:sp>
        <p:nvSpPr>
          <p:cNvPr id="2" name="Shape 0"/>
          <p:cNvSpPr/>
          <p:nvPr/>
        </p:nvSpPr>
        <p:spPr>
          <a:xfrm>
            <a:off x="548640" y="1600200"/>
            <a:ext cx="1554480" cy="1554480"/>
          </a:xfrm>
          <a:prstGeom prst="ellipse">
            <a:avLst/>
          </a:prstGeom>
          <a:solidFill>
            <a:srgbClr val="1D7874"/>
          </a:solidFill>
          <a:ln w="12700">
            <a:solidFill>
              <a:srgbClr val="1D7874"/>
            </a:solidFill>
            <a:prstDash val="solid"/>
          </a:ln>
        </p:spPr>
        <p:txBody>
          <a:bodyPr/>
          <a:lstStyle/>
          <a:p>
            <a:endParaRPr lang="es-PE"/>
          </a:p>
        </p:txBody>
      </p:sp>
      <p:sp>
        <p:nvSpPr>
          <p:cNvPr id="3" name="Text 1"/>
          <p:cNvSpPr/>
          <p:nvPr/>
        </p:nvSpPr>
        <p:spPr>
          <a:xfrm>
            <a:off x="548640" y="1600200"/>
            <a:ext cx="1554480" cy="1554480"/>
          </a:xfrm>
          <a:prstGeom prst="rect">
            <a:avLst/>
          </a:prstGeom>
          <a:noFill/>
          <a:ln/>
        </p:spPr>
        <p:txBody>
          <a:bodyPr wrap="square" lIns="0" tIns="0" rIns="0" bIns="0" rtlCol="0" anchor="ctr"/>
          <a:lstStyle/>
          <a:p>
            <a:pPr marL="0" indent="0" algn="ctr">
              <a:buNone/>
            </a:pPr>
            <a:r>
              <a:rPr lang="en-US" sz="1800" b="1">
                <a:solidFill>
                  <a:srgbClr val="FFFFFF"/>
                </a:solidFill>
                <a:latin typeface="Century Schoolbook" pitchFamily="34" charset="0"/>
                <a:ea typeface="Century Schoolbook" pitchFamily="34" charset="-122"/>
                <a:cs typeface="Century Schoolbook" pitchFamily="34" charset="-120"/>
              </a:rPr>
              <a:t>1</a:t>
            </a:r>
            <a:endParaRPr lang="en-US" sz="1800"/>
          </a:p>
        </p:txBody>
      </p:sp>
      <p:sp>
        <p:nvSpPr>
          <p:cNvPr id="4" name="Text 2"/>
          <p:cNvSpPr/>
          <p:nvPr/>
        </p:nvSpPr>
        <p:spPr>
          <a:xfrm>
            <a:off x="2468880" y="1783080"/>
            <a:ext cx="8686800" cy="329184"/>
          </a:xfrm>
          <a:prstGeom prst="rect">
            <a:avLst/>
          </a:prstGeom>
          <a:noFill/>
          <a:ln/>
        </p:spPr>
        <p:txBody>
          <a:bodyPr wrap="square" lIns="0" tIns="0" rIns="0" bIns="0" rtlCol="0" anchor="ctr"/>
          <a:lstStyle/>
          <a:p>
            <a:pPr marL="0" indent="0">
              <a:buNone/>
            </a:pPr>
            <a:r>
              <a:rPr lang="en-US" sz="1400" b="1" kern="0" spc="240">
                <a:solidFill>
                  <a:srgbClr val="1D7874"/>
                </a:solidFill>
                <a:latin typeface="Cambria" pitchFamily="34" charset="0"/>
                <a:ea typeface="Cambria" pitchFamily="34" charset="-122"/>
                <a:cs typeface="Cambria" pitchFamily="34" charset="-120"/>
              </a:rPr>
              <a:t>CASO 1</a:t>
            </a:r>
            <a:endParaRPr lang="en-US" sz="1400"/>
          </a:p>
        </p:txBody>
      </p:sp>
      <p:sp>
        <p:nvSpPr>
          <p:cNvPr id="5" name="Text 3"/>
          <p:cNvSpPr/>
          <p:nvPr/>
        </p:nvSpPr>
        <p:spPr>
          <a:xfrm>
            <a:off x="2468880" y="2103120"/>
            <a:ext cx="8778240" cy="868680"/>
          </a:xfrm>
          <a:prstGeom prst="rect">
            <a:avLst/>
          </a:prstGeom>
          <a:noFill/>
          <a:ln/>
        </p:spPr>
        <p:txBody>
          <a:bodyPr wrap="square" lIns="0" tIns="0" rIns="0" bIns="0" rtlCol="0" anchor="ctr"/>
          <a:lstStyle/>
          <a:p>
            <a:pPr marL="0" indent="0">
              <a:buNone/>
            </a:pPr>
            <a:r>
              <a:rPr lang="en-US" sz="3400" b="1">
                <a:solidFill>
                  <a:srgbClr val="12212F"/>
                </a:solidFill>
                <a:latin typeface="Century Schoolbook" pitchFamily="34" charset="0"/>
                <a:ea typeface="Century Schoolbook" pitchFamily="34" charset="-122"/>
                <a:cs typeface="Century Schoolbook" pitchFamily="34" charset="-120"/>
              </a:rPr>
              <a:t>Admisión Temporal para Reexportación en el Mismo Estado</a:t>
            </a:r>
            <a:endParaRPr lang="en-US" sz="3400"/>
          </a:p>
        </p:txBody>
      </p:sp>
      <p:sp>
        <p:nvSpPr>
          <p:cNvPr id="6" name="Text 4"/>
          <p:cNvSpPr/>
          <p:nvPr/>
        </p:nvSpPr>
        <p:spPr>
          <a:xfrm>
            <a:off x="2468880" y="2926080"/>
            <a:ext cx="8595360" cy="457200"/>
          </a:xfrm>
          <a:prstGeom prst="rect">
            <a:avLst/>
          </a:prstGeom>
          <a:noFill/>
          <a:ln/>
        </p:spPr>
        <p:txBody>
          <a:bodyPr wrap="square" lIns="0" tIns="0" rIns="0" bIns="0" rtlCol="0" anchor="ctr"/>
          <a:lstStyle/>
          <a:p>
            <a:pPr marL="0" indent="0">
              <a:buNone/>
            </a:pPr>
            <a:r>
              <a:rPr lang="en-US" sz="1600">
                <a:solidFill>
                  <a:srgbClr val="44586A"/>
                </a:solidFill>
                <a:latin typeface="Cambria" pitchFamily="34" charset="0"/>
                <a:ea typeface="Cambria" pitchFamily="34" charset="-122"/>
                <a:cs typeface="Cambria" pitchFamily="34" charset="-120"/>
              </a:rPr>
              <a:t>Nacionalizaciones parciales y renovación sucesiva de la garantía</a:t>
            </a:r>
            <a:endParaRPr lang="en-US" sz="1600"/>
          </a:p>
        </p:txBody>
      </p:sp>
      <p:sp>
        <p:nvSpPr>
          <p:cNvPr id="7" name="Shape 5"/>
          <p:cNvSpPr/>
          <p:nvPr/>
        </p:nvSpPr>
        <p:spPr>
          <a:xfrm>
            <a:off x="548640" y="3977640"/>
            <a:ext cx="11094415" cy="1051560"/>
          </a:xfrm>
          <a:prstGeom prst="roundRect">
            <a:avLst>
              <a:gd name="adj" fmla="val 5217"/>
            </a:avLst>
          </a:prstGeom>
          <a:solidFill>
            <a:srgbClr val="FFFFFF"/>
          </a:solidFill>
          <a:ln w="12700">
            <a:solidFill>
              <a:srgbClr val="C9D8E2"/>
            </a:solidFill>
            <a:prstDash val="solid"/>
          </a:ln>
        </p:spPr>
        <p:txBody>
          <a:bodyPr/>
          <a:lstStyle/>
          <a:p>
            <a:endParaRPr lang="es-PE"/>
          </a:p>
        </p:txBody>
      </p:sp>
      <p:sp>
        <p:nvSpPr>
          <p:cNvPr id="8" name="Text 6"/>
          <p:cNvSpPr/>
          <p:nvPr/>
        </p:nvSpPr>
        <p:spPr>
          <a:xfrm>
            <a:off x="868680" y="4160520"/>
            <a:ext cx="3657600" cy="237744"/>
          </a:xfrm>
          <a:prstGeom prst="rect">
            <a:avLst/>
          </a:prstGeom>
          <a:noFill/>
          <a:ln/>
        </p:spPr>
        <p:txBody>
          <a:bodyPr wrap="square" lIns="0" tIns="0" rIns="0" bIns="0" rtlCol="0" anchor="ctr"/>
          <a:lstStyle/>
          <a:p>
            <a:pPr marL="0" indent="0">
              <a:buNone/>
            </a:pPr>
            <a:r>
              <a:rPr lang="en-US" sz="950" b="1" kern="0" spc="120">
                <a:solidFill>
                  <a:srgbClr val="44586A"/>
                </a:solidFill>
                <a:latin typeface="Cambria" pitchFamily="34" charset="0"/>
                <a:ea typeface="Cambria" pitchFamily="34" charset="-122"/>
                <a:cs typeface="Cambria" pitchFamily="34" charset="-120"/>
              </a:rPr>
              <a:t>EMPRESA DEL CASO</a:t>
            </a:r>
            <a:endParaRPr lang="en-US" sz="950"/>
          </a:p>
        </p:txBody>
      </p:sp>
      <p:sp>
        <p:nvSpPr>
          <p:cNvPr id="9" name="Text 7"/>
          <p:cNvSpPr/>
          <p:nvPr/>
        </p:nvSpPr>
        <p:spPr>
          <a:xfrm>
            <a:off x="868680" y="4407408"/>
            <a:ext cx="10424160" cy="411480"/>
          </a:xfrm>
          <a:prstGeom prst="rect">
            <a:avLst/>
          </a:prstGeom>
          <a:noFill/>
          <a:ln/>
        </p:spPr>
        <p:txBody>
          <a:bodyPr wrap="square" lIns="0" tIns="0" rIns="0" bIns="0" rtlCol="0" anchor="ctr"/>
          <a:lstStyle/>
          <a:p>
            <a:pPr marL="0" indent="0">
              <a:buNone/>
            </a:pPr>
            <a:r>
              <a:rPr lang="en-US" sz="1800" b="1">
                <a:solidFill>
                  <a:srgbClr val="1D7874"/>
                </a:solidFill>
                <a:latin typeface="Century Schoolbook" pitchFamily="34" charset="0"/>
                <a:ea typeface="Century Schoolbook" pitchFamily="34" charset="-122"/>
                <a:cs typeface="Century Schoolbook" pitchFamily="34" charset="-120"/>
              </a:rPr>
              <a:t>Andina Ingeniería y Construcción S.A.C.  ·  RUC 20609934187</a:t>
            </a:r>
            <a:endParaRPr lang="en-US" sz="1800"/>
          </a:p>
        </p:txBody>
      </p:sp>
      <p:sp>
        <p:nvSpPr>
          <p:cNvPr id="10" name="Text 8"/>
          <p:cNvSpPr/>
          <p:nvPr/>
        </p:nvSpPr>
        <p:spPr>
          <a:xfrm>
            <a:off x="548640" y="6400800"/>
            <a:ext cx="68881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Tarea 4 · Regímenes Aduaneros Especiales</a:t>
            </a:r>
            <a:endParaRPr lang="en-US" sz="950"/>
          </a:p>
        </p:txBody>
      </p:sp>
      <p:sp>
        <p:nvSpPr>
          <p:cNvPr id="11" name="Text 9"/>
          <p:cNvSpPr/>
          <p:nvPr/>
        </p:nvSpPr>
        <p:spPr>
          <a:xfrm>
            <a:off x="7711135" y="6400800"/>
            <a:ext cx="31089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MARILIN MEDINA · ERIC MOZOMBITE</a:t>
            </a:r>
            <a:endParaRPr lang="en-US" sz="850"/>
          </a:p>
        </p:txBody>
      </p:sp>
      <p:sp>
        <p:nvSpPr>
          <p:cNvPr id="12" name="Text 10"/>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5</a:t>
            </a:r>
            <a:endParaRPr lang="en-US" sz="9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1D7874"/>
                </a:solidFill>
                <a:latin typeface="Cambria" pitchFamily="34" charset="0"/>
                <a:ea typeface="Cambria" pitchFamily="34" charset="-122"/>
                <a:cs typeface="Cambria" pitchFamily="34" charset="-120"/>
              </a:rPr>
              <a:t>CASO 1</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Qué es y cuánto dura</a:t>
            </a:r>
            <a:endParaRPr lang="en-US" sz="3000"/>
          </a:p>
        </p:txBody>
      </p:sp>
      <p:sp>
        <p:nvSpPr>
          <p:cNvPr id="4" name="Shape 2"/>
          <p:cNvSpPr/>
          <p:nvPr/>
        </p:nvSpPr>
        <p:spPr>
          <a:xfrm>
            <a:off x="548640" y="1536192"/>
            <a:ext cx="5943600" cy="1965960"/>
          </a:xfrm>
          <a:prstGeom prst="roundRect">
            <a:avLst>
              <a:gd name="adj" fmla="val 2791"/>
            </a:avLst>
          </a:prstGeom>
          <a:solidFill>
            <a:srgbClr val="F1F6F9"/>
          </a:solidFill>
          <a:ln w="12700">
            <a:solidFill>
              <a:srgbClr val="C9D8E2"/>
            </a:solidFill>
            <a:prstDash val="solid"/>
          </a:ln>
        </p:spPr>
        <p:txBody>
          <a:bodyPr/>
          <a:lstStyle/>
          <a:p>
            <a:endParaRPr lang="es-PE"/>
          </a:p>
        </p:txBody>
      </p:sp>
      <p:sp>
        <p:nvSpPr>
          <p:cNvPr id="5" name="Text 3"/>
          <p:cNvSpPr/>
          <p:nvPr/>
        </p:nvSpPr>
        <p:spPr>
          <a:xfrm>
            <a:off x="841248" y="1737360"/>
            <a:ext cx="5394960" cy="237744"/>
          </a:xfrm>
          <a:prstGeom prst="rect">
            <a:avLst/>
          </a:prstGeom>
          <a:noFill/>
          <a:ln/>
        </p:spPr>
        <p:txBody>
          <a:bodyPr wrap="square" lIns="0" tIns="0" rIns="0" bIns="0" rtlCol="0" anchor="ctr"/>
          <a:lstStyle/>
          <a:p>
            <a:pPr marL="0" indent="0">
              <a:buNone/>
            </a:pPr>
            <a:r>
              <a:rPr lang="en-US" sz="950" b="1" kern="0" spc="120">
                <a:solidFill>
                  <a:srgbClr val="44586A"/>
                </a:solidFill>
                <a:latin typeface="Cambria" pitchFamily="34" charset="0"/>
                <a:ea typeface="Cambria" pitchFamily="34" charset="-122"/>
                <a:cs typeface="Cambria" pitchFamily="34" charset="-120"/>
              </a:rPr>
              <a:t>DEFINICIÓN</a:t>
            </a:r>
            <a:endParaRPr lang="en-US" sz="950"/>
          </a:p>
        </p:txBody>
      </p:sp>
      <p:sp>
        <p:nvSpPr>
          <p:cNvPr id="6" name="Text 4"/>
          <p:cNvSpPr/>
          <p:nvPr/>
        </p:nvSpPr>
        <p:spPr>
          <a:xfrm>
            <a:off x="841248" y="1993392"/>
            <a:ext cx="5394960" cy="1371600"/>
          </a:xfrm>
          <a:prstGeom prst="rect">
            <a:avLst/>
          </a:prstGeom>
          <a:noFill/>
          <a:ln/>
        </p:spPr>
        <p:txBody>
          <a:bodyPr wrap="square" lIns="0" tIns="0" rIns="0" bIns="0" rtlCol="0" anchor="ctr"/>
          <a:lstStyle/>
          <a:p>
            <a:pPr>
              <a:lnSpc>
                <a:spcPts val="1600"/>
              </a:lnSpc>
            </a:pPr>
            <a:r>
              <a:rPr lang="en-US" sz="1250">
                <a:solidFill>
                  <a:srgbClr val="12212F"/>
                </a:solidFill>
                <a:latin typeface="Cambria"/>
                <a:ea typeface="Cambria"/>
                <a:cs typeface="Cambria" pitchFamily="34" charset="-120"/>
              </a:rPr>
              <a:t> </a:t>
            </a:r>
            <a:r>
              <a:rPr lang="en-US" sz="1250">
                <a:solidFill>
                  <a:srgbClr val="12212F"/>
                </a:solidFill>
                <a:latin typeface="Cambria"/>
                <a:ea typeface="Cambria"/>
                <a:cs typeface="+mn-lt"/>
              </a:rPr>
              <a:t>Es un </a:t>
            </a:r>
            <a:r>
              <a:rPr lang="en-US" sz="1250" err="1">
                <a:solidFill>
                  <a:srgbClr val="12212F"/>
                </a:solidFill>
                <a:latin typeface="Cambria"/>
                <a:ea typeface="Cambria"/>
                <a:cs typeface="+mn-lt"/>
              </a:rPr>
              <a:t>régimen</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que</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permite</a:t>
            </a:r>
            <a:r>
              <a:rPr lang="en-US" sz="1250">
                <a:solidFill>
                  <a:srgbClr val="12212F"/>
                </a:solidFill>
                <a:latin typeface="Cambria"/>
                <a:ea typeface="Cambria"/>
                <a:cs typeface="+mn-lt"/>
              </a:rPr>
              <a:t> el </a:t>
            </a:r>
            <a:r>
              <a:rPr lang="en-US" sz="1250" err="1">
                <a:solidFill>
                  <a:srgbClr val="12212F"/>
                </a:solidFill>
                <a:latin typeface="Cambria"/>
                <a:ea typeface="Cambria"/>
                <a:cs typeface="+mn-lt"/>
              </a:rPr>
              <a:t>ingreso</a:t>
            </a:r>
            <a:r>
              <a:rPr lang="en-US" sz="1250">
                <a:solidFill>
                  <a:srgbClr val="12212F"/>
                </a:solidFill>
                <a:latin typeface="Cambria"/>
                <a:ea typeface="Cambria"/>
                <a:cs typeface="+mn-lt"/>
              </a:rPr>
              <a:t> de </a:t>
            </a:r>
            <a:r>
              <a:rPr lang="en-US" sz="1250" err="1">
                <a:solidFill>
                  <a:srgbClr val="12212F"/>
                </a:solidFill>
                <a:latin typeface="Cambria"/>
                <a:ea typeface="Cambria"/>
                <a:cs typeface="+mn-lt"/>
              </a:rPr>
              <a:t>mercancías</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que</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pueden</a:t>
            </a:r>
            <a:r>
              <a:rPr lang="en-US" sz="1250">
                <a:solidFill>
                  <a:srgbClr val="12212F"/>
                </a:solidFill>
                <a:latin typeface="Cambria"/>
                <a:ea typeface="Cambria"/>
                <a:cs typeface="+mn-lt"/>
              </a:rPr>
              <a:t> ser </a:t>
            </a:r>
            <a:r>
              <a:rPr lang="en-US" sz="1250" err="1">
                <a:solidFill>
                  <a:srgbClr val="12212F"/>
                </a:solidFill>
                <a:latin typeface="Cambria"/>
                <a:ea typeface="Cambria"/>
                <a:cs typeface="+mn-lt"/>
              </a:rPr>
              <a:t>identificadas</a:t>
            </a:r>
            <a:r>
              <a:rPr lang="en-US" sz="1250">
                <a:solidFill>
                  <a:srgbClr val="12212F"/>
                </a:solidFill>
                <a:latin typeface="Cambria"/>
                <a:ea typeface="Cambria"/>
                <a:cs typeface="+mn-lt"/>
              </a:rPr>
              <a:t> y </a:t>
            </a:r>
            <a:r>
              <a:rPr lang="en-US" sz="1250" err="1">
                <a:solidFill>
                  <a:srgbClr val="12212F"/>
                </a:solidFill>
                <a:latin typeface="Cambria"/>
                <a:ea typeface="Cambria"/>
                <a:cs typeface="+mn-lt"/>
              </a:rPr>
              <a:t>que</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están</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destinadas</a:t>
            </a:r>
            <a:r>
              <a:rPr lang="en-US" sz="1250">
                <a:solidFill>
                  <a:srgbClr val="12212F"/>
                </a:solidFill>
                <a:latin typeface="Cambria"/>
                <a:ea typeface="Cambria"/>
                <a:cs typeface="+mn-lt"/>
              </a:rPr>
              <a:t> a </a:t>
            </a:r>
            <a:r>
              <a:rPr lang="en-US" sz="1250" err="1">
                <a:solidFill>
                  <a:srgbClr val="12212F"/>
                </a:solidFill>
                <a:latin typeface="Cambria"/>
                <a:ea typeface="Cambria"/>
                <a:cs typeface="+mn-lt"/>
              </a:rPr>
              <a:t>cumplir</a:t>
            </a:r>
            <a:r>
              <a:rPr lang="en-US" sz="1250">
                <a:solidFill>
                  <a:srgbClr val="12212F"/>
                </a:solidFill>
                <a:latin typeface="Cambria"/>
                <a:ea typeface="Cambria"/>
                <a:cs typeface="+mn-lt"/>
              </a:rPr>
              <a:t> un </a:t>
            </a:r>
            <a:r>
              <a:rPr lang="en-US" sz="1250" err="1">
                <a:solidFill>
                  <a:srgbClr val="12212F"/>
                </a:solidFill>
                <a:latin typeface="Cambria"/>
                <a:ea typeface="Cambria"/>
                <a:cs typeface="+mn-lt"/>
              </a:rPr>
              <a:t>propósito</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específico</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en</a:t>
            </a:r>
            <a:r>
              <a:rPr lang="en-US" sz="1250">
                <a:solidFill>
                  <a:srgbClr val="12212F"/>
                </a:solidFill>
                <a:latin typeface="Cambria"/>
                <a:ea typeface="Cambria"/>
                <a:cs typeface="+mn-lt"/>
              </a:rPr>
              <a:t> un </a:t>
            </a:r>
            <a:r>
              <a:rPr lang="en-US" sz="1250" err="1">
                <a:solidFill>
                  <a:srgbClr val="12212F"/>
                </a:solidFill>
                <a:latin typeface="Cambria"/>
                <a:ea typeface="Cambria"/>
                <a:cs typeface="+mn-lt"/>
              </a:rPr>
              <a:t>lugar</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determinado</a:t>
            </a:r>
            <a:r>
              <a:rPr lang="en-US" sz="1250">
                <a:solidFill>
                  <a:srgbClr val="12212F"/>
                </a:solidFill>
                <a:latin typeface="Cambria"/>
                <a:ea typeface="Cambria"/>
                <a:cs typeface="+mn-lt"/>
              </a:rPr>
              <a:t>, sin </a:t>
            </a:r>
            <a:r>
              <a:rPr lang="en-US" sz="1250" err="1">
                <a:solidFill>
                  <a:srgbClr val="12212F"/>
                </a:solidFill>
                <a:latin typeface="Cambria"/>
                <a:ea typeface="Cambria"/>
                <a:cs typeface="+mn-lt"/>
              </a:rPr>
              <a:t>tener</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que</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pagar</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temporalmente</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los</a:t>
            </a:r>
            <a:r>
              <a:rPr lang="en-US" sz="1250">
                <a:solidFill>
                  <a:srgbClr val="12212F"/>
                </a:solidFill>
                <a:latin typeface="Cambria"/>
                <a:ea typeface="Cambria"/>
                <a:cs typeface="+mn-lt"/>
              </a:rPr>
              <a:t> derechos </a:t>
            </a:r>
            <a:r>
              <a:rPr lang="en-US" sz="1250" err="1">
                <a:solidFill>
                  <a:srgbClr val="12212F"/>
                </a:solidFill>
                <a:latin typeface="Cambria"/>
                <a:ea typeface="Cambria"/>
                <a:cs typeface="+mn-lt"/>
              </a:rPr>
              <a:t>arancelarios</a:t>
            </a:r>
            <a:r>
              <a:rPr lang="en-US" sz="1250">
                <a:solidFill>
                  <a:srgbClr val="12212F"/>
                </a:solidFill>
                <a:latin typeface="Cambria"/>
                <a:ea typeface="Cambria"/>
                <a:cs typeface="+mn-lt"/>
              </a:rPr>
              <a:t> y </a:t>
            </a:r>
            <a:r>
              <a:rPr lang="en-US" sz="1250" err="1">
                <a:solidFill>
                  <a:srgbClr val="12212F"/>
                </a:solidFill>
                <a:latin typeface="Cambria"/>
                <a:ea typeface="Cambria"/>
                <a:cs typeface="+mn-lt"/>
              </a:rPr>
              <a:t>demás</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impuestos</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Estas</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mercancías</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deben</a:t>
            </a:r>
            <a:r>
              <a:rPr lang="en-US" sz="1250">
                <a:solidFill>
                  <a:srgbClr val="12212F"/>
                </a:solidFill>
                <a:latin typeface="Cambria"/>
                <a:ea typeface="Cambria"/>
                <a:cs typeface="+mn-lt"/>
              </a:rPr>
              <a:t> ser </a:t>
            </a:r>
            <a:r>
              <a:rPr lang="en-US" sz="1250" err="1">
                <a:solidFill>
                  <a:srgbClr val="12212F"/>
                </a:solidFill>
                <a:latin typeface="Cambria"/>
                <a:ea typeface="Cambria"/>
                <a:cs typeface="+mn-lt"/>
              </a:rPr>
              <a:t>reexportadas</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dentro</a:t>
            </a:r>
            <a:r>
              <a:rPr lang="en-US" sz="1250">
                <a:solidFill>
                  <a:srgbClr val="12212F"/>
                </a:solidFill>
                <a:latin typeface="Cambria"/>
                <a:ea typeface="Cambria"/>
                <a:cs typeface="+mn-lt"/>
              </a:rPr>
              <a:t> del </a:t>
            </a:r>
            <a:r>
              <a:rPr lang="en-US" sz="1250" err="1">
                <a:solidFill>
                  <a:srgbClr val="12212F"/>
                </a:solidFill>
                <a:latin typeface="Cambria"/>
                <a:ea typeface="Cambria"/>
                <a:cs typeface="+mn-lt"/>
              </a:rPr>
              <a:t>plazo</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establecido</a:t>
            </a:r>
            <a:r>
              <a:rPr lang="en-US" sz="1250">
                <a:solidFill>
                  <a:srgbClr val="12212F"/>
                </a:solidFill>
                <a:latin typeface="Cambria"/>
                <a:ea typeface="Cambria"/>
                <a:cs typeface="+mn-lt"/>
              </a:rPr>
              <a:t>, sin </a:t>
            </a:r>
            <a:r>
              <a:rPr lang="en-US" sz="1250" err="1">
                <a:solidFill>
                  <a:srgbClr val="12212F"/>
                </a:solidFill>
                <a:latin typeface="Cambria"/>
                <a:ea typeface="Cambria"/>
                <a:cs typeface="+mn-lt"/>
              </a:rPr>
              <a:t>sufrir</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modificaciones</a:t>
            </a:r>
            <a:r>
              <a:rPr lang="en-US" sz="1250">
                <a:solidFill>
                  <a:srgbClr val="12212F"/>
                </a:solidFill>
                <a:latin typeface="Cambria"/>
                <a:ea typeface="Cambria"/>
                <a:cs typeface="+mn-lt"/>
              </a:rPr>
              <a:t>, salvo el </a:t>
            </a:r>
            <a:r>
              <a:rPr lang="en-US" sz="1250" err="1">
                <a:solidFill>
                  <a:srgbClr val="12212F"/>
                </a:solidFill>
                <a:latin typeface="Cambria"/>
                <a:ea typeface="Cambria"/>
                <a:cs typeface="+mn-lt"/>
              </a:rPr>
              <a:t>desgaste</a:t>
            </a:r>
            <a:r>
              <a:rPr lang="en-US" sz="1250">
                <a:solidFill>
                  <a:srgbClr val="12212F"/>
                </a:solidFill>
                <a:latin typeface="Cambria"/>
                <a:ea typeface="Cambria"/>
                <a:cs typeface="+mn-lt"/>
              </a:rPr>
              <a:t> o </a:t>
            </a:r>
            <a:r>
              <a:rPr lang="en-US" sz="1250" err="1">
                <a:solidFill>
                  <a:srgbClr val="12212F"/>
                </a:solidFill>
                <a:latin typeface="Cambria"/>
                <a:ea typeface="Cambria"/>
                <a:cs typeface="+mn-lt"/>
              </a:rPr>
              <a:t>deterioro</a:t>
            </a:r>
            <a:r>
              <a:rPr lang="en-US" sz="1250">
                <a:solidFill>
                  <a:srgbClr val="12212F"/>
                </a:solidFill>
                <a:latin typeface="Cambria"/>
                <a:ea typeface="Cambria"/>
                <a:cs typeface="+mn-lt"/>
              </a:rPr>
              <a:t> normal </a:t>
            </a:r>
            <a:r>
              <a:rPr lang="en-US" sz="1250" err="1">
                <a:solidFill>
                  <a:srgbClr val="12212F"/>
                </a:solidFill>
                <a:latin typeface="Cambria"/>
                <a:ea typeface="Cambria"/>
                <a:cs typeface="+mn-lt"/>
              </a:rPr>
              <a:t>ocasionado</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por</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su</a:t>
            </a:r>
            <a:r>
              <a:rPr lang="en-US" sz="1250">
                <a:solidFill>
                  <a:srgbClr val="12212F"/>
                </a:solidFill>
                <a:latin typeface="Cambria"/>
                <a:ea typeface="Cambria"/>
                <a:cs typeface="+mn-lt"/>
              </a:rPr>
              <a:t> </a:t>
            </a:r>
            <a:r>
              <a:rPr lang="en-US" sz="1250" err="1">
                <a:solidFill>
                  <a:srgbClr val="12212F"/>
                </a:solidFill>
                <a:latin typeface="Cambria"/>
                <a:ea typeface="Cambria"/>
                <a:cs typeface="+mn-lt"/>
              </a:rPr>
              <a:t>uso</a:t>
            </a:r>
            <a:r>
              <a:rPr lang="en-US" sz="1250">
                <a:solidFill>
                  <a:srgbClr val="12212F"/>
                </a:solidFill>
                <a:latin typeface="Cambria"/>
                <a:ea typeface="Cambria"/>
                <a:cs typeface="+mn-lt"/>
              </a:rPr>
              <a:t>.</a:t>
            </a:r>
            <a:endParaRPr lang="en-US" sz="1250">
              <a:solidFill>
                <a:srgbClr val="12212F"/>
              </a:solidFill>
              <a:latin typeface="Cambria"/>
              <a:ea typeface="Cambria"/>
              <a:cs typeface="Calibri"/>
            </a:endParaRPr>
          </a:p>
        </p:txBody>
      </p:sp>
      <p:sp>
        <p:nvSpPr>
          <p:cNvPr id="7" name="Shape 5"/>
          <p:cNvSpPr/>
          <p:nvPr/>
        </p:nvSpPr>
        <p:spPr>
          <a:xfrm>
            <a:off x="548640" y="3703320"/>
            <a:ext cx="5943600" cy="2331720"/>
          </a:xfrm>
          <a:prstGeom prst="roundRect">
            <a:avLst>
              <a:gd name="adj" fmla="val 2353"/>
            </a:avLst>
          </a:prstGeom>
          <a:solidFill>
            <a:srgbClr val="FFFFFF"/>
          </a:solidFill>
          <a:ln w="12700">
            <a:solidFill>
              <a:srgbClr val="C9D8E2"/>
            </a:solidFill>
            <a:prstDash val="solid"/>
          </a:ln>
        </p:spPr>
        <p:txBody>
          <a:bodyPr/>
          <a:lstStyle/>
          <a:p>
            <a:endParaRPr lang="es-PE"/>
          </a:p>
        </p:txBody>
      </p:sp>
      <p:sp>
        <p:nvSpPr>
          <p:cNvPr id="8" name="Text 6"/>
          <p:cNvSpPr/>
          <p:nvPr/>
        </p:nvSpPr>
        <p:spPr>
          <a:xfrm>
            <a:off x="841248" y="3904488"/>
            <a:ext cx="5394960" cy="237744"/>
          </a:xfrm>
          <a:prstGeom prst="rect">
            <a:avLst/>
          </a:prstGeom>
          <a:noFill/>
          <a:ln/>
        </p:spPr>
        <p:txBody>
          <a:bodyPr wrap="square" lIns="0" tIns="0" rIns="0" bIns="0" rtlCol="0" anchor="ctr"/>
          <a:lstStyle/>
          <a:p>
            <a:pPr marL="0" indent="0">
              <a:buNone/>
            </a:pPr>
            <a:r>
              <a:rPr lang="en-US" sz="950" b="1" kern="0" spc="120">
                <a:solidFill>
                  <a:srgbClr val="44586A"/>
                </a:solidFill>
                <a:latin typeface="Cambria" pitchFamily="34" charset="0"/>
                <a:ea typeface="Cambria" pitchFamily="34" charset="-122"/>
                <a:cs typeface="Cambria" pitchFamily="34" charset="-120"/>
              </a:rPr>
              <a:t>LA GARANTÍA</a:t>
            </a:r>
            <a:endParaRPr lang="en-US" sz="950"/>
          </a:p>
        </p:txBody>
      </p:sp>
      <p:sp>
        <p:nvSpPr>
          <p:cNvPr id="9" name="Text 7"/>
          <p:cNvSpPr/>
          <p:nvPr/>
        </p:nvSpPr>
        <p:spPr>
          <a:xfrm>
            <a:off x="841248" y="4187952"/>
            <a:ext cx="5394960" cy="169164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b="1">
                <a:solidFill>
                  <a:srgbClr val="12212F"/>
                </a:solidFill>
                <a:latin typeface="Cambria" pitchFamily="34" charset="0"/>
                <a:ea typeface="Cambria" pitchFamily="34" charset="-122"/>
                <a:cs typeface="Cambria" pitchFamily="34" charset="-120"/>
              </a:rPr>
              <a:t>Derechos arancelarios y demás impuestos</a:t>
            </a:r>
            <a:endParaRPr lang="en-US" sz="1250"/>
          </a:p>
          <a:p>
            <a:pPr marL="342900" indent="-342900">
              <a:lnSpc>
                <a:spcPts val="1600"/>
              </a:lnSpc>
              <a:spcAft>
                <a:spcPts val="600"/>
              </a:spcAft>
              <a:buSzPct val="100000"/>
              <a:buChar char="•"/>
            </a:pPr>
            <a:r>
              <a:rPr lang="en-US" sz="1250">
                <a:solidFill>
                  <a:srgbClr val="12212F"/>
                </a:solidFill>
                <a:latin typeface="Cambria" pitchFamily="34" charset="0"/>
                <a:ea typeface="Cambria" pitchFamily="34" charset="-122"/>
                <a:cs typeface="Cambria" pitchFamily="34" charset="-120"/>
              </a:rPr>
              <a:t>Derechos antidumping o compensatorios</a:t>
            </a:r>
            <a:endParaRPr lang="en-US" sz="1250"/>
          </a:p>
          <a:p>
            <a:pPr marL="342900" indent="-342900">
              <a:lnSpc>
                <a:spcPts val="1600"/>
              </a:lnSpc>
              <a:spcAft>
                <a:spcPts val="600"/>
              </a:spcAft>
              <a:buSzPct val="100000"/>
              <a:buChar char="•"/>
            </a:pPr>
            <a:r>
              <a:rPr lang="en-US" sz="1250">
                <a:solidFill>
                  <a:srgbClr val="12212F"/>
                </a:solidFill>
                <a:latin typeface="Cambria" pitchFamily="34" charset="0"/>
                <a:ea typeface="Cambria" pitchFamily="34" charset="-122"/>
                <a:cs typeface="Cambria" pitchFamily="34" charset="-120"/>
              </a:rPr>
              <a:t>Intereses compensatorios proyectados al vencimiento del plazo</a:t>
            </a:r>
            <a:endParaRPr lang="en-US" sz="1250"/>
          </a:p>
          <a:p>
            <a:pPr marL="342900" indent="-342900">
              <a:lnSpc>
                <a:spcPts val="1600"/>
              </a:lnSpc>
              <a:spcAft>
                <a:spcPts val="600"/>
              </a:spcAft>
              <a:buSzPct val="100000"/>
              <a:buChar char="•"/>
            </a:pPr>
            <a:r>
              <a:rPr lang="en-US" sz="1250">
                <a:solidFill>
                  <a:srgbClr val="12212F"/>
                </a:solidFill>
                <a:latin typeface="Cambria" pitchFamily="34" charset="0"/>
                <a:ea typeface="Cambria" pitchFamily="34" charset="-122"/>
                <a:cs typeface="Cambria" pitchFamily="34" charset="-120"/>
              </a:rPr>
              <a:t>Se constituye mediante Carta Fianza Bancaria a favor de la Aduana</a:t>
            </a:r>
            <a:endParaRPr lang="en-US" sz="1250"/>
          </a:p>
        </p:txBody>
      </p:sp>
      <p:sp>
        <p:nvSpPr>
          <p:cNvPr id="10" name="Shape 8"/>
          <p:cNvSpPr/>
          <p:nvPr/>
        </p:nvSpPr>
        <p:spPr>
          <a:xfrm>
            <a:off x="6858000" y="1536192"/>
            <a:ext cx="4782312" cy="4498848"/>
          </a:xfrm>
          <a:prstGeom prst="roundRect">
            <a:avLst>
              <a:gd name="adj" fmla="val 1220"/>
            </a:avLst>
          </a:prstGeom>
          <a:solidFill>
            <a:srgbClr val="F1F6F9"/>
          </a:solidFill>
          <a:ln w="12700">
            <a:solidFill>
              <a:srgbClr val="C9D8E2"/>
            </a:solidFill>
            <a:prstDash val="solid"/>
          </a:ln>
        </p:spPr>
        <p:txBody>
          <a:bodyPr/>
          <a:lstStyle/>
          <a:p>
            <a:endParaRPr lang="es-PE"/>
          </a:p>
        </p:txBody>
      </p:sp>
      <p:sp>
        <p:nvSpPr>
          <p:cNvPr id="11" name="Text 9"/>
          <p:cNvSpPr/>
          <p:nvPr/>
        </p:nvSpPr>
        <p:spPr>
          <a:xfrm>
            <a:off x="7132320" y="1755648"/>
            <a:ext cx="4206240" cy="256032"/>
          </a:xfrm>
          <a:prstGeom prst="rect">
            <a:avLst/>
          </a:prstGeom>
          <a:noFill/>
          <a:ln/>
        </p:spPr>
        <p:txBody>
          <a:bodyPr wrap="square" lIns="0" tIns="0" rIns="0" bIns="0" rtlCol="0" anchor="ctr"/>
          <a:lstStyle/>
          <a:p>
            <a:pPr marL="0" indent="0">
              <a:buNone/>
            </a:pPr>
            <a:r>
              <a:rPr lang="en-US" sz="950" b="1" kern="0" spc="120">
                <a:solidFill>
                  <a:srgbClr val="44586A"/>
                </a:solidFill>
                <a:latin typeface="Cambria" pitchFamily="34" charset="0"/>
                <a:ea typeface="Cambria" pitchFamily="34" charset="-122"/>
                <a:cs typeface="Cambria" pitchFamily="34" charset="-120"/>
              </a:rPr>
              <a:t>PLAZOS DEL RÉGIMEN</a:t>
            </a:r>
            <a:endParaRPr lang="en-US" sz="950"/>
          </a:p>
        </p:txBody>
      </p:sp>
      <p:sp>
        <p:nvSpPr>
          <p:cNvPr id="12" name="Text 10"/>
          <p:cNvSpPr/>
          <p:nvPr/>
        </p:nvSpPr>
        <p:spPr>
          <a:xfrm>
            <a:off x="7132320" y="2103120"/>
            <a:ext cx="868680" cy="548640"/>
          </a:xfrm>
          <a:prstGeom prst="rect">
            <a:avLst/>
          </a:prstGeom>
          <a:noFill/>
          <a:ln/>
        </p:spPr>
        <p:txBody>
          <a:bodyPr wrap="square" lIns="0" tIns="0" rIns="0" bIns="0" rtlCol="0" anchor="ctr"/>
          <a:lstStyle/>
          <a:p>
            <a:pPr marL="0" indent="0" algn="r">
              <a:buNone/>
            </a:pPr>
            <a:r>
              <a:rPr lang="en-US" sz="3000" b="1">
                <a:solidFill>
                  <a:srgbClr val="1D7874"/>
                </a:solidFill>
                <a:latin typeface="Century Schoolbook" pitchFamily="34" charset="0"/>
                <a:ea typeface="Century Schoolbook" pitchFamily="34" charset="-122"/>
                <a:cs typeface="Century Schoolbook" pitchFamily="34" charset="-120"/>
              </a:rPr>
              <a:t>18</a:t>
            </a:r>
            <a:endParaRPr lang="en-US" sz="3000"/>
          </a:p>
        </p:txBody>
      </p:sp>
      <p:sp>
        <p:nvSpPr>
          <p:cNvPr id="13" name="Text 11"/>
          <p:cNvSpPr/>
          <p:nvPr/>
        </p:nvSpPr>
        <p:spPr>
          <a:xfrm>
            <a:off x="8065008" y="2286000"/>
            <a:ext cx="731520" cy="292608"/>
          </a:xfrm>
          <a:prstGeom prst="rect">
            <a:avLst/>
          </a:prstGeom>
          <a:noFill/>
          <a:ln/>
        </p:spPr>
        <p:txBody>
          <a:bodyPr wrap="square" lIns="0" tIns="0" rIns="0" bIns="0" rtlCol="0" anchor="ctr"/>
          <a:lstStyle/>
          <a:p>
            <a:pPr marL="0" indent="0">
              <a:buNone/>
            </a:pPr>
            <a:r>
              <a:rPr lang="en-US" sz="1200" b="1">
                <a:solidFill>
                  <a:srgbClr val="1D7874"/>
                </a:solidFill>
                <a:latin typeface="Cambria" pitchFamily="34" charset="0"/>
                <a:ea typeface="Cambria" pitchFamily="34" charset="-122"/>
                <a:cs typeface="Cambria" pitchFamily="34" charset="-120"/>
              </a:rPr>
              <a:t>meses</a:t>
            </a:r>
            <a:endParaRPr lang="en-US" sz="1200"/>
          </a:p>
        </p:txBody>
      </p:sp>
      <p:sp>
        <p:nvSpPr>
          <p:cNvPr id="14" name="Text 12"/>
          <p:cNvSpPr/>
          <p:nvPr/>
        </p:nvSpPr>
        <p:spPr>
          <a:xfrm>
            <a:off x="7132320" y="2633472"/>
            <a:ext cx="4206240" cy="384048"/>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Plazo general del régimen, contado desde el levante.</a:t>
            </a:r>
            <a:endParaRPr lang="en-US" sz="1150"/>
          </a:p>
        </p:txBody>
      </p:sp>
      <p:sp>
        <p:nvSpPr>
          <p:cNvPr id="15" name="Text 13"/>
          <p:cNvSpPr/>
          <p:nvPr/>
        </p:nvSpPr>
        <p:spPr>
          <a:xfrm>
            <a:off x="7132320" y="3090672"/>
            <a:ext cx="868680" cy="548640"/>
          </a:xfrm>
          <a:prstGeom prst="rect">
            <a:avLst/>
          </a:prstGeom>
          <a:noFill/>
          <a:ln/>
        </p:spPr>
        <p:txBody>
          <a:bodyPr wrap="square" lIns="0" tIns="0" rIns="0" bIns="0" rtlCol="0" anchor="ctr"/>
          <a:lstStyle/>
          <a:p>
            <a:pPr marL="0" indent="0" algn="r">
              <a:buNone/>
            </a:pPr>
            <a:r>
              <a:rPr lang="en-US" sz="2400" b="1">
                <a:solidFill>
                  <a:srgbClr val="0B3C5D"/>
                </a:solidFill>
                <a:latin typeface="Century Schoolbook" pitchFamily="34" charset="0"/>
                <a:ea typeface="Century Schoolbook" pitchFamily="34" charset="-122"/>
                <a:cs typeface="Century Schoolbook" pitchFamily="34" charset="-120"/>
              </a:rPr>
              <a:t>24</a:t>
            </a:r>
            <a:endParaRPr lang="en-US" sz="2400"/>
          </a:p>
        </p:txBody>
      </p:sp>
      <p:sp>
        <p:nvSpPr>
          <p:cNvPr id="16" name="Text 14"/>
          <p:cNvSpPr/>
          <p:nvPr/>
        </p:nvSpPr>
        <p:spPr>
          <a:xfrm>
            <a:off x="8065008" y="3236976"/>
            <a:ext cx="731520" cy="292608"/>
          </a:xfrm>
          <a:prstGeom prst="rect">
            <a:avLst/>
          </a:prstGeom>
          <a:noFill/>
          <a:ln/>
        </p:spPr>
        <p:txBody>
          <a:bodyPr wrap="square" lIns="0" tIns="0" rIns="0" bIns="0" rtlCol="0" anchor="ctr"/>
          <a:lstStyle/>
          <a:p>
            <a:pPr marL="0" indent="0">
              <a:buNone/>
            </a:pPr>
            <a:r>
              <a:rPr lang="en-US" sz="1200" b="1">
                <a:solidFill>
                  <a:srgbClr val="0B3C5D"/>
                </a:solidFill>
                <a:latin typeface="Cambria" pitchFamily="34" charset="0"/>
                <a:ea typeface="Cambria" pitchFamily="34" charset="-122"/>
                <a:cs typeface="Cambria" pitchFamily="34" charset="-120"/>
              </a:rPr>
              <a:t>meses</a:t>
            </a:r>
            <a:endParaRPr lang="en-US" sz="1200"/>
          </a:p>
        </p:txBody>
      </p:sp>
      <p:sp>
        <p:nvSpPr>
          <p:cNvPr id="17" name="Text 15"/>
          <p:cNvSpPr/>
          <p:nvPr/>
        </p:nvSpPr>
        <p:spPr>
          <a:xfrm>
            <a:off x="7132320" y="3621024"/>
            <a:ext cx="4206240" cy="384048"/>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Envases y embalajes para productos de exportación.</a:t>
            </a:r>
            <a:endParaRPr lang="en-US" sz="1150"/>
          </a:p>
        </p:txBody>
      </p:sp>
      <p:sp>
        <p:nvSpPr>
          <p:cNvPr id="18" name="Text 16"/>
          <p:cNvSpPr/>
          <p:nvPr/>
        </p:nvSpPr>
        <p:spPr>
          <a:xfrm>
            <a:off x="7132320" y="4078224"/>
            <a:ext cx="868680" cy="548640"/>
          </a:xfrm>
          <a:prstGeom prst="rect">
            <a:avLst/>
          </a:prstGeom>
          <a:noFill/>
          <a:ln/>
        </p:spPr>
        <p:txBody>
          <a:bodyPr wrap="square" lIns="0" tIns="0" rIns="0" bIns="0" rtlCol="0" anchor="ctr"/>
          <a:lstStyle/>
          <a:p>
            <a:pPr marL="0" indent="0" algn="r">
              <a:buNone/>
            </a:pPr>
            <a:r>
              <a:rPr lang="en-US" sz="2400" b="1">
                <a:solidFill>
                  <a:srgbClr val="0B3C5D"/>
                </a:solidFill>
                <a:latin typeface="Century Schoolbook" pitchFamily="34" charset="0"/>
                <a:ea typeface="Century Schoolbook" pitchFamily="34" charset="-122"/>
                <a:cs typeface="Century Schoolbook" pitchFamily="34" charset="-120"/>
              </a:rPr>
              <a:t>4</a:t>
            </a:r>
            <a:endParaRPr lang="en-US" sz="2400"/>
          </a:p>
        </p:txBody>
      </p:sp>
      <p:sp>
        <p:nvSpPr>
          <p:cNvPr id="19" name="Text 17"/>
          <p:cNvSpPr/>
          <p:nvPr/>
        </p:nvSpPr>
        <p:spPr>
          <a:xfrm>
            <a:off x="8065008" y="4224528"/>
            <a:ext cx="731520" cy="292608"/>
          </a:xfrm>
          <a:prstGeom prst="rect">
            <a:avLst/>
          </a:prstGeom>
          <a:noFill/>
          <a:ln/>
        </p:spPr>
        <p:txBody>
          <a:bodyPr wrap="square" lIns="0" tIns="0" rIns="0" bIns="0" rtlCol="0" anchor="ctr"/>
          <a:lstStyle/>
          <a:p>
            <a:pPr marL="0" indent="0">
              <a:buNone/>
            </a:pPr>
            <a:r>
              <a:rPr lang="en-US" sz="1200" b="1">
                <a:solidFill>
                  <a:srgbClr val="0B3C5D"/>
                </a:solidFill>
                <a:latin typeface="Cambria" pitchFamily="34" charset="0"/>
                <a:ea typeface="Cambria" pitchFamily="34" charset="-122"/>
                <a:cs typeface="Cambria" pitchFamily="34" charset="-120"/>
              </a:rPr>
              <a:t>años</a:t>
            </a:r>
            <a:endParaRPr lang="en-US" sz="1200"/>
          </a:p>
        </p:txBody>
      </p:sp>
      <p:sp>
        <p:nvSpPr>
          <p:cNvPr id="20" name="Text 18"/>
          <p:cNvSpPr/>
          <p:nvPr/>
        </p:nvSpPr>
        <p:spPr>
          <a:xfrm>
            <a:off x="7132320" y="4608576"/>
            <a:ext cx="4206240" cy="384048"/>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Maquinaria del sector hidrocarburos y contratos con el Estado.</a:t>
            </a:r>
            <a:endParaRPr lang="en-US" sz="1150"/>
          </a:p>
        </p:txBody>
      </p:sp>
      <p:sp>
        <p:nvSpPr>
          <p:cNvPr id="21" name="Text 19"/>
          <p:cNvSpPr/>
          <p:nvPr/>
        </p:nvSpPr>
        <p:spPr>
          <a:xfrm>
            <a:off x="7132320" y="5065776"/>
            <a:ext cx="868680" cy="548640"/>
          </a:xfrm>
          <a:prstGeom prst="rect">
            <a:avLst/>
          </a:prstGeom>
          <a:noFill/>
          <a:ln/>
        </p:spPr>
        <p:txBody>
          <a:bodyPr wrap="square" lIns="0" tIns="0" rIns="0" bIns="0" rtlCol="0" anchor="ctr"/>
          <a:lstStyle/>
          <a:p>
            <a:pPr marL="0" indent="0" algn="r">
              <a:buNone/>
            </a:pPr>
            <a:r>
              <a:rPr lang="en-US" sz="2400" b="1">
                <a:solidFill>
                  <a:srgbClr val="0B3C5D"/>
                </a:solidFill>
                <a:latin typeface="Century Schoolbook" pitchFamily="34" charset="0"/>
                <a:ea typeface="Century Schoolbook" pitchFamily="34" charset="-122"/>
                <a:cs typeface="Century Schoolbook" pitchFamily="34" charset="-120"/>
              </a:rPr>
              <a:t>5</a:t>
            </a:r>
            <a:endParaRPr lang="en-US" sz="2400"/>
          </a:p>
        </p:txBody>
      </p:sp>
      <p:sp>
        <p:nvSpPr>
          <p:cNvPr id="22" name="Text 20"/>
          <p:cNvSpPr/>
          <p:nvPr/>
        </p:nvSpPr>
        <p:spPr>
          <a:xfrm>
            <a:off x="8065008" y="5212080"/>
            <a:ext cx="731520" cy="292608"/>
          </a:xfrm>
          <a:prstGeom prst="rect">
            <a:avLst/>
          </a:prstGeom>
          <a:noFill/>
          <a:ln/>
        </p:spPr>
        <p:txBody>
          <a:bodyPr wrap="square" lIns="0" tIns="0" rIns="0" bIns="0" rtlCol="0" anchor="ctr"/>
          <a:lstStyle/>
          <a:p>
            <a:pPr marL="0" indent="0">
              <a:buNone/>
            </a:pPr>
            <a:r>
              <a:rPr lang="en-US" sz="1200" b="1">
                <a:solidFill>
                  <a:srgbClr val="0B3C5D"/>
                </a:solidFill>
                <a:latin typeface="Cambria" pitchFamily="34" charset="0"/>
                <a:ea typeface="Cambria" pitchFamily="34" charset="-122"/>
                <a:cs typeface="Cambria" pitchFamily="34" charset="-120"/>
              </a:rPr>
              <a:t>años</a:t>
            </a:r>
            <a:endParaRPr lang="en-US" sz="1200"/>
          </a:p>
        </p:txBody>
      </p:sp>
      <p:sp>
        <p:nvSpPr>
          <p:cNvPr id="23" name="Text 21"/>
          <p:cNvSpPr/>
          <p:nvPr/>
        </p:nvSpPr>
        <p:spPr>
          <a:xfrm>
            <a:off x="7132320" y="5596128"/>
            <a:ext cx="4206240" cy="384048"/>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Barcos y aeronaves.</a:t>
            </a:r>
            <a:endParaRPr lang="en-US" sz="1150"/>
          </a:p>
        </p:txBody>
      </p:sp>
      <p:sp>
        <p:nvSpPr>
          <p:cNvPr id="24" name="Text 22"/>
          <p:cNvSpPr/>
          <p:nvPr/>
        </p:nvSpPr>
        <p:spPr>
          <a:xfrm>
            <a:off x="548640" y="6037521"/>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En este caso aplica el plazo general de 18 meses: la maquinaria se usa en un proyecto vial con el Estado, pero se acoge al régimen general.</a:t>
            </a:r>
            <a:endParaRPr lang="en-US" sz="950"/>
          </a:p>
        </p:txBody>
      </p:sp>
      <p:sp>
        <p:nvSpPr>
          <p:cNvPr id="25" name="Text 23"/>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MARILIN MEDINA</a:t>
            </a:r>
            <a:endParaRPr lang="en-US" sz="850"/>
          </a:p>
        </p:txBody>
      </p:sp>
      <p:sp>
        <p:nvSpPr>
          <p:cNvPr id="26" name="Text 24"/>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6</a:t>
            </a:r>
            <a:endParaRPr lang="en-US" sz="9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1D7874"/>
                </a:solidFill>
                <a:latin typeface="Cambria" pitchFamily="34" charset="0"/>
                <a:ea typeface="Cambria" pitchFamily="34" charset="-122"/>
                <a:cs typeface="Cambria" pitchFamily="34" charset="-120"/>
              </a:rPr>
              <a:t>CASO 1</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Planteamiento del caso</a:t>
            </a:r>
            <a:endParaRPr lang="en-US" sz="300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4023360"/>
        </p:xfrm>
        <a:graphic>
          <a:graphicData uri="http://schemas.openxmlformats.org/drawingml/2006/table">
            <a:tbl>
              <a:tblPr/>
              <a:tblGrid>
                <a:gridCol w="3200400">
                  <a:extLst>
                    <a:ext uri="{9D8B030D-6E8A-4147-A177-3AD203B41FA5}">
                      <a16:colId xmlns:a16="http://schemas.microsoft.com/office/drawing/2014/main" val="20000"/>
                    </a:ext>
                  </a:extLst>
                </a:gridCol>
                <a:gridCol w="7894015">
                  <a:extLst>
                    <a:ext uri="{9D8B030D-6E8A-4147-A177-3AD203B41FA5}">
                      <a16:colId xmlns:a16="http://schemas.microsoft.com/office/drawing/2014/main" val="20001"/>
                    </a:ext>
                  </a:extLst>
                </a:gridCol>
              </a:tblGrid>
              <a:tr h="402336">
                <a:tc>
                  <a:txBody>
                    <a:bodyPr/>
                    <a:lstStyle/>
                    <a:p>
                      <a:pPr marL="0" indent="0" algn="l">
                        <a:buNone/>
                      </a:pPr>
                      <a:r>
                        <a:rPr lang="en-US" sz="1200" b="1">
                          <a:solidFill>
                            <a:srgbClr val="FFFFFF"/>
                          </a:solidFill>
                          <a:latin typeface="Century Schoolbook" pitchFamily="34" charset="0"/>
                          <a:ea typeface="Century Schoolbook" pitchFamily="34" charset="-122"/>
                          <a:cs typeface="Century Schoolbook" pitchFamily="34" charset="-120"/>
                        </a:rPr>
                        <a:t>Concepto</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tc>
                  <a:txBody>
                    <a:bodyPr/>
                    <a:lstStyle/>
                    <a:p>
                      <a:pPr marL="0" indent="0" algn="l">
                        <a:buNone/>
                      </a:pPr>
                      <a:r>
                        <a:rPr lang="en-US" sz="1200" b="1">
                          <a:solidFill>
                            <a:srgbClr val="FFFFFF"/>
                          </a:solidFill>
                          <a:latin typeface="Century Schoolbook" pitchFamily="34" charset="0"/>
                          <a:ea typeface="Century Schoolbook" pitchFamily="34" charset="-122"/>
                          <a:cs typeface="Century Schoolbook" pitchFamily="34" charset="-120"/>
                        </a:rPr>
                        <a:t>Detalle</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Empresa beneficiaria</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b="1">
                          <a:solidFill>
                            <a:srgbClr val="12212F"/>
                          </a:solidFill>
                          <a:latin typeface="Cambria" pitchFamily="34" charset="0"/>
                          <a:ea typeface="Cambria" pitchFamily="34" charset="-122"/>
                          <a:cs typeface="Cambria" pitchFamily="34" charset="-120"/>
                        </a:rPr>
                        <a:t>Andina Ingeniería y Construcción S.A.C.  ·  RUC 20609934187</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Mercancía</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18 excavadoras hidráulicas sobre orugas, marca Komatsu, modelo PC210</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extLst>
                  <a:ext uri="{0D108BD9-81ED-4DB2-BD59-A6C34878D82A}">
                    <a16:rowId xmlns:a16="http://schemas.microsoft.com/office/drawing/2014/main" val="10002"/>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Origen</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Corea del Sur  ·  Ingreso por la Aduana Marítima del Callao</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Fin determinado y lugar específico</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Uso exclusivo en el proyecto vial Tramo 4, Región Puno, mientras dure el contrato con el Estado</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extLst>
                  <a:ext uri="{0D108BD9-81ED-4DB2-BD59-A6C34878D82A}">
                    <a16:rowId xmlns:a16="http://schemas.microsoft.com/office/drawing/2014/main" val="10004"/>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Subpartida nacional</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8429.52.00.00</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Valor CIF unitario / total</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l">
                        <a:buNone/>
                      </a:pPr>
                      <a:r>
                        <a:rPr lang="en-US" sz="1250" b="1">
                          <a:solidFill>
                            <a:srgbClr val="12212F"/>
                          </a:solidFill>
                          <a:latin typeface="Cambria" pitchFamily="34" charset="0"/>
                          <a:ea typeface="Cambria" pitchFamily="34" charset="-122"/>
                          <a:cs typeface="Cambria" pitchFamily="34" charset="-120"/>
                        </a:rPr>
                        <a:t>US$ 62,000.00  ·  US$ 1,116,000.00 (18 unidades)</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extLst>
                  <a:ext uri="{0D108BD9-81ED-4DB2-BD59-A6C34878D82A}">
                    <a16:rowId xmlns:a16="http://schemas.microsoft.com/office/drawing/2014/main" val="10006"/>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Tasas aplicables</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Ad Valorem 6%  ·  IGV 15.5%  ·  IPM 2.5%</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Numeración de la declaración</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05 de agosto de 2026</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extLst>
                  <a:ext uri="{0D108BD9-81ED-4DB2-BD59-A6C34878D82A}">
                    <a16:rowId xmlns:a16="http://schemas.microsoft.com/office/drawing/2014/main" val="10008"/>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Vencimiento del plazo</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b="1">
                          <a:solidFill>
                            <a:srgbClr val="A63A50"/>
                          </a:solidFill>
                          <a:latin typeface="Cambria" pitchFamily="34" charset="0"/>
                          <a:ea typeface="Cambria" pitchFamily="34" charset="-122"/>
                          <a:cs typeface="Cambria" pitchFamily="34" charset="-120"/>
                        </a:rPr>
                        <a:t>05 de febrero de 2028  (18 meses)</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5" name="Text 2"/>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Cada excavadora se identifica por su número de serie de chasis y motor.</a:t>
            </a:r>
            <a:endParaRPr lang="en-US" sz="950"/>
          </a:p>
        </p:txBody>
      </p:sp>
      <p:sp>
        <p:nvSpPr>
          <p:cNvPr id="6" name="Text 3"/>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MARILIN MEDINA</a:t>
            </a:r>
            <a:endParaRPr lang="en-US" sz="850"/>
          </a:p>
        </p:txBody>
      </p:sp>
      <p:sp>
        <p:nvSpPr>
          <p:cNvPr id="7" name="Text 4"/>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7</a:t>
            </a:r>
            <a:endParaRPr lang="en-US" sz="9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1D7874"/>
                </a:solidFill>
                <a:latin typeface="Cambria" pitchFamily="34" charset="0"/>
                <a:ea typeface="Cambria" pitchFamily="34" charset="-122"/>
                <a:cs typeface="Cambria" pitchFamily="34" charset="-120"/>
              </a:rPr>
              <a:t>CASO 1</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De los tributos suspendidos al monto de la garantía</a:t>
            </a:r>
            <a:endParaRPr lang="en-US" sz="3000"/>
          </a:p>
        </p:txBody>
      </p:sp>
      <p:sp>
        <p:nvSpPr>
          <p:cNvPr id="4" name="Shape 2"/>
          <p:cNvSpPr/>
          <p:nvPr/>
        </p:nvSpPr>
        <p:spPr>
          <a:xfrm>
            <a:off x="548640" y="1508760"/>
            <a:ext cx="5852160" cy="3246120"/>
          </a:xfrm>
          <a:prstGeom prst="roundRect">
            <a:avLst>
              <a:gd name="adj" fmla="val 1690"/>
            </a:avLst>
          </a:prstGeom>
          <a:solidFill>
            <a:srgbClr val="F1F6F9"/>
          </a:solidFill>
          <a:ln w="12700">
            <a:solidFill>
              <a:srgbClr val="C9D8E2"/>
            </a:solidFill>
            <a:prstDash val="solid"/>
          </a:ln>
        </p:spPr>
        <p:txBody>
          <a:bodyPr/>
          <a:lstStyle/>
          <a:p>
            <a:endParaRPr lang="es-PE"/>
          </a:p>
        </p:txBody>
      </p:sp>
      <p:sp>
        <p:nvSpPr>
          <p:cNvPr id="5" name="Text 3"/>
          <p:cNvSpPr/>
          <p:nvPr/>
        </p:nvSpPr>
        <p:spPr>
          <a:xfrm>
            <a:off x="822960" y="1691640"/>
            <a:ext cx="5349240" cy="256032"/>
          </a:xfrm>
          <a:prstGeom prst="rect">
            <a:avLst/>
          </a:prstGeom>
          <a:noFill/>
          <a:ln/>
        </p:spPr>
        <p:txBody>
          <a:bodyPr wrap="square" lIns="0" tIns="0" rIns="0" bIns="0" rtlCol="0" anchor="ctr"/>
          <a:lstStyle/>
          <a:p>
            <a:pPr marL="0" indent="0">
              <a:buNone/>
            </a:pPr>
            <a:r>
              <a:rPr lang="en-US" sz="950" b="1" kern="0" spc="110">
                <a:solidFill>
                  <a:srgbClr val="44586A"/>
                </a:solidFill>
                <a:latin typeface="Cambria" pitchFamily="34" charset="0"/>
                <a:ea typeface="Cambria" pitchFamily="34" charset="-122"/>
                <a:cs typeface="Cambria" pitchFamily="34" charset="-120"/>
              </a:rPr>
              <a:t>CÁLCULO POR UNIDAD  (Valor CIF US$ 62,000.00)</a:t>
            </a:r>
            <a:endParaRPr lang="en-US" sz="950"/>
          </a:p>
        </p:txBody>
      </p:sp>
      <p:sp>
        <p:nvSpPr>
          <p:cNvPr id="6" name="Text 4"/>
          <p:cNvSpPr/>
          <p:nvPr/>
        </p:nvSpPr>
        <p:spPr>
          <a:xfrm>
            <a:off x="822960" y="2011680"/>
            <a:ext cx="1920240" cy="310896"/>
          </a:xfrm>
          <a:prstGeom prst="rect">
            <a:avLst/>
          </a:prstGeom>
          <a:noFill/>
          <a:ln/>
        </p:spPr>
        <p:txBody>
          <a:bodyPr wrap="square" lIns="0" tIns="0" rIns="0" bIns="0" rtlCol="0" anchor="ctr"/>
          <a:lstStyle/>
          <a:p>
            <a:pPr marL="0" indent="0">
              <a:buNone/>
            </a:pPr>
            <a:r>
              <a:rPr lang="en-US" sz="1200">
                <a:solidFill>
                  <a:srgbClr val="12212F"/>
                </a:solidFill>
                <a:latin typeface="Cambria" pitchFamily="34" charset="0"/>
                <a:ea typeface="Cambria" pitchFamily="34" charset="-122"/>
                <a:cs typeface="Cambria" pitchFamily="34" charset="-120"/>
              </a:rPr>
              <a:t>Ad Valorem  6%</a:t>
            </a:r>
            <a:endParaRPr lang="en-US" sz="1200"/>
          </a:p>
        </p:txBody>
      </p:sp>
      <p:sp>
        <p:nvSpPr>
          <p:cNvPr id="7" name="Text 5"/>
          <p:cNvSpPr/>
          <p:nvPr/>
        </p:nvSpPr>
        <p:spPr>
          <a:xfrm>
            <a:off x="2761488" y="2011680"/>
            <a:ext cx="2103120" cy="310896"/>
          </a:xfrm>
          <a:prstGeom prst="rect">
            <a:avLst/>
          </a:prstGeom>
          <a:noFill/>
          <a:ln/>
        </p:spPr>
        <p:txBody>
          <a:bodyPr wrap="square" lIns="0" tIns="0" rIns="0" bIns="0" rtlCol="0" anchor="ctr"/>
          <a:lstStyle/>
          <a:p>
            <a:pPr marL="0" indent="0">
              <a:buNone/>
            </a:pPr>
            <a:r>
              <a:rPr lang="en-US" sz="1100">
                <a:solidFill>
                  <a:srgbClr val="44586A"/>
                </a:solidFill>
                <a:latin typeface="Cambria" pitchFamily="34" charset="0"/>
                <a:ea typeface="Cambria" pitchFamily="34" charset="-122"/>
                <a:cs typeface="Cambria" pitchFamily="34" charset="-120"/>
              </a:rPr>
              <a:t>62,000.00 × 6%</a:t>
            </a:r>
            <a:endParaRPr lang="en-US" sz="1100"/>
          </a:p>
        </p:txBody>
      </p:sp>
      <p:sp>
        <p:nvSpPr>
          <p:cNvPr id="8" name="Text 6"/>
          <p:cNvSpPr/>
          <p:nvPr/>
        </p:nvSpPr>
        <p:spPr>
          <a:xfrm>
            <a:off x="4864608" y="2011680"/>
            <a:ext cx="1280160" cy="310896"/>
          </a:xfrm>
          <a:prstGeom prst="rect">
            <a:avLst/>
          </a:prstGeom>
          <a:noFill/>
          <a:ln/>
        </p:spPr>
        <p:txBody>
          <a:bodyPr wrap="square" lIns="0" tIns="0" rIns="0" bIns="0" rtlCol="0" anchor="ctr"/>
          <a:lstStyle/>
          <a:p>
            <a:pPr marL="0" indent="0" algn="r">
              <a:buNone/>
            </a:pPr>
            <a:r>
              <a:rPr lang="en-US" sz="1200" b="1">
                <a:solidFill>
                  <a:srgbClr val="12212F"/>
                </a:solidFill>
                <a:latin typeface="Cambria" pitchFamily="34" charset="0"/>
                <a:ea typeface="Cambria" pitchFamily="34" charset="-122"/>
                <a:cs typeface="Cambria" pitchFamily="34" charset="-120"/>
              </a:rPr>
              <a:t>3,720.00</a:t>
            </a:r>
            <a:endParaRPr lang="en-US" sz="1200"/>
          </a:p>
        </p:txBody>
      </p:sp>
      <p:sp>
        <p:nvSpPr>
          <p:cNvPr id="9" name="Text 7"/>
          <p:cNvSpPr/>
          <p:nvPr/>
        </p:nvSpPr>
        <p:spPr>
          <a:xfrm>
            <a:off x="822960" y="2395728"/>
            <a:ext cx="1920240" cy="310896"/>
          </a:xfrm>
          <a:prstGeom prst="rect">
            <a:avLst/>
          </a:prstGeom>
          <a:noFill/>
          <a:ln/>
        </p:spPr>
        <p:txBody>
          <a:bodyPr wrap="square" lIns="0" tIns="0" rIns="0" bIns="0" rtlCol="0" anchor="ctr"/>
          <a:lstStyle/>
          <a:p>
            <a:pPr marL="0" indent="0">
              <a:buNone/>
            </a:pPr>
            <a:r>
              <a:rPr lang="en-US" sz="1200" b="1">
                <a:solidFill>
                  <a:srgbClr val="12212F"/>
                </a:solidFill>
                <a:latin typeface="Cambria" pitchFamily="34" charset="0"/>
                <a:ea typeface="Cambria" pitchFamily="34" charset="-122"/>
                <a:cs typeface="Cambria" pitchFamily="34" charset="-120"/>
              </a:rPr>
              <a:t>Base IGV + IPM</a:t>
            </a:r>
            <a:endParaRPr lang="en-US" sz="1200"/>
          </a:p>
        </p:txBody>
      </p:sp>
      <p:sp>
        <p:nvSpPr>
          <p:cNvPr id="10" name="Text 8"/>
          <p:cNvSpPr/>
          <p:nvPr/>
        </p:nvSpPr>
        <p:spPr>
          <a:xfrm>
            <a:off x="2761488" y="2395728"/>
            <a:ext cx="2103120" cy="310896"/>
          </a:xfrm>
          <a:prstGeom prst="rect">
            <a:avLst/>
          </a:prstGeom>
          <a:noFill/>
          <a:ln/>
        </p:spPr>
        <p:txBody>
          <a:bodyPr wrap="square" lIns="0" tIns="0" rIns="0" bIns="0" rtlCol="0" anchor="ctr"/>
          <a:lstStyle/>
          <a:p>
            <a:pPr marL="0" indent="0">
              <a:buNone/>
            </a:pPr>
            <a:r>
              <a:rPr lang="en-US" sz="1100">
                <a:solidFill>
                  <a:srgbClr val="44586A"/>
                </a:solidFill>
                <a:latin typeface="Cambria" pitchFamily="34" charset="0"/>
                <a:ea typeface="Cambria" pitchFamily="34" charset="-122"/>
                <a:cs typeface="Cambria" pitchFamily="34" charset="-120"/>
              </a:rPr>
              <a:t>62,000.00 + 3,720.00</a:t>
            </a:r>
            <a:endParaRPr lang="en-US" sz="1100"/>
          </a:p>
        </p:txBody>
      </p:sp>
      <p:sp>
        <p:nvSpPr>
          <p:cNvPr id="11" name="Text 9"/>
          <p:cNvSpPr/>
          <p:nvPr/>
        </p:nvSpPr>
        <p:spPr>
          <a:xfrm>
            <a:off x="4864608" y="2395728"/>
            <a:ext cx="1280160" cy="310896"/>
          </a:xfrm>
          <a:prstGeom prst="rect">
            <a:avLst/>
          </a:prstGeom>
          <a:noFill/>
          <a:ln/>
        </p:spPr>
        <p:txBody>
          <a:bodyPr wrap="square" lIns="0" tIns="0" rIns="0" bIns="0" rtlCol="0" anchor="ctr"/>
          <a:lstStyle/>
          <a:p>
            <a:pPr marL="0" indent="0" algn="r">
              <a:buNone/>
            </a:pPr>
            <a:r>
              <a:rPr lang="en-US" sz="1200" b="1">
                <a:solidFill>
                  <a:srgbClr val="12212F"/>
                </a:solidFill>
                <a:latin typeface="Cambria" pitchFamily="34" charset="0"/>
                <a:ea typeface="Cambria" pitchFamily="34" charset="-122"/>
                <a:cs typeface="Cambria" pitchFamily="34" charset="-120"/>
              </a:rPr>
              <a:t>65,720.00</a:t>
            </a:r>
            <a:endParaRPr lang="en-US" sz="1200"/>
          </a:p>
        </p:txBody>
      </p:sp>
      <p:sp>
        <p:nvSpPr>
          <p:cNvPr id="12" name="Text 10"/>
          <p:cNvSpPr/>
          <p:nvPr/>
        </p:nvSpPr>
        <p:spPr>
          <a:xfrm>
            <a:off x="822960" y="2779776"/>
            <a:ext cx="1920240" cy="310896"/>
          </a:xfrm>
          <a:prstGeom prst="rect">
            <a:avLst/>
          </a:prstGeom>
          <a:noFill/>
          <a:ln/>
        </p:spPr>
        <p:txBody>
          <a:bodyPr wrap="square" lIns="0" tIns="0" rIns="0" bIns="0" rtlCol="0" anchor="ctr"/>
          <a:lstStyle/>
          <a:p>
            <a:pPr marL="0" indent="0">
              <a:buNone/>
            </a:pPr>
            <a:r>
              <a:rPr lang="en-US" sz="1200">
                <a:solidFill>
                  <a:srgbClr val="12212F"/>
                </a:solidFill>
                <a:latin typeface="Cambria" pitchFamily="34" charset="0"/>
                <a:ea typeface="Cambria" pitchFamily="34" charset="-122"/>
                <a:cs typeface="Cambria" pitchFamily="34" charset="-120"/>
              </a:rPr>
              <a:t>IGV  15.5%</a:t>
            </a:r>
            <a:endParaRPr lang="en-US" sz="1200"/>
          </a:p>
        </p:txBody>
      </p:sp>
      <p:sp>
        <p:nvSpPr>
          <p:cNvPr id="13" name="Text 11"/>
          <p:cNvSpPr/>
          <p:nvPr/>
        </p:nvSpPr>
        <p:spPr>
          <a:xfrm>
            <a:off x="2761488" y="2779776"/>
            <a:ext cx="2103120" cy="310896"/>
          </a:xfrm>
          <a:prstGeom prst="rect">
            <a:avLst/>
          </a:prstGeom>
          <a:noFill/>
          <a:ln/>
        </p:spPr>
        <p:txBody>
          <a:bodyPr wrap="square" lIns="0" tIns="0" rIns="0" bIns="0" rtlCol="0" anchor="ctr"/>
          <a:lstStyle/>
          <a:p>
            <a:pPr marL="0" indent="0">
              <a:buNone/>
            </a:pPr>
            <a:r>
              <a:rPr lang="en-US" sz="1100">
                <a:solidFill>
                  <a:srgbClr val="44586A"/>
                </a:solidFill>
                <a:latin typeface="Cambria" pitchFamily="34" charset="0"/>
                <a:ea typeface="Cambria" pitchFamily="34" charset="-122"/>
                <a:cs typeface="Cambria" pitchFamily="34" charset="-120"/>
              </a:rPr>
              <a:t>65,720.00 × 15.5%</a:t>
            </a:r>
            <a:endParaRPr lang="en-US" sz="1100"/>
          </a:p>
        </p:txBody>
      </p:sp>
      <p:sp>
        <p:nvSpPr>
          <p:cNvPr id="14" name="Text 12"/>
          <p:cNvSpPr/>
          <p:nvPr/>
        </p:nvSpPr>
        <p:spPr>
          <a:xfrm>
            <a:off x="4864608" y="2779776"/>
            <a:ext cx="1280160" cy="310896"/>
          </a:xfrm>
          <a:prstGeom prst="rect">
            <a:avLst/>
          </a:prstGeom>
          <a:noFill/>
          <a:ln/>
        </p:spPr>
        <p:txBody>
          <a:bodyPr wrap="square" lIns="0" tIns="0" rIns="0" bIns="0" rtlCol="0" anchor="ctr"/>
          <a:lstStyle/>
          <a:p>
            <a:pPr marL="0" indent="0" algn="r">
              <a:buNone/>
            </a:pPr>
            <a:r>
              <a:rPr lang="en-US" sz="1200" b="1">
                <a:solidFill>
                  <a:srgbClr val="12212F"/>
                </a:solidFill>
                <a:latin typeface="Cambria" pitchFamily="34" charset="0"/>
                <a:ea typeface="Cambria" pitchFamily="34" charset="-122"/>
                <a:cs typeface="Cambria" pitchFamily="34" charset="-120"/>
              </a:rPr>
              <a:t>10,186.60</a:t>
            </a:r>
            <a:endParaRPr lang="en-US" sz="1200"/>
          </a:p>
        </p:txBody>
      </p:sp>
      <p:sp>
        <p:nvSpPr>
          <p:cNvPr id="15" name="Text 13"/>
          <p:cNvSpPr/>
          <p:nvPr/>
        </p:nvSpPr>
        <p:spPr>
          <a:xfrm>
            <a:off x="822960" y="3163824"/>
            <a:ext cx="1920240" cy="310896"/>
          </a:xfrm>
          <a:prstGeom prst="rect">
            <a:avLst/>
          </a:prstGeom>
          <a:noFill/>
          <a:ln/>
        </p:spPr>
        <p:txBody>
          <a:bodyPr wrap="square" lIns="0" tIns="0" rIns="0" bIns="0" rtlCol="0" anchor="ctr"/>
          <a:lstStyle/>
          <a:p>
            <a:pPr marL="0" indent="0">
              <a:buNone/>
            </a:pPr>
            <a:r>
              <a:rPr lang="en-US" sz="1200">
                <a:solidFill>
                  <a:srgbClr val="12212F"/>
                </a:solidFill>
                <a:latin typeface="Cambria" pitchFamily="34" charset="0"/>
                <a:ea typeface="Cambria" pitchFamily="34" charset="-122"/>
                <a:cs typeface="Cambria" pitchFamily="34" charset="-120"/>
              </a:rPr>
              <a:t>IPM  2.5%</a:t>
            </a:r>
            <a:endParaRPr lang="en-US" sz="1200"/>
          </a:p>
        </p:txBody>
      </p:sp>
      <p:sp>
        <p:nvSpPr>
          <p:cNvPr id="16" name="Text 14"/>
          <p:cNvSpPr/>
          <p:nvPr/>
        </p:nvSpPr>
        <p:spPr>
          <a:xfrm>
            <a:off x="2761488" y="3163824"/>
            <a:ext cx="2103120" cy="310896"/>
          </a:xfrm>
          <a:prstGeom prst="rect">
            <a:avLst/>
          </a:prstGeom>
          <a:noFill/>
          <a:ln/>
        </p:spPr>
        <p:txBody>
          <a:bodyPr wrap="square" lIns="0" tIns="0" rIns="0" bIns="0" rtlCol="0" anchor="ctr"/>
          <a:lstStyle/>
          <a:p>
            <a:pPr marL="0" indent="0">
              <a:buNone/>
            </a:pPr>
            <a:r>
              <a:rPr lang="en-US" sz="1100">
                <a:solidFill>
                  <a:srgbClr val="44586A"/>
                </a:solidFill>
                <a:latin typeface="Cambria" pitchFamily="34" charset="0"/>
                <a:ea typeface="Cambria" pitchFamily="34" charset="-122"/>
                <a:cs typeface="Cambria" pitchFamily="34" charset="-120"/>
              </a:rPr>
              <a:t>65,720.00 × 2.5%</a:t>
            </a:r>
            <a:endParaRPr lang="en-US" sz="1100"/>
          </a:p>
        </p:txBody>
      </p:sp>
      <p:sp>
        <p:nvSpPr>
          <p:cNvPr id="17" name="Text 15"/>
          <p:cNvSpPr/>
          <p:nvPr/>
        </p:nvSpPr>
        <p:spPr>
          <a:xfrm>
            <a:off x="4864608" y="3163824"/>
            <a:ext cx="1280160" cy="310896"/>
          </a:xfrm>
          <a:prstGeom prst="rect">
            <a:avLst/>
          </a:prstGeom>
          <a:noFill/>
          <a:ln/>
        </p:spPr>
        <p:txBody>
          <a:bodyPr wrap="square" lIns="0" tIns="0" rIns="0" bIns="0" rtlCol="0" anchor="ctr"/>
          <a:lstStyle/>
          <a:p>
            <a:pPr marL="0" indent="0" algn="r">
              <a:buNone/>
            </a:pPr>
            <a:r>
              <a:rPr lang="en-US" sz="1200" b="1">
                <a:solidFill>
                  <a:srgbClr val="12212F"/>
                </a:solidFill>
                <a:latin typeface="Cambria" pitchFamily="34" charset="0"/>
                <a:ea typeface="Cambria" pitchFamily="34" charset="-122"/>
                <a:cs typeface="Cambria" pitchFamily="34" charset="-120"/>
              </a:rPr>
              <a:t>1,643.00</a:t>
            </a:r>
            <a:endParaRPr lang="en-US" sz="1200"/>
          </a:p>
        </p:txBody>
      </p:sp>
      <p:sp>
        <p:nvSpPr>
          <p:cNvPr id="18" name="Shape 16"/>
          <p:cNvSpPr/>
          <p:nvPr/>
        </p:nvSpPr>
        <p:spPr>
          <a:xfrm>
            <a:off x="822960" y="3675888"/>
            <a:ext cx="5321808" cy="18288"/>
          </a:xfrm>
          <a:prstGeom prst="rect">
            <a:avLst/>
          </a:prstGeom>
          <a:solidFill>
            <a:srgbClr val="C9D8E2"/>
          </a:solidFill>
          <a:ln w="12700">
            <a:solidFill>
              <a:srgbClr val="C9D8E2"/>
            </a:solidFill>
            <a:prstDash val="solid"/>
          </a:ln>
        </p:spPr>
        <p:txBody>
          <a:bodyPr/>
          <a:lstStyle/>
          <a:p>
            <a:endParaRPr lang="es-PE"/>
          </a:p>
        </p:txBody>
      </p:sp>
      <p:sp>
        <p:nvSpPr>
          <p:cNvPr id="19" name="Text 17"/>
          <p:cNvSpPr/>
          <p:nvPr/>
        </p:nvSpPr>
        <p:spPr>
          <a:xfrm>
            <a:off x="822960" y="3767328"/>
            <a:ext cx="3840480" cy="384048"/>
          </a:xfrm>
          <a:prstGeom prst="rect">
            <a:avLst/>
          </a:prstGeom>
          <a:noFill/>
          <a:ln/>
        </p:spPr>
        <p:txBody>
          <a:bodyPr wrap="square" lIns="0" tIns="0" rIns="0" bIns="0" rtlCol="0" anchor="ctr"/>
          <a:lstStyle/>
          <a:p>
            <a:pPr marL="0" indent="0">
              <a:buNone/>
            </a:pPr>
            <a:r>
              <a:rPr lang="en-US" sz="1300" b="1">
                <a:solidFill>
                  <a:srgbClr val="12212F"/>
                </a:solidFill>
                <a:latin typeface="Century Schoolbook" pitchFamily="34" charset="0"/>
                <a:ea typeface="Century Schoolbook" pitchFamily="34" charset="-122"/>
                <a:cs typeface="Century Schoolbook" pitchFamily="34" charset="-120"/>
              </a:rPr>
              <a:t>Tributos suspendidos por unidad</a:t>
            </a:r>
            <a:endParaRPr lang="en-US" sz="1300"/>
          </a:p>
        </p:txBody>
      </p:sp>
      <p:sp>
        <p:nvSpPr>
          <p:cNvPr id="20" name="Text 18"/>
          <p:cNvSpPr/>
          <p:nvPr/>
        </p:nvSpPr>
        <p:spPr>
          <a:xfrm>
            <a:off x="4663440" y="3767328"/>
            <a:ext cx="1481328" cy="384048"/>
          </a:xfrm>
          <a:prstGeom prst="rect">
            <a:avLst/>
          </a:prstGeom>
          <a:noFill/>
          <a:ln/>
        </p:spPr>
        <p:txBody>
          <a:bodyPr wrap="square" lIns="0" tIns="0" rIns="0" bIns="0" rtlCol="0" anchor="ctr"/>
          <a:lstStyle/>
          <a:p>
            <a:pPr marL="0" indent="0" algn="r">
              <a:buNone/>
            </a:pPr>
            <a:r>
              <a:rPr lang="en-US" sz="1600" b="1">
                <a:solidFill>
                  <a:srgbClr val="1D7874"/>
                </a:solidFill>
                <a:latin typeface="Century Schoolbook" pitchFamily="34" charset="0"/>
                <a:ea typeface="Century Schoolbook" pitchFamily="34" charset="-122"/>
                <a:cs typeface="Century Schoolbook" pitchFamily="34" charset="-120"/>
              </a:rPr>
              <a:t>15,549.60</a:t>
            </a:r>
            <a:endParaRPr lang="en-US" sz="1600"/>
          </a:p>
        </p:txBody>
      </p:sp>
      <p:sp>
        <p:nvSpPr>
          <p:cNvPr id="21" name="Text 19"/>
          <p:cNvSpPr/>
          <p:nvPr/>
        </p:nvSpPr>
        <p:spPr>
          <a:xfrm>
            <a:off x="822960" y="4224528"/>
            <a:ext cx="5321808" cy="329184"/>
          </a:xfrm>
          <a:prstGeom prst="rect">
            <a:avLst/>
          </a:prstGeom>
          <a:noFill/>
          <a:ln/>
        </p:spPr>
        <p:txBody>
          <a:bodyPr wrap="square" lIns="0" tIns="0" rIns="0" bIns="0" rtlCol="0" anchor="ctr"/>
          <a:lstStyle/>
          <a:p>
            <a:pPr marL="0" indent="0" algn="r">
              <a:buNone/>
            </a:pPr>
            <a:r>
              <a:rPr lang="en-US" sz="1200">
                <a:solidFill>
                  <a:srgbClr val="44586A"/>
                </a:solidFill>
                <a:latin typeface="Cambria" pitchFamily="34" charset="0"/>
                <a:ea typeface="Cambria" pitchFamily="34" charset="-122"/>
                <a:cs typeface="Cambria" pitchFamily="34" charset="-120"/>
              </a:rPr>
              <a:t>× 18 unidades admitidas</a:t>
            </a:r>
            <a:endParaRPr lang="en-US" sz="1200"/>
          </a:p>
        </p:txBody>
      </p:sp>
      <p:sp>
        <p:nvSpPr>
          <p:cNvPr id="22" name="Shape 20"/>
          <p:cNvSpPr/>
          <p:nvPr/>
        </p:nvSpPr>
        <p:spPr>
          <a:xfrm>
            <a:off x="6812280" y="1508760"/>
            <a:ext cx="4828032" cy="3246120"/>
          </a:xfrm>
          <a:prstGeom prst="roundRect">
            <a:avLst>
              <a:gd name="adj" fmla="val 1690"/>
            </a:avLst>
          </a:prstGeom>
          <a:solidFill>
            <a:srgbClr val="FFFFFF"/>
          </a:solidFill>
          <a:ln w="12700">
            <a:solidFill>
              <a:srgbClr val="1D7874"/>
            </a:solidFill>
            <a:prstDash val="solid"/>
          </a:ln>
        </p:spPr>
        <p:txBody>
          <a:bodyPr/>
          <a:lstStyle/>
          <a:p>
            <a:endParaRPr lang="es-PE"/>
          </a:p>
        </p:txBody>
      </p:sp>
      <p:sp>
        <p:nvSpPr>
          <p:cNvPr id="23" name="Text 21"/>
          <p:cNvSpPr/>
          <p:nvPr/>
        </p:nvSpPr>
        <p:spPr>
          <a:xfrm>
            <a:off x="7086600" y="1874520"/>
            <a:ext cx="4297680" cy="274320"/>
          </a:xfrm>
          <a:prstGeom prst="rect">
            <a:avLst/>
          </a:prstGeom>
          <a:noFill/>
          <a:ln/>
        </p:spPr>
        <p:txBody>
          <a:bodyPr wrap="square" lIns="0" tIns="0" rIns="0" bIns="0" rtlCol="0" anchor="ctr"/>
          <a:lstStyle/>
          <a:p>
            <a:pPr marL="0" indent="0" algn="ctr">
              <a:buNone/>
            </a:pPr>
            <a:r>
              <a:rPr lang="en-US" sz="1000" b="1" kern="0" spc="120">
                <a:solidFill>
                  <a:srgbClr val="44586A"/>
                </a:solidFill>
                <a:latin typeface="Cambria" pitchFamily="34" charset="0"/>
                <a:ea typeface="Cambria" pitchFamily="34" charset="-122"/>
                <a:cs typeface="Cambria" pitchFamily="34" charset="-120"/>
              </a:rPr>
              <a:t>GARANTÍA INICIAL A CONSTITUIR</a:t>
            </a:r>
            <a:endParaRPr lang="en-US" sz="1000"/>
          </a:p>
        </p:txBody>
      </p:sp>
      <p:sp>
        <p:nvSpPr>
          <p:cNvPr id="24" name="Text 22"/>
          <p:cNvSpPr/>
          <p:nvPr/>
        </p:nvSpPr>
        <p:spPr>
          <a:xfrm>
            <a:off x="6949440" y="2240280"/>
            <a:ext cx="4572000" cy="868680"/>
          </a:xfrm>
          <a:prstGeom prst="rect">
            <a:avLst/>
          </a:prstGeom>
          <a:noFill/>
          <a:ln/>
        </p:spPr>
        <p:txBody>
          <a:bodyPr wrap="square" lIns="0" tIns="0" rIns="0" bIns="0" rtlCol="0" anchor="ctr"/>
          <a:lstStyle/>
          <a:p>
            <a:pPr marL="0" indent="0" algn="ctr">
              <a:buNone/>
            </a:pPr>
            <a:r>
              <a:rPr lang="en-US" sz="3800" b="1">
                <a:solidFill>
                  <a:srgbClr val="1D7874"/>
                </a:solidFill>
                <a:latin typeface="Century Schoolbook" pitchFamily="34" charset="0"/>
                <a:ea typeface="Century Schoolbook" pitchFamily="34" charset="-122"/>
                <a:cs typeface="Century Schoolbook" pitchFamily="34" charset="-120"/>
              </a:rPr>
              <a:t>US$ 279,892.80</a:t>
            </a:r>
            <a:endParaRPr lang="en-US" sz="3800"/>
          </a:p>
        </p:txBody>
      </p:sp>
      <p:sp>
        <p:nvSpPr>
          <p:cNvPr id="25" name="Text 23"/>
          <p:cNvSpPr/>
          <p:nvPr/>
        </p:nvSpPr>
        <p:spPr>
          <a:xfrm>
            <a:off x="7086600" y="3200400"/>
            <a:ext cx="4297680" cy="777240"/>
          </a:xfrm>
          <a:prstGeom prst="rect">
            <a:avLst/>
          </a:prstGeom>
          <a:noFill/>
          <a:ln/>
        </p:spPr>
        <p:txBody>
          <a:bodyPr wrap="square" lIns="0" tIns="0" rIns="0" bIns="0" rtlCol="0" anchor="ctr"/>
          <a:lstStyle/>
          <a:p>
            <a:pPr algn="ctr">
              <a:lnSpc>
                <a:spcPts val="1500"/>
              </a:lnSpc>
            </a:pPr>
            <a:r>
              <a:rPr lang="en-US" sz="1200" b="1" err="1">
                <a:solidFill>
                  <a:srgbClr val="12212F"/>
                </a:solidFill>
                <a:latin typeface="Cambria"/>
                <a:ea typeface="Cambria"/>
                <a:cs typeface="+mn-lt"/>
              </a:rPr>
              <a:t>Garantía</a:t>
            </a:r>
            <a:r>
              <a:rPr lang="en-US" sz="1200" b="1">
                <a:solidFill>
                  <a:srgbClr val="12212F"/>
                </a:solidFill>
                <a:latin typeface="Cambria"/>
                <a:ea typeface="Cambria"/>
                <a:cs typeface="+mn-lt"/>
              </a:rPr>
              <a:t>:</a:t>
            </a:r>
            <a:r>
              <a:rPr lang="en-US" sz="1200">
                <a:solidFill>
                  <a:srgbClr val="12212F"/>
                </a:solidFill>
                <a:latin typeface="Cambria"/>
                <a:ea typeface="Cambria"/>
                <a:cs typeface="+mn-lt"/>
              </a:rPr>
              <a:t> Se </a:t>
            </a:r>
            <a:r>
              <a:rPr lang="en-US" sz="1200" err="1">
                <a:solidFill>
                  <a:srgbClr val="12212F"/>
                </a:solidFill>
                <a:latin typeface="Cambria"/>
                <a:ea typeface="Cambria"/>
                <a:cs typeface="+mn-lt"/>
              </a:rPr>
              <a:t>presenta</a:t>
            </a:r>
            <a:r>
              <a:rPr lang="en-US" sz="1200">
                <a:solidFill>
                  <a:srgbClr val="12212F"/>
                </a:solidFill>
                <a:latin typeface="Cambria"/>
                <a:ea typeface="Cambria"/>
                <a:cs typeface="+mn-lt"/>
              </a:rPr>
              <a:t> </a:t>
            </a:r>
            <a:r>
              <a:rPr lang="en-US" sz="1200" err="1">
                <a:solidFill>
                  <a:srgbClr val="12212F"/>
                </a:solidFill>
                <a:latin typeface="Cambria"/>
                <a:ea typeface="Cambria"/>
                <a:cs typeface="+mn-lt"/>
              </a:rPr>
              <a:t>una</a:t>
            </a:r>
            <a:r>
              <a:rPr lang="en-US" sz="1200">
                <a:solidFill>
                  <a:srgbClr val="12212F"/>
                </a:solidFill>
                <a:latin typeface="Cambria"/>
                <a:ea typeface="Cambria"/>
                <a:cs typeface="+mn-lt"/>
              </a:rPr>
              <a:t> Carta </a:t>
            </a:r>
            <a:r>
              <a:rPr lang="en-US" sz="1200" err="1">
                <a:solidFill>
                  <a:srgbClr val="12212F"/>
                </a:solidFill>
                <a:latin typeface="Cambria"/>
                <a:ea typeface="Cambria"/>
                <a:cs typeface="+mn-lt"/>
              </a:rPr>
              <a:t>Fianza</a:t>
            </a:r>
            <a:r>
              <a:rPr lang="en-US" sz="1200">
                <a:solidFill>
                  <a:srgbClr val="12212F"/>
                </a:solidFill>
                <a:latin typeface="Cambria"/>
                <a:ea typeface="Cambria"/>
                <a:cs typeface="+mn-lt"/>
              </a:rPr>
              <a:t> Bancaria a favor de la Aduana, </a:t>
            </a:r>
            <a:r>
              <a:rPr lang="en-US" sz="1200" err="1">
                <a:solidFill>
                  <a:srgbClr val="12212F"/>
                </a:solidFill>
                <a:latin typeface="Cambria"/>
                <a:ea typeface="Cambria"/>
                <a:cs typeface="+mn-lt"/>
              </a:rPr>
              <a:t>por</a:t>
            </a:r>
            <a:r>
              <a:rPr lang="en-US" sz="1200">
                <a:solidFill>
                  <a:srgbClr val="12212F"/>
                </a:solidFill>
                <a:latin typeface="Cambria"/>
                <a:ea typeface="Cambria"/>
                <a:cs typeface="+mn-lt"/>
              </a:rPr>
              <a:t> el </a:t>
            </a:r>
            <a:r>
              <a:rPr lang="en-US" sz="1200" err="1">
                <a:solidFill>
                  <a:srgbClr val="12212F"/>
                </a:solidFill>
                <a:latin typeface="Cambria"/>
                <a:ea typeface="Cambria"/>
                <a:cs typeface="+mn-lt"/>
              </a:rPr>
              <a:t>monto</a:t>
            </a:r>
            <a:r>
              <a:rPr lang="en-US" sz="1200">
                <a:solidFill>
                  <a:srgbClr val="12212F"/>
                </a:solidFill>
                <a:latin typeface="Cambria"/>
                <a:ea typeface="Cambria"/>
                <a:cs typeface="+mn-lt"/>
              </a:rPr>
              <a:t> total de </a:t>
            </a:r>
            <a:r>
              <a:rPr lang="en-US" sz="1200" err="1">
                <a:solidFill>
                  <a:srgbClr val="12212F"/>
                </a:solidFill>
                <a:latin typeface="Cambria"/>
                <a:ea typeface="Cambria"/>
                <a:cs typeface="+mn-lt"/>
              </a:rPr>
              <a:t>los</a:t>
            </a:r>
            <a:r>
              <a:rPr lang="en-US" sz="1200">
                <a:solidFill>
                  <a:srgbClr val="12212F"/>
                </a:solidFill>
                <a:latin typeface="Cambria"/>
                <a:ea typeface="Cambria"/>
                <a:cs typeface="+mn-lt"/>
              </a:rPr>
              <a:t> </a:t>
            </a:r>
            <a:r>
              <a:rPr lang="en-US" sz="1200" err="1">
                <a:solidFill>
                  <a:srgbClr val="12212F"/>
                </a:solidFill>
                <a:latin typeface="Cambria"/>
                <a:ea typeface="Cambria"/>
                <a:cs typeface="+mn-lt"/>
              </a:rPr>
              <a:t>tributos</a:t>
            </a:r>
            <a:r>
              <a:rPr lang="en-US" sz="1200">
                <a:solidFill>
                  <a:srgbClr val="12212F"/>
                </a:solidFill>
                <a:latin typeface="Cambria"/>
                <a:ea typeface="Cambria"/>
                <a:cs typeface="+mn-lt"/>
              </a:rPr>
              <a:t> </a:t>
            </a:r>
            <a:r>
              <a:rPr lang="en-US" sz="1200" err="1">
                <a:solidFill>
                  <a:srgbClr val="12212F"/>
                </a:solidFill>
                <a:latin typeface="Cambria"/>
                <a:ea typeface="Cambria"/>
                <a:cs typeface="+mn-lt"/>
              </a:rPr>
              <a:t>que</a:t>
            </a:r>
            <a:r>
              <a:rPr lang="en-US" sz="1200">
                <a:solidFill>
                  <a:srgbClr val="12212F"/>
                </a:solidFill>
                <a:latin typeface="Cambria"/>
                <a:ea typeface="Cambria"/>
                <a:cs typeface="+mn-lt"/>
              </a:rPr>
              <a:t> </a:t>
            </a:r>
            <a:r>
              <a:rPr lang="en-US" sz="1200" err="1">
                <a:solidFill>
                  <a:srgbClr val="12212F"/>
                </a:solidFill>
                <a:latin typeface="Cambria"/>
                <a:ea typeface="Cambria"/>
                <a:cs typeface="+mn-lt"/>
              </a:rPr>
              <a:t>han</a:t>
            </a:r>
            <a:r>
              <a:rPr lang="en-US" sz="1200">
                <a:solidFill>
                  <a:srgbClr val="12212F"/>
                </a:solidFill>
                <a:latin typeface="Cambria"/>
                <a:ea typeface="Cambria"/>
                <a:cs typeface="+mn-lt"/>
              </a:rPr>
              <a:t> </a:t>
            </a:r>
            <a:r>
              <a:rPr lang="en-US" sz="1200" err="1">
                <a:solidFill>
                  <a:srgbClr val="12212F"/>
                </a:solidFill>
                <a:latin typeface="Cambria"/>
                <a:ea typeface="Cambria"/>
                <a:cs typeface="+mn-lt"/>
              </a:rPr>
              <a:t>sido</a:t>
            </a:r>
            <a:r>
              <a:rPr lang="en-US" sz="1200">
                <a:solidFill>
                  <a:srgbClr val="12212F"/>
                </a:solidFill>
                <a:latin typeface="Cambria"/>
                <a:ea typeface="Cambria"/>
                <a:cs typeface="+mn-lt"/>
              </a:rPr>
              <a:t> </a:t>
            </a:r>
            <a:r>
              <a:rPr lang="en-US" sz="1200" err="1">
                <a:solidFill>
                  <a:srgbClr val="12212F"/>
                </a:solidFill>
                <a:latin typeface="Cambria"/>
                <a:ea typeface="Cambria"/>
                <a:cs typeface="+mn-lt"/>
              </a:rPr>
              <a:t>suspendidos</a:t>
            </a:r>
            <a:r>
              <a:rPr lang="en-US" sz="1200">
                <a:solidFill>
                  <a:srgbClr val="12212F"/>
                </a:solidFill>
                <a:latin typeface="Cambria"/>
                <a:ea typeface="Cambria"/>
                <a:cs typeface="+mn-lt"/>
              </a:rPr>
              <a:t> </a:t>
            </a:r>
            <a:r>
              <a:rPr lang="en-US" sz="1200" err="1">
                <a:solidFill>
                  <a:srgbClr val="12212F"/>
                </a:solidFill>
                <a:latin typeface="Cambria"/>
                <a:ea typeface="Cambria"/>
                <a:cs typeface="+mn-lt"/>
              </a:rPr>
              <a:t>correspondientes</a:t>
            </a:r>
            <a:r>
              <a:rPr lang="en-US" sz="1200">
                <a:solidFill>
                  <a:srgbClr val="12212F"/>
                </a:solidFill>
                <a:latin typeface="Cambria"/>
                <a:ea typeface="Cambria"/>
                <a:cs typeface="+mn-lt"/>
              </a:rPr>
              <a:t> a las 18 </a:t>
            </a:r>
            <a:r>
              <a:rPr lang="en-US" sz="1200" err="1">
                <a:solidFill>
                  <a:srgbClr val="12212F"/>
                </a:solidFill>
                <a:latin typeface="Cambria"/>
                <a:ea typeface="Cambria"/>
                <a:cs typeface="+mn-lt"/>
              </a:rPr>
              <a:t>unidades</a:t>
            </a:r>
            <a:r>
              <a:rPr lang="en-US" sz="1200">
                <a:solidFill>
                  <a:srgbClr val="12212F"/>
                </a:solidFill>
                <a:latin typeface="Cambria"/>
                <a:ea typeface="Cambria"/>
                <a:cs typeface="+mn-lt"/>
              </a:rPr>
              <a:t>.</a:t>
            </a:r>
            <a:endParaRPr lang="es-ES">
              <a:latin typeface="Cambria"/>
              <a:ea typeface="Cambria"/>
            </a:endParaRPr>
          </a:p>
        </p:txBody>
      </p:sp>
      <p:sp>
        <p:nvSpPr>
          <p:cNvPr id="26" name="Text 24"/>
          <p:cNvSpPr/>
          <p:nvPr/>
        </p:nvSpPr>
        <p:spPr>
          <a:xfrm>
            <a:off x="7086600" y="4041648"/>
            <a:ext cx="4297680" cy="457200"/>
          </a:xfrm>
          <a:prstGeom prst="rect">
            <a:avLst/>
          </a:prstGeom>
          <a:noFill/>
          <a:ln/>
        </p:spPr>
        <p:txBody>
          <a:bodyPr wrap="square" lIns="0" tIns="0" rIns="0" bIns="0" rtlCol="0" anchor="ctr"/>
          <a:lstStyle/>
          <a:p>
            <a:pPr marL="0" indent="0" algn="ctr">
              <a:lnSpc>
                <a:spcPts val="1400"/>
              </a:lnSpc>
              <a:buNone/>
            </a:pPr>
            <a:r>
              <a:rPr lang="en-US" sz="1100" i="1">
                <a:solidFill>
                  <a:srgbClr val="44586A"/>
                </a:solidFill>
                <a:latin typeface="Cambria" pitchFamily="34" charset="0"/>
                <a:ea typeface="Cambria" pitchFamily="34" charset="-122"/>
                <a:cs typeface="Cambria" pitchFamily="34" charset="-120"/>
              </a:rPr>
              <a:t>Emitida por un importe redondeado de US$ 280,000.00</a:t>
            </a:r>
            <a:endParaRPr lang="en-US" sz="1100"/>
          </a:p>
        </p:txBody>
      </p:sp>
      <p:sp>
        <p:nvSpPr>
          <p:cNvPr id="27" name="Shape 25"/>
          <p:cNvSpPr/>
          <p:nvPr/>
        </p:nvSpPr>
        <p:spPr>
          <a:xfrm>
            <a:off x="548640" y="4956048"/>
            <a:ext cx="11094415" cy="1051560"/>
          </a:xfrm>
          <a:prstGeom prst="roundRect">
            <a:avLst>
              <a:gd name="adj" fmla="val 5217"/>
            </a:avLst>
          </a:prstGeom>
          <a:solidFill>
            <a:srgbClr val="E4EDF3"/>
          </a:solidFill>
          <a:ln w="12700">
            <a:solidFill>
              <a:srgbClr val="C9D8E2"/>
            </a:solidFill>
            <a:prstDash val="solid"/>
          </a:ln>
        </p:spPr>
        <p:txBody>
          <a:bodyPr/>
          <a:lstStyle/>
          <a:p>
            <a:endParaRPr lang="es-PE"/>
          </a:p>
        </p:txBody>
      </p:sp>
      <p:sp>
        <p:nvSpPr>
          <p:cNvPr id="28" name="Text 26"/>
          <p:cNvSpPr/>
          <p:nvPr/>
        </p:nvSpPr>
        <p:spPr>
          <a:xfrm>
            <a:off x="868680" y="5138928"/>
            <a:ext cx="10454335" cy="713232"/>
          </a:xfrm>
          <a:prstGeom prst="rect">
            <a:avLst/>
          </a:prstGeom>
          <a:noFill/>
          <a:ln/>
        </p:spPr>
        <p:txBody>
          <a:bodyPr wrap="square" lIns="0" tIns="0" rIns="0" bIns="0" rtlCol="0" anchor="ctr"/>
          <a:lstStyle/>
          <a:p>
            <a:pPr>
              <a:lnSpc>
                <a:spcPts val="1700"/>
              </a:lnSpc>
            </a:pPr>
            <a:r>
              <a:rPr lang="en-US" sz="1300" b="1">
                <a:solidFill>
                  <a:srgbClr val="12212F"/>
                </a:solidFill>
                <a:latin typeface="Cambria"/>
                <a:ea typeface="Cambria"/>
                <a:cs typeface="+mn-lt"/>
              </a:rPr>
              <a:t>Ahorro </a:t>
            </a:r>
            <a:r>
              <a:rPr lang="en-US" sz="1300" b="1" err="1">
                <a:solidFill>
                  <a:srgbClr val="12212F"/>
                </a:solidFill>
                <a:latin typeface="Cambria"/>
                <a:ea typeface="Cambria"/>
                <a:cs typeface="+mn-lt"/>
              </a:rPr>
              <a:t>financiero</a:t>
            </a:r>
            <a:r>
              <a:rPr lang="en-US" sz="1300" b="1">
                <a:solidFill>
                  <a:srgbClr val="12212F"/>
                </a:solidFill>
                <a:latin typeface="Cambria"/>
                <a:ea typeface="Cambria"/>
                <a:cs typeface="+mn-lt"/>
              </a:rPr>
              <a:t> del </a:t>
            </a:r>
            <a:r>
              <a:rPr lang="en-US" sz="1300" b="1" err="1">
                <a:solidFill>
                  <a:srgbClr val="12212F"/>
                </a:solidFill>
                <a:latin typeface="Cambria"/>
                <a:ea typeface="Cambria"/>
                <a:cs typeface="+mn-lt"/>
              </a:rPr>
              <a:t>régimen</a:t>
            </a:r>
            <a:r>
              <a:rPr lang="en-US" sz="1300" b="1">
                <a:solidFill>
                  <a:srgbClr val="12212F"/>
                </a:solidFill>
                <a:latin typeface="Cambria"/>
                <a:ea typeface="Cambria"/>
                <a:cs typeface="+mn-lt"/>
              </a:rPr>
              <a:t>:</a:t>
            </a:r>
            <a:r>
              <a:rPr lang="en-US" sz="1300">
                <a:solidFill>
                  <a:srgbClr val="12212F"/>
                </a:solidFill>
                <a:latin typeface="Cambria"/>
                <a:ea typeface="Cambria"/>
                <a:cs typeface="+mn-lt"/>
              </a:rPr>
              <a:t> La </a:t>
            </a:r>
            <a:r>
              <a:rPr lang="en-US" sz="1300" err="1">
                <a:solidFill>
                  <a:srgbClr val="12212F"/>
                </a:solidFill>
                <a:latin typeface="Cambria"/>
                <a:ea typeface="Cambria"/>
                <a:cs typeface="+mn-lt"/>
              </a:rPr>
              <a:t>empresa</a:t>
            </a:r>
            <a:r>
              <a:rPr lang="en-US" sz="1300">
                <a:solidFill>
                  <a:srgbClr val="12212F"/>
                </a:solidFill>
                <a:latin typeface="Cambria"/>
                <a:ea typeface="Cambria"/>
                <a:cs typeface="+mn-lt"/>
              </a:rPr>
              <a:t> no </a:t>
            </a:r>
            <a:r>
              <a:rPr lang="en-US" sz="1300" err="1">
                <a:solidFill>
                  <a:srgbClr val="12212F"/>
                </a:solidFill>
                <a:latin typeface="Cambria"/>
                <a:ea typeface="Cambria"/>
                <a:cs typeface="+mn-lt"/>
              </a:rPr>
              <a:t>tiene</a:t>
            </a:r>
            <a:r>
              <a:rPr lang="en-US" sz="1300">
                <a:solidFill>
                  <a:srgbClr val="12212F"/>
                </a:solidFill>
                <a:latin typeface="Cambria"/>
                <a:ea typeface="Cambria"/>
                <a:cs typeface="+mn-lt"/>
              </a:rPr>
              <a:t> </a:t>
            </a:r>
            <a:r>
              <a:rPr lang="en-US" sz="1300" err="1">
                <a:solidFill>
                  <a:srgbClr val="12212F"/>
                </a:solidFill>
                <a:latin typeface="Cambria"/>
                <a:ea typeface="Cambria"/>
                <a:cs typeface="+mn-lt"/>
              </a:rPr>
              <a:t>que</a:t>
            </a:r>
            <a:r>
              <a:rPr lang="en-US" sz="1300">
                <a:solidFill>
                  <a:srgbClr val="12212F"/>
                </a:solidFill>
                <a:latin typeface="Cambria"/>
                <a:ea typeface="Cambria"/>
                <a:cs typeface="+mn-lt"/>
              </a:rPr>
              <a:t> </a:t>
            </a:r>
            <a:r>
              <a:rPr lang="en-US" sz="1300" err="1">
                <a:solidFill>
                  <a:srgbClr val="12212F"/>
                </a:solidFill>
                <a:latin typeface="Cambria"/>
                <a:ea typeface="Cambria"/>
                <a:cs typeface="+mn-lt"/>
              </a:rPr>
              <a:t>desembolsar</a:t>
            </a:r>
            <a:r>
              <a:rPr lang="en-US" sz="1300">
                <a:solidFill>
                  <a:srgbClr val="12212F"/>
                </a:solidFill>
                <a:latin typeface="Cambria"/>
                <a:ea typeface="Cambria"/>
                <a:cs typeface="+mn-lt"/>
              </a:rPr>
              <a:t> </a:t>
            </a:r>
            <a:r>
              <a:rPr lang="en-US" sz="1300" err="1">
                <a:solidFill>
                  <a:srgbClr val="12212F"/>
                </a:solidFill>
                <a:latin typeface="Cambria"/>
                <a:ea typeface="Cambria"/>
                <a:cs typeface="+mn-lt"/>
              </a:rPr>
              <a:t>los</a:t>
            </a:r>
            <a:r>
              <a:rPr lang="en-US" sz="1300">
                <a:solidFill>
                  <a:srgbClr val="12212F"/>
                </a:solidFill>
                <a:latin typeface="Cambria"/>
                <a:ea typeface="Cambria"/>
                <a:cs typeface="+mn-lt"/>
              </a:rPr>
              <a:t> US$ 279,892.80 </a:t>
            </a:r>
            <a:r>
              <a:rPr lang="en-US" sz="1300" err="1">
                <a:solidFill>
                  <a:srgbClr val="12212F"/>
                </a:solidFill>
                <a:latin typeface="Cambria"/>
                <a:ea typeface="Cambria"/>
                <a:cs typeface="+mn-lt"/>
              </a:rPr>
              <a:t>en</a:t>
            </a:r>
            <a:r>
              <a:rPr lang="en-US" sz="1300">
                <a:solidFill>
                  <a:srgbClr val="12212F"/>
                </a:solidFill>
                <a:latin typeface="Cambria"/>
                <a:ea typeface="Cambria"/>
                <a:cs typeface="+mn-lt"/>
              </a:rPr>
              <a:t> </a:t>
            </a:r>
            <a:r>
              <a:rPr lang="en-US" sz="1300" err="1">
                <a:solidFill>
                  <a:srgbClr val="12212F"/>
                </a:solidFill>
                <a:latin typeface="Cambria"/>
                <a:ea typeface="Cambria"/>
                <a:cs typeface="+mn-lt"/>
              </a:rPr>
              <a:t>tributos</a:t>
            </a:r>
            <a:r>
              <a:rPr lang="en-US" sz="1300">
                <a:solidFill>
                  <a:srgbClr val="12212F"/>
                </a:solidFill>
                <a:latin typeface="Cambria"/>
                <a:ea typeface="Cambria"/>
                <a:cs typeface="+mn-lt"/>
              </a:rPr>
              <a:t> al </a:t>
            </a:r>
            <a:r>
              <a:rPr lang="en-US" sz="1300" err="1">
                <a:solidFill>
                  <a:srgbClr val="12212F"/>
                </a:solidFill>
                <a:latin typeface="Cambria"/>
                <a:ea typeface="Cambria"/>
                <a:cs typeface="+mn-lt"/>
              </a:rPr>
              <a:t>momento</a:t>
            </a:r>
            <a:r>
              <a:rPr lang="en-US" sz="1300">
                <a:solidFill>
                  <a:srgbClr val="12212F"/>
                </a:solidFill>
                <a:latin typeface="Cambria"/>
                <a:ea typeface="Cambria"/>
                <a:cs typeface="+mn-lt"/>
              </a:rPr>
              <a:t> de </a:t>
            </a:r>
            <a:r>
              <a:rPr lang="en-US" sz="1300" err="1">
                <a:solidFill>
                  <a:srgbClr val="12212F"/>
                </a:solidFill>
                <a:latin typeface="Cambria"/>
                <a:ea typeface="Cambria"/>
                <a:cs typeface="+mn-lt"/>
              </a:rPr>
              <a:t>ingresar</a:t>
            </a:r>
            <a:r>
              <a:rPr lang="en-US" sz="1300">
                <a:solidFill>
                  <a:srgbClr val="12212F"/>
                </a:solidFill>
                <a:latin typeface="Cambria"/>
                <a:ea typeface="Cambria"/>
                <a:cs typeface="+mn-lt"/>
              </a:rPr>
              <a:t> la </a:t>
            </a:r>
            <a:r>
              <a:rPr lang="en-US" sz="1300" err="1">
                <a:solidFill>
                  <a:srgbClr val="12212F"/>
                </a:solidFill>
                <a:latin typeface="Cambria"/>
                <a:ea typeface="Cambria"/>
                <a:cs typeface="+mn-lt"/>
              </a:rPr>
              <a:t>maquinaria</a:t>
            </a:r>
            <a:r>
              <a:rPr lang="en-US" sz="1300">
                <a:solidFill>
                  <a:srgbClr val="12212F"/>
                </a:solidFill>
                <a:latin typeface="Cambria"/>
                <a:ea typeface="Cambria"/>
                <a:cs typeface="+mn-lt"/>
              </a:rPr>
              <a:t>. En </a:t>
            </a:r>
            <a:r>
              <a:rPr lang="en-US" sz="1300" err="1">
                <a:solidFill>
                  <a:srgbClr val="12212F"/>
                </a:solidFill>
                <a:latin typeface="Cambria"/>
                <a:ea typeface="Cambria"/>
                <a:cs typeface="+mn-lt"/>
              </a:rPr>
              <a:t>su</a:t>
            </a:r>
            <a:r>
              <a:rPr lang="en-US" sz="1300">
                <a:solidFill>
                  <a:srgbClr val="12212F"/>
                </a:solidFill>
                <a:latin typeface="Cambria"/>
                <a:ea typeface="Cambria"/>
                <a:cs typeface="+mn-lt"/>
              </a:rPr>
              <a:t> </a:t>
            </a:r>
            <a:r>
              <a:rPr lang="en-US" sz="1300" err="1">
                <a:solidFill>
                  <a:srgbClr val="12212F"/>
                </a:solidFill>
                <a:latin typeface="Cambria"/>
                <a:ea typeface="Cambria"/>
                <a:cs typeface="+mn-lt"/>
              </a:rPr>
              <a:t>lugar</a:t>
            </a:r>
            <a:r>
              <a:rPr lang="en-US" sz="1300">
                <a:solidFill>
                  <a:srgbClr val="12212F"/>
                </a:solidFill>
                <a:latin typeface="Cambria"/>
                <a:ea typeface="Cambria"/>
                <a:cs typeface="+mn-lt"/>
              </a:rPr>
              <a:t>, solo </a:t>
            </a:r>
            <a:r>
              <a:rPr lang="en-US" sz="1300" err="1">
                <a:solidFill>
                  <a:srgbClr val="12212F"/>
                </a:solidFill>
                <a:latin typeface="Cambria"/>
                <a:ea typeface="Cambria"/>
                <a:cs typeface="+mn-lt"/>
              </a:rPr>
              <a:t>debe</a:t>
            </a:r>
            <a:r>
              <a:rPr lang="en-US" sz="1300">
                <a:solidFill>
                  <a:srgbClr val="12212F"/>
                </a:solidFill>
                <a:latin typeface="Cambria"/>
                <a:ea typeface="Cambria"/>
                <a:cs typeface="+mn-lt"/>
              </a:rPr>
              <a:t> </a:t>
            </a:r>
            <a:r>
              <a:rPr lang="en-US" sz="1300" err="1">
                <a:solidFill>
                  <a:srgbClr val="12212F"/>
                </a:solidFill>
                <a:latin typeface="Cambria"/>
                <a:ea typeface="Cambria"/>
                <a:cs typeface="+mn-lt"/>
              </a:rPr>
              <a:t>presentar</a:t>
            </a:r>
            <a:r>
              <a:rPr lang="en-US" sz="1300">
                <a:solidFill>
                  <a:srgbClr val="12212F"/>
                </a:solidFill>
                <a:latin typeface="Cambria"/>
                <a:ea typeface="Cambria"/>
                <a:cs typeface="+mn-lt"/>
              </a:rPr>
              <a:t> </a:t>
            </a:r>
            <a:r>
              <a:rPr lang="en-US" sz="1300" err="1">
                <a:solidFill>
                  <a:srgbClr val="12212F"/>
                </a:solidFill>
                <a:latin typeface="Cambria"/>
                <a:ea typeface="Cambria"/>
                <a:cs typeface="+mn-lt"/>
              </a:rPr>
              <a:t>una</a:t>
            </a:r>
            <a:r>
              <a:rPr lang="en-US" sz="1300">
                <a:solidFill>
                  <a:srgbClr val="12212F"/>
                </a:solidFill>
                <a:latin typeface="Cambria"/>
                <a:ea typeface="Cambria"/>
                <a:cs typeface="+mn-lt"/>
              </a:rPr>
              <a:t> </a:t>
            </a:r>
            <a:r>
              <a:rPr lang="en-US" sz="1300" err="1">
                <a:solidFill>
                  <a:srgbClr val="12212F"/>
                </a:solidFill>
                <a:latin typeface="Cambria"/>
                <a:ea typeface="Cambria"/>
                <a:cs typeface="+mn-lt"/>
              </a:rPr>
              <a:t>garantía</a:t>
            </a:r>
            <a:r>
              <a:rPr lang="en-US" sz="1300">
                <a:solidFill>
                  <a:srgbClr val="12212F"/>
                </a:solidFill>
                <a:latin typeface="Cambria"/>
                <a:ea typeface="Cambria"/>
                <a:cs typeface="+mn-lt"/>
              </a:rPr>
              <a:t> y </a:t>
            </a:r>
            <a:r>
              <a:rPr lang="en-US" sz="1300" err="1">
                <a:solidFill>
                  <a:srgbClr val="12212F"/>
                </a:solidFill>
                <a:latin typeface="Cambria"/>
                <a:ea typeface="Cambria"/>
                <a:cs typeface="+mn-lt"/>
              </a:rPr>
              <a:t>pagará</a:t>
            </a:r>
            <a:r>
              <a:rPr lang="en-US" sz="1300">
                <a:solidFill>
                  <a:srgbClr val="12212F"/>
                </a:solidFill>
                <a:latin typeface="Cambria"/>
                <a:ea typeface="Cambria"/>
                <a:cs typeface="+mn-lt"/>
              </a:rPr>
              <a:t> </a:t>
            </a:r>
            <a:r>
              <a:rPr lang="en-US" sz="1300" err="1">
                <a:solidFill>
                  <a:srgbClr val="12212F"/>
                </a:solidFill>
                <a:latin typeface="Cambria"/>
                <a:ea typeface="Cambria"/>
                <a:cs typeface="+mn-lt"/>
              </a:rPr>
              <a:t>los</a:t>
            </a:r>
            <a:r>
              <a:rPr lang="en-US" sz="1300">
                <a:solidFill>
                  <a:srgbClr val="12212F"/>
                </a:solidFill>
                <a:latin typeface="Cambria"/>
                <a:ea typeface="Cambria"/>
                <a:cs typeface="+mn-lt"/>
              </a:rPr>
              <a:t> </a:t>
            </a:r>
            <a:r>
              <a:rPr lang="en-US" sz="1300" err="1">
                <a:solidFill>
                  <a:srgbClr val="12212F"/>
                </a:solidFill>
                <a:latin typeface="Cambria"/>
                <a:ea typeface="Cambria"/>
                <a:cs typeface="+mn-lt"/>
              </a:rPr>
              <a:t>tributos</a:t>
            </a:r>
            <a:r>
              <a:rPr lang="en-US" sz="1300">
                <a:solidFill>
                  <a:srgbClr val="12212F"/>
                </a:solidFill>
                <a:latin typeface="Cambria"/>
                <a:ea typeface="Cambria"/>
                <a:cs typeface="+mn-lt"/>
              </a:rPr>
              <a:t> </a:t>
            </a:r>
            <a:r>
              <a:rPr lang="en-US" sz="1300" err="1">
                <a:solidFill>
                  <a:srgbClr val="12212F"/>
                </a:solidFill>
                <a:latin typeface="Cambria"/>
                <a:ea typeface="Cambria"/>
                <a:cs typeface="+mn-lt"/>
              </a:rPr>
              <a:t>correspondientes</a:t>
            </a:r>
            <a:r>
              <a:rPr lang="en-US" sz="1300">
                <a:solidFill>
                  <a:srgbClr val="12212F"/>
                </a:solidFill>
                <a:latin typeface="Cambria"/>
                <a:ea typeface="Cambria"/>
                <a:cs typeface="+mn-lt"/>
              </a:rPr>
              <a:t> </a:t>
            </a:r>
            <a:r>
              <a:rPr lang="en-US" sz="1300" err="1">
                <a:solidFill>
                  <a:srgbClr val="12212F"/>
                </a:solidFill>
                <a:latin typeface="Cambria"/>
                <a:ea typeface="Cambria"/>
                <a:cs typeface="+mn-lt"/>
              </a:rPr>
              <a:t>únicamente</a:t>
            </a:r>
            <a:r>
              <a:rPr lang="en-US" sz="1300">
                <a:solidFill>
                  <a:srgbClr val="12212F"/>
                </a:solidFill>
                <a:latin typeface="Cambria"/>
                <a:ea typeface="Cambria"/>
                <a:cs typeface="+mn-lt"/>
              </a:rPr>
              <a:t> </a:t>
            </a:r>
            <a:r>
              <a:rPr lang="en-US" sz="1300" err="1">
                <a:solidFill>
                  <a:srgbClr val="12212F"/>
                </a:solidFill>
                <a:latin typeface="Cambria"/>
                <a:ea typeface="Cambria"/>
                <a:cs typeface="+mn-lt"/>
              </a:rPr>
              <a:t>por</a:t>
            </a:r>
            <a:r>
              <a:rPr lang="en-US" sz="1300">
                <a:solidFill>
                  <a:srgbClr val="12212F"/>
                </a:solidFill>
                <a:latin typeface="Cambria"/>
                <a:ea typeface="Cambria"/>
                <a:cs typeface="+mn-lt"/>
              </a:rPr>
              <a:t> las </a:t>
            </a:r>
            <a:r>
              <a:rPr lang="en-US" sz="1300" err="1">
                <a:solidFill>
                  <a:srgbClr val="12212F"/>
                </a:solidFill>
                <a:latin typeface="Cambria"/>
                <a:ea typeface="Cambria"/>
                <a:cs typeface="+mn-lt"/>
              </a:rPr>
              <a:t>unidades</a:t>
            </a:r>
            <a:r>
              <a:rPr lang="en-US" sz="1300">
                <a:solidFill>
                  <a:srgbClr val="12212F"/>
                </a:solidFill>
                <a:latin typeface="Cambria"/>
                <a:ea typeface="Cambria"/>
                <a:cs typeface="+mn-lt"/>
              </a:rPr>
              <a:t> </a:t>
            </a:r>
            <a:r>
              <a:rPr lang="en-US" sz="1300" err="1">
                <a:solidFill>
                  <a:srgbClr val="12212F"/>
                </a:solidFill>
                <a:latin typeface="Cambria"/>
                <a:ea typeface="Cambria"/>
                <a:cs typeface="+mn-lt"/>
              </a:rPr>
              <a:t>que</a:t>
            </a:r>
            <a:r>
              <a:rPr lang="en-US" sz="1300">
                <a:solidFill>
                  <a:srgbClr val="12212F"/>
                </a:solidFill>
                <a:latin typeface="Cambria"/>
                <a:ea typeface="Cambria"/>
                <a:cs typeface="+mn-lt"/>
              </a:rPr>
              <a:t> </a:t>
            </a:r>
            <a:r>
              <a:rPr lang="en-US" sz="1300" err="1">
                <a:solidFill>
                  <a:srgbClr val="12212F"/>
                </a:solidFill>
                <a:latin typeface="Cambria"/>
                <a:ea typeface="Cambria"/>
                <a:cs typeface="+mn-lt"/>
              </a:rPr>
              <a:t>decida</a:t>
            </a:r>
            <a:r>
              <a:rPr lang="en-US" sz="1300">
                <a:solidFill>
                  <a:srgbClr val="12212F"/>
                </a:solidFill>
                <a:latin typeface="Cambria"/>
                <a:ea typeface="Cambria"/>
                <a:cs typeface="+mn-lt"/>
              </a:rPr>
              <a:t> </a:t>
            </a:r>
            <a:r>
              <a:rPr lang="en-US" sz="1300" err="1">
                <a:solidFill>
                  <a:srgbClr val="12212F"/>
                </a:solidFill>
                <a:latin typeface="Cambria"/>
                <a:ea typeface="Cambria"/>
                <a:cs typeface="+mn-lt"/>
              </a:rPr>
              <a:t>nacionalizar</a:t>
            </a:r>
            <a:r>
              <a:rPr lang="en-US" sz="1300">
                <a:solidFill>
                  <a:srgbClr val="12212F"/>
                </a:solidFill>
                <a:latin typeface="Cambria"/>
                <a:ea typeface="Cambria"/>
                <a:cs typeface="+mn-lt"/>
              </a:rPr>
              <a:t>.</a:t>
            </a:r>
            <a:endParaRPr lang="es-ES">
              <a:latin typeface="Cambria"/>
              <a:ea typeface="Cambria"/>
            </a:endParaRPr>
          </a:p>
        </p:txBody>
      </p:sp>
      <p:sp>
        <p:nvSpPr>
          <p:cNvPr id="29" name="Text 27"/>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La garantía equivale exactamente a los tributos que quedan suspendidos.</a:t>
            </a:r>
            <a:endParaRPr lang="en-US" sz="950"/>
          </a:p>
        </p:txBody>
      </p:sp>
      <p:sp>
        <p:nvSpPr>
          <p:cNvPr id="30" name="Text 28"/>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MARILIN MEDINA</a:t>
            </a:r>
            <a:endParaRPr lang="en-US" sz="850"/>
          </a:p>
        </p:txBody>
      </p:sp>
      <p:sp>
        <p:nvSpPr>
          <p:cNvPr id="31" name="Text 29"/>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8</a:t>
            </a:r>
            <a:endParaRPr lang="en-US" sz="9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1D7874"/>
                </a:solidFill>
                <a:latin typeface="Cambria" pitchFamily="34" charset="0"/>
                <a:ea typeface="Cambria" pitchFamily="34" charset="-122"/>
                <a:cs typeface="Cambria" pitchFamily="34" charset="-120"/>
              </a:rPr>
              <a:t>CASO 1</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Línea de tiempo y documentación por etapa</a:t>
            </a:r>
            <a:endParaRPr lang="en-US" sz="3000"/>
          </a:p>
        </p:txBody>
      </p:sp>
      <p:sp>
        <p:nvSpPr>
          <p:cNvPr id="4" name="Shape 2"/>
          <p:cNvSpPr/>
          <p:nvPr/>
        </p:nvSpPr>
        <p:spPr>
          <a:xfrm>
            <a:off x="1584930" y="1741932"/>
            <a:ext cx="9021836" cy="27432"/>
          </a:xfrm>
          <a:prstGeom prst="rect">
            <a:avLst/>
          </a:prstGeom>
          <a:solidFill>
            <a:srgbClr val="C9D8E2"/>
          </a:solidFill>
          <a:ln w="12700">
            <a:solidFill>
              <a:srgbClr val="C9D8E2"/>
            </a:solidFill>
            <a:prstDash val="solid"/>
          </a:ln>
        </p:spPr>
        <p:txBody>
          <a:bodyPr/>
          <a:lstStyle/>
          <a:p>
            <a:endParaRPr lang="es-PE"/>
          </a:p>
        </p:txBody>
      </p:sp>
      <p:sp>
        <p:nvSpPr>
          <p:cNvPr id="5" name="Shape 3"/>
          <p:cNvSpPr/>
          <p:nvPr/>
        </p:nvSpPr>
        <p:spPr>
          <a:xfrm>
            <a:off x="1328898" y="1499616"/>
            <a:ext cx="512064" cy="512064"/>
          </a:xfrm>
          <a:prstGeom prst="ellipse">
            <a:avLst/>
          </a:prstGeom>
          <a:solidFill>
            <a:srgbClr val="1D7874"/>
          </a:solidFill>
          <a:ln w="12700">
            <a:solidFill>
              <a:srgbClr val="1D7874"/>
            </a:solidFill>
            <a:prstDash val="solid"/>
          </a:ln>
        </p:spPr>
        <p:txBody>
          <a:bodyPr/>
          <a:lstStyle/>
          <a:p>
            <a:endParaRPr lang="es-PE"/>
          </a:p>
        </p:txBody>
      </p:sp>
      <p:sp>
        <p:nvSpPr>
          <p:cNvPr id="6" name="Text 4"/>
          <p:cNvSpPr/>
          <p:nvPr/>
        </p:nvSpPr>
        <p:spPr>
          <a:xfrm>
            <a:off x="1328898" y="1499616"/>
            <a:ext cx="512064" cy="512064"/>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1</a:t>
            </a:r>
            <a:endParaRPr lang="en-US" sz="1400"/>
          </a:p>
        </p:txBody>
      </p:sp>
      <p:sp>
        <p:nvSpPr>
          <p:cNvPr id="7" name="Shape 5"/>
          <p:cNvSpPr/>
          <p:nvPr/>
        </p:nvSpPr>
        <p:spPr>
          <a:xfrm>
            <a:off x="548640" y="2139696"/>
            <a:ext cx="2072579" cy="3401568"/>
          </a:xfrm>
          <a:prstGeom prst="roundRect">
            <a:avLst>
              <a:gd name="adj" fmla="val 2647"/>
            </a:avLst>
          </a:prstGeom>
          <a:solidFill>
            <a:srgbClr val="F1F6F9"/>
          </a:solidFill>
          <a:ln w="12700">
            <a:solidFill>
              <a:srgbClr val="C9D8E2"/>
            </a:solidFill>
            <a:prstDash val="solid"/>
          </a:ln>
        </p:spPr>
        <p:txBody>
          <a:bodyPr/>
          <a:lstStyle/>
          <a:p>
            <a:endParaRPr lang="es-PE"/>
          </a:p>
        </p:txBody>
      </p:sp>
      <p:sp>
        <p:nvSpPr>
          <p:cNvPr id="8" name="Text 6"/>
          <p:cNvSpPr/>
          <p:nvPr/>
        </p:nvSpPr>
        <p:spPr>
          <a:xfrm>
            <a:off x="676656" y="2286000"/>
            <a:ext cx="1816547" cy="237744"/>
          </a:xfrm>
          <a:prstGeom prst="rect">
            <a:avLst/>
          </a:prstGeom>
          <a:noFill/>
          <a:ln/>
        </p:spPr>
        <p:txBody>
          <a:bodyPr wrap="square" lIns="0" tIns="0" rIns="0" bIns="0" rtlCol="0" anchor="ctr"/>
          <a:lstStyle/>
          <a:p>
            <a:pPr marL="0" indent="0" algn="ctr">
              <a:buNone/>
            </a:pPr>
            <a:r>
              <a:rPr lang="en-US" sz="1100" b="1">
                <a:solidFill>
                  <a:srgbClr val="1D7874"/>
                </a:solidFill>
                <a:latin typeface="Cambria" pitchFamily="34" charset="0"/>
                <a:ea typeface="Cambria" pitchFamily="34" charset="-122"/>
                <a:cs typeface="Cambria" pitchFamily="34" charset="-120"/>
              </a:rPr>
              <a:t>30.06 → 08.07.2026</a:t>
            </a:r>
            <a:endParaRPr lang="en-US" sz="1100"/>
          </a:p>
        </p:txBody>
      </p:sp>
      <p:sp>
        <p:nvSpPr>
          <p:cNvPr id="9" name="Text 7"/>
          <p:cNvSpPr/>
          <p:nvPr/>
        </p:nvSpPr>
        <p:spPr>
          <a:xfrm>
            <a:off x="676656" y="2560320"/>
            <a:ext cx="1816547" cy="713232"/>
          </a:xfrm>
          <a:prstGeom prst="rect">
            <a:avLst/>
          </a:prstGeom>
          <a:noFill/>
          <a:ln/>
        </p:spPr>
        <p:txBody>
          <a:bodyPr wrap="square" lIns="0" tIns="0" rIns="0" bIns="0" rtlCol="0" anchor="t"/>
          <a:lstStyle/>
          <a:p>
            <a:pPr marL="0" indent="0" algn="ctr">
              <a:lnSpc>
                <a:spcPts val="1500"/>
              </a:lnSpc>
              <a:buNone/>
            </a:pPr>
            <a:r>
              <a:rPr lang="en-US" sz="1250" b="1">
                <a:solidFill>
                  <a:srgbClr val="12212F"/>
                </a:solidFill>
                <a:latin typeface="Century Schoolbook" pitchFamily="34" charset="0"/>
                <a:ea typeface="Century Schoolbook" pitchFamily="34" charset="-122"/>
                <a:cs typeface="Century Schoolbook" pitchFamily="34" charset="-120"/>
              </a:rPr>
              <a:t>Compra y embarque</a:t>
            </a:r>
            <a:endParaRPr lang="en-US" sz="1250"/>
          </a:p>
        </p:txBody>
      </p:sp>
      <p:sp>
        <p:nvSpPr>
          <p:cNvPr id="10" name="Text 8"/>
          <p:cNvSpPr/>
          <p:nvPr/>
        </p:nvSpPr>
        <p:spPr>
          <a:xfrm>
            <a:off x="676656" y="3328416"/>
            <a:ext cx="1816547" cy="804672"/>
          </a:xfrm>
          <a:prstGeom prst="rect">
            <a:avLst/>
          </a:prstGeom>
          <a:noFill/>
          <a:ln/>
        </p:spPr>
        <p:txBody>
          <a:bodyPr wrap="square" lIns="0" tIns="0" rIns="0" bIns="0" rtlCol="0" anchor="t"/>
          <a:lstStyle/>
          <a:p>
            <a:pPr>
              <a:lnSpc>
                <a:spcPts val="1300"/>
              </a:lnSpc>
            </a:pPr>
            <a:r>
              <a:rPr lang="en-US" sz="1050">
                <a:solidFill>
                  <a:srgbClr val="12212F"/>
                </a:solidFill>
                <a:latin typeface="Cambria"/>
                <a:ea typeface="Cambria"/>
                <a:cs typeface="Cambria" pitchFamily="34" charset="-120"/>
              </a:rPr>
              <a:t>Se </a:t>
            </a:r>
            <a:r>
              <a:rPr lang="en-US" sz="1050" err="1">
                <a:solidFill>
                  <a:srgbClr val="12212F"/>
                </a:solidFill>
                <a:latin typeface="Cambria"/>
                <a:ea typeface="Cambria"/>
                <a:cs typeface="Cambria" pitchFamily="34" charset="-120"/>
              </a:rPr>
              <a:t>hace</a:t>
            </a:r>
            <a:r>
              <a:rPr lang="en-US" sz="1050">
                <a:solidFill>
                  <a:srgbClr val="12212F"/>
                </a:solidFill>
                <a:latin typeface="Cambria"/>
                <a:ea typeface="Cambria"/>
                <a:cs typeface="Cambria" pitchFamily="34" charset="-120"/>
              </a:rPr>
              <a:t> la </a:t>
            </a:r>
            <a:r>
              <a:rPr lang="en-US" sz="1050" err="1">
                <a:solidFill>
                  <a:srgbClr val="12212F"/>
                </a:solidFill>
                <a:latin typeface="Cambria"/>
                <a:ea typeface="Cambria"/>
                <a:cs typeface="Cambria" pitchFamily="34" charset="-120"/>
              </a:rPr>
              <a:t>compra</a:t>
            </a:r>
            <a:r>
              <a:rPr lang="en-US" sz="1050">
                <a:solidFill>
                  <a:srgbClr val="12212F"/>
                </a:solidFill>
                <a:latin typeface="Cambria"/>
                <a:ea typeface="Cambria"/>
                <a:cs typeface="Cambria" pitchFamily="34" charset="-120"/>
              </a:rPr>
              <a:t> CIF Callao y se </a:t>
            </a:r>
            <a:r>
              <a:rPr lang="en-US" sz="1050" err="1">
                <a:solidFill>
                  <a:srgbClr val="12212F"/>
                </a:solidFill>
                <a:latin typeface="Cambria"/>
                <a:ea typeface="Cambria"/>
                <a:cs typeface="Cambria" pitchFamily="34" charset="-120"/>
              </a:rPr>
              <a:t>embarca</a:t>
            </a:r>
            <a:r>
              <a:rPr lang="en-US" sz="1050">
                <a:solidFill>
                  <a:srgbClr val="12212F"/>
                </a:solidFill>
                <a:latin typeface="Cambria"/>
                <a:ea typeface="Cambria"/>
                <a:cs typeface="Cambria" pitchFamily="34" charset="-120"/>
              </a:rPr>
              <a:t> la </a:t>
            </a:r>
            <a:r>
              <a:rPr lang="en-US" sz="1050" err="1">
                <a:solidFill>
                  <a:srgbClr val="12212F"/>
                </a:solidFill>
                <a:latin typeface="Cambria"/>
                <a:ea typeface="Cambria"/>
                <a:cs typeface="Cambria" pitchFamily="34" charset="-120"/>
              </a:rPr>
              <a:t>maquinaria</a:t>
            </a:r>
            <a:r>
              <a:rPr lang="en-US" sz="1050">
                <a:solidFill>
                  <a:srgbClr val="12212F"/>
                </a:solidFill>
                <a:latin typeface="Cambria"/>
                <a:ea typeface="Cambria"/>
                <a:cs typeface="Cambria" pitchFamily="34" charset="-120"/>
              </a:rPr>
              <a:t> </a:t>
            </a:r>
            <a:r>
              <a:rPr lang="en-US" sz="1050" err="1">
                <a:solidFill>
                  <a:srgbClr val="12212F"/>
                </a:solidFill>
                <a:latin typeface="Cambria"/>
                <a:ea typeface="Cambria"/>
                <a:cs typeface="Cambria" pitchFamily="34" charset="-120"/>
              </a:rPr>
              <a:t>desde</a:t>
            </a:r>
            <a:r>
              <a:rPr lang="en-US" sz="1050">
                <a:solidFill>
                  <a:srgbClr val="12212F"/>
                </a:solidFill>
                <a:latin typeface="Cambria"/>
                <a:ea typeface="Cambria"/>
                <a:cs typeface="Cambria" pitchFamily="34" charset="-120"/>
              </a:rPr>
              <a:t> Corea del Sur.</a:t>
            </a:r>
            <a:endParaRPr lang="en-US" sz="1050">
              <a:latin typeface="Cambria"/>
              <a:ea typeface="Cambria"/>
            </a:endParaRPr>
          </a:p>
        </p:txBody>
      </p:sp>
      <p:sp>
        <p:nvSpPr>
          <p:cNvPr id="11" name="Text 9"/>
          <p:cNvSpPr/>
          <p:nvPr/>
        </p:nvSpPr>
        <p:spPr>
          <a:xfrm>
            <a:off x="676656" y="4187952"/>
            <a:ext cx="1816547" cy="201168"/>
          </a:xfrm>
          <a:prstGeom prst="rect">
            <a:avLst/>
          </a:prstGeom>
          <a:noFill/>
          <a:ln/>
        </p:spPr>
        <p:txBody>
          <a:bodyPr wrap="square" lIns="0" tIns="0" rIns="0" bIns="0" rtlCol="0" anchor="ctr"/>
          <a:lstStyle/>
          <a:p>
            <a:pPr marL="0" indent="0">
              <a:buNone/>
            </a:pPr>
            <a:r>
              <a:rPr lang="en-US" sz="850" b="1" kern="0" spc="100">
                <a:solidFill>
                  <a:srgbClr val="44586A"/>
                </a:solidFill>
                <a:latin typeface="Cambria" pitchFamily="34" charset="0"/>
                <a:ea typeface="Cambria" pitchFamily="34" charset="-122"/>
                <a:cs typeface="Cambria" pitchFamily="34" charset="-120"/>
              </a:rPr>
              <a:t>DOCUMENTOS</a:t>
            </a:r>
            <a:endParaRPr lang="en-US" sz="850"/>
          </a:p>
        </p:txBody>
      </p:sp>
      <p:sp>
        <p:nvSpPr>
          <p:cNvPr id="12" name="Text 10"/>
          <p:cNvSpPr/>
          <p:nvPr/>
        </p:nvSpPr>
        <p:spPr>
          <a:xfrm>
            <a:off x="676656" y="4425696"/>
            <a:ext cx="1816547" cy="1371600"/>
          </a:xfrm>
          <a:prstGeom prst="rect">
            <a:avLst/>
          </a:prstGeom>
          <a:noFill/>
          <a:ln/>
        </p:spPr>
        <p:txBody>
          <a:bodyPr wrap="square" lIns="0" tIns="0" rIns="0" bIns="0" rtlCol="0" anchor="t"/>
          <a:lstStyle/>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Factura comercial</a:t>
            </a:r>
            <a:endParaRPr lang="en-US" sz="1000"/>
          </a:p>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Bill of Lading</a:t>
            </a:r>
            <a:endParaRPr lang="en-US" sz="1000"/>
          </a:p>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Certificado de seguro</a:t>
            </a:r>
            <a:endParaRPr lang="en-US" sz="1000"/>
          </a:p>
        </p:txBody>
      </p:sp>
      <p:sp>
        <p:nvSpPr>
          <p:cNvPr id="13" name="Shape 11"/>
          <p:cNvSpPr/>
          <p:nvPr/>
        </p:nvSpPr>
        <p:spPr>
          <a:xfrm>
            <a:off x="3584357" y="1499616"/>
            <a:ext cx="512064" cy="512064"/>
          </a:xfrm>
          <a:prstGeom prst="ellipse">
            <a:avLst/>
          </a:prstGeom>
          <a:solidFill>
            <a:srgbClr val="1D7874"/>
          </a:solidFill>
          <a:ln w="12700">
            <a:solidFill>
              <a:srgbClr val="1D7874"/>
            </a:solidFill>
            <a:prstDash val="solid"/>
          </a:ln>
        </p:spPr>
        <p:txBody>
          <a:bodyPr/>
          <a:lstStyle/>
          <a:p>
            <a:endParaRPr lang="es-PE"/>
          </a:p>
        </p:txBody>
      </p:sp>
      <p:sp>
        <p:nvSpPr>
          <p:cNvPr id="14" name="Text 12"/>
          <p:cNvSpPr/>
          <p:nvPr/>
        </p:nvSpPr>
        <p:spPr>
          <a:xfrm>
            <a:off x="3584357" y="1499616"/>
            <a:ext cx="512064" cy="512064"/>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2</a:t>
            </a:r>
            <a:endParaRPr lang="en-US" sz="1400"/>
          </a:p>
        </p:txBody>
      </p:sp>
      <p:sp>
        <p:nvSpPr>
          <p:cNvPr id="15" name="Shape 13"/>
          <p:cNvSpPr/>
          <p:nvPr/>
        </p:nvSpPr>
        <p:spPr>
          <a:xfrm>
            <a:off x="2804099" y="2139696"/>
            <a:ext cx="2072579" cy="3401568"/>
          </a:xfrm>
          <a:prstGeom prst="roundRect">
            <a:avLst>
              <a:gd name="adj" fmla="val 2647"/>
            </a:avLst>
          </a:prstGeom>
          <a:solidFill>
            <a:srgbClr val="FFFFFF"/>
          </a:solidFill>
          <a:ln w="12700">
            <a:solidFill>
              <a:srgbClr val="C9D8E2"/>
            </a:solidFill>
            <a:prstDash val="solid"/>
          </a:ln>
        </p:spPr>
        <p:txBody>
          <a:bodyPr/>
          <a:lstStyle/>
          <a:p>
            <a:endParaRPr lang="es-PE"/>
          </a:p>
        </p:txBody>
      </p:sp>
      <p:sp>
        <p:nvSpPr>
          <p:cNvPr id="16" name="Text 14"/>
          <p:cNvSpPr/>
          <p:nvPr/>
        </p:nvSpPr>
        <p:spPr>
          <a:xfrm>
            <a:off x="2932115" y="2286000"/>
            <a:ext cx="1816547" cy="237744"/>
          </a:xfrm>
          <a:prstGeom prst="rect">
            <a:avLst/>
          </a:prstGeom>
          <a:noFill/>
          <a:ln/>
        </p:spPr>
        <p:txBody>
          <a:bodyPr wrap="square" lIns="0" tIns="0" rIns="0" bIns="0" rtlCol="0" anchor="ctr"/>
          <a:lstStyle/>
          <a:p>
            <a:pPr marL="0" indent="0" algn="ctr">
              <a:buNone/>
            </a:pPr>
            <a:r>
              <a:rPr lang="en-US" sz="1100" b="1">
                <a:solidFill>
                  <a:srgbClr val="1D7874"/>
                </a:solidFill>
                <a:latin typeface="Cambria" pitchFamily="34" charset="0"/>
                <a:ea typeface="Cambria" pitchFamily="34" charset="-122"/>
                <a:cs typeface="Cambria" pitchFamily="34" charset="-120"/>
              </a:rPr>
              <a:t>05.08.2026</a:t>
            </a:r>
            <a:endParaRPr lang="en-US" sz="1100"/>
          </a:p>
        </p:txBody>
      </p:sp>
      <p:sp>
        <p:nvSpPr>
          <p:cNvPr id="17" name="Text 15"/>
          <p:cNvSpPr/>
          <p:nvPr/>
        </p:nvSpPr>
        <p:spPr>
          <a:xfrm>
            <a:off x="2932115" y="2560320"/>
            <a:ext cx="1816547" cy="713232"/>
          </a:xfrm>
          <a:prstGeom prst="rect">
            <a:avLst/>
          </a:prstGeom>
          <a:noFill/>
          <a:ln/>
        </p:spPr>
        <p:txBody>
          <a:bodyPr wrap="square" lIns="0" tIns="0" rIns="0" bIns="0" rtlCol="0" anchor="t"/>
          <a:lstStyle/>
          <a:p>
            <a:pPr marL="0" indent="0" algn="ctr">
              <a:lnSpc>
                <a:spcPts val="1500"/>
              </a:lnSpc>
              <a:buNone/>
            </a:pPr>
            <a:r>
              <a:rPr lang="en-US" sz="1250" b="1">
                <a:solidFill>
                  <a:srgbClr val="12212F"/>
                </a:solidFill>
                <a:latin typeface="Century Schoolbook" pitchFamily="34" charset="0"/>
                <a:ea typeface="Century Schoolbook" pitchFamily="34" charset="-122"/>
                <a:cs typeface="Century Schoolbook" pitchFamily="34" charset="-120"/>
              </a:rPr>
              <a:t>Numeración de la Admisión Temporal</a:t>
            </a:r>
            <a:endParaRPr lang="en-US" sz="1250"/>
          </a:p>
        </p:txBody>
      </p:sp>
      <p:sp>
        <p:nvSpPr>
          <p:cNvPr id="18" name="Text 16"/>
          <p:cNvSpPr/>
          <p:nvPr/>
        </p:nvSpPr>
        <p:spPr>
          <a:xfrm>
            <a:off x="2932115" y="3328416"/>
            <a:ext cx="1816547" cy="804672"/>
          </a:xfrm>
          <a:prstGeom prst="rect">
            <a:avLst/>
          </a:prstGeom>
          <a:noFill/>
          <a:ln/>
        </p:spPr>
        <p:txBody>
          <a:bodyPr wrap="square" lIns="0" tIns="0" rIns="0" bIns="0" rtlCol="0" anchor="t"/>
          <a:lstStyle/>
          <a:p>
            <a:pPr marL="0" indent="0" algn="l">
              <a:lnSpc>
                <a:spcPts val="1300"/>
              </a:lnSpc>
              <a:buNone/>
            </a:pPr>
            <a:r>
              <a:rPr lang="en-US" sz="1050">
                <a:solidFill>
                  <a:srgbClr val="12212F"/>
                </a:solidFill>
                <a:latin typeface="Cambria" pitchFamily="34" charset="0"/>
                <a:ea typeface="Cambria" pitchFamily="34" charset="-122"/>
                <a:cs typeface="Cambria" pitchFamily="34" charset="-120"/>
              </a:rPr>
              <a:t>Ingresan las 18 unidades con suspensión de tributos. Se entrega la garantía a la Aduana.</a:t>
            </a:r>
            <a:endParaRPr lang="en-US" sz="1050"/>
          </a:p>
        </p:txBody>
      </p:sp>
      <p:sp>
        <p:nvSpPr>
          <p:cNvPr id="19" name="Text 17"/>
          <p:cNvSpPr/>
          <p:nvPr/>
        </p:nvSpPr>
        <p:spPr>
          <a:xfrm>
            <a:off x="2932115" y="4187952"/>
            <a:ext cx="1816547" cy="201168"/>
          </a:xfrm>
          <a:prstGeom prst="rect">
            <a:avLst/>
          </a:prstGeom>
          <a:noFill/>
          <a:ln/>
        </p:spPr>
        <p:txBody>
          <a:bodyPr wrap="square" lIns="0" tIns="0" rIns="0" bIns="0" rtlCol="0" anchor="ctr"/>
          <a:lstStyle/>
          <a:p>
            <a:pPr marL="0" indent="0">
              <a:buNone/>
            </a:pPr>
            <a:r>
              <a:rPr lang="en-US" sz="850" b="1" kern="0" spc="100">
                <a:solidFill>
                  <a:srgbClr val="44586A"/>
                </a:solidFill>
                <a:latin typeface="Cambria" pitchFamily="34" charset="0"/>
                <a:ea typeface="Cambria" pitchFamily="34" charset="-122"/>
                <a:cs typeface="Cambria" pitchFamily="34" charset="-120"/>
              </a:rPr>
              <a:t>DOCUMENTOS</a:t>
            </a:r>
            <a:endParaRPr lang="en-US" sz="850"/>
          </a:p>
        </p:txBody>
      </p:sp>
      <p:sp>
        <p:nvSpPr>
          <p:cNvPr id="20" name="Text 18"/>
          <p:cNvSpPr/>
          <p:nvPr/>
        </p:nvSpPr>
        <p:spPr>
          <a:xfrm>
            <a:off x="2932115" y="4425696"/>
            <a:ext cx="1816547" cy="1371600"/>
          </a:xfrm>
          <a:prstGeom prst="rect">
            <a:avLst/>
          </a:prstGeom>
          <a:noFill/>
          <a:ln/>
        </p:spPr>
        <p:txBody>
          <a:bodyPr wrap="square" lIns="0" tIns="0" rIns="0" bIns="0" rtlCol="0" anchor="t"/>
          <a:lstStyle/>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DAM Admisión Temporal</a:t>
            </a:r>
            <a:endParaRPr lang="en-US" sz="1000"/>
          </a:p>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Carta Fianza Bancaria</a:t>
            </a:r>
            <a:endParaRPr lang="en-US" sz="1000"/>
          </a:p>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Contrato con el Estado</a:t>
            </a:r>
            <a:endParaRPr lang="en-US" sz="1000"/>
          </a:p>
        </p:txBody>
      </p:sp>
      <p:sp>
        <p:nvSpPr>
          <p:cNvPr id="21" name="Shape 19"/>
          <p:cNvSpPr/>
          <p:nvPr/>
        </p:nvSpPr>
        <p:spPr>
          <a:xfrm>
            <a:off x="5839816" y="1499616"/>
            <a:ext cx="512064" cy="512064"/>
          </a:xfrm>
          <a:prstGeom prst="ellipse">
            <a:avLst/>
          </a:prstGeom>
          <a:solidFill>
            <a:srgbClr val="1D7874"/>
          </a:solidFill>
          <a:ln w="12700">
            <a:solidFill>
              <a:srgbClr val="1D7874"/>
            </a:solidFill>
            <a:prstDash val="solid"/>
          </a:ln>
        </p:spPr>
        <p:txBody>
          <a:bodyPr/>
          <a:lstStyle/>
          <a:p>
            <a:endParaRPr lang="es-PE"/>
          </a:p>
        </p:txBody>
      </p:sp>
      <p:sp>
        <p:nvSpPr>
          <p:cNvPr id="22" name="Text 20"/>
          <p:cNvSpPr/>
          <p:nvPr/>
        </p:nvSpPr>
        <p:spPr>
          <a:xfrm>
            <a:off x="5839816" y="1499616"/>
            <a:ext cx="512064" cy="512064"/>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3</a:t>
            </a:r>
            <a:endParaRPr lang="en-US" sz="1400"/>
          </a:p>
        </p:txBody>
      </p:sp>
      <p:sp>
        <p:nvSpPr>
          <p:cNvPr id="23" name="Shape 21"/>
          <p:cNvSpPr/>
          <p:nvPr/>
        </p:nvSpPr>
        <p:spPr>
          <a:xfrm>
            <a:off x="5059558" y="2139696"/>
            <a:ext cx="2072579" cy="3401568"/>
          </a:xfrm>
          <a:prstGeom prst="roundRect">
            <a:avLst>
              <a:gd name="adj" fmla="val 2647"/>
            </a:avLst>
          </a:prstGeom>
          <a:solidFill>
            <a:srgbClr val="F1F6F9"/>
          </a:solidFill>
          <a:ln w="12700">
            <a:solidFill>
              <a:srgbClr val="C9D8E2"/>
            </a:solidFill>
            <a:prstDash val="solid"/>
          </a:ln>
        </p:spPr>
        <p:txBody>
          <a:bodyPr/>
          <a:lstStyle/>
          <a:p>
            <a:endParaRPr lang="es-PE"/>
          </a:p>
        </p:txBody>
      </p:sp>
      <p:sp>
        <p:nvSpPr>
          <p:cNvPr id="24" name="Text 22"/>
          <p:cNvSpPr/>
          <p:nvPr/>
        </p:nvSpPr>
        <p:spPr>
          <a:xfrm>
            <a:off x="5187574" y="2286000"/>
            <a:ext cx="1816547" cy="237744"/>
          </a:xfrm>
          <a:prstGeom prst="rect">
            <a:avLst/>
          </a:prstGeom>
          <a:noFill/>
          <a:ln/>
        </p:spPr>
        <p:txBody>
          <a:bodyPr wrap="square" lIns="0" tIns="0" rIns="0" bIns="0" rtlCol="0" anchor="ctr"/>
          <a:lstStyle/>
          <a:p>
            <a:pPr marL="0" indent="0" algn="ctr">
              <a:buNone/>
            </a:pPr>
            <a:r>
              <a:rPr lang="en-US" sz="1100" b="1">
                <a:solidFill>
                  <a:srgbClr val="1D7874"/>
                </a:solidFill>
                <a:latin typeface="Cambria" pitchFamily="34" charset="0"/>
                <a:ea typeface="Cambria" pitchFamily="34" charset="-122"/>
                <a:cs typeface="Cambria" pitchFamily="34" charset="-120"/>
              </a:rPr>
              <a:t>20.08.2026</a:t>
            </a:r>
            <a:endParaRPr lang="en-US" sz="1100"/>
          </a:p>
        </p:txBody>
      </p:sp>
      <p:sp>
        <p:nvSpPr>
          <p:cNvPr id="25" name="Text 23"/>
          <p:cNvSpPr/>
          <p:nvPr/>
        </p:nvSpPr>
        <p:spPr>
          <a:xfrm>
            <a:off x="5187574" y="2560320"/>
            <a:ext cx="1816547" cy="713232"/>
          </a:xfrm>
          <a:prstGeom prst="rect">
            <a:avLst/>
          </a:prstGeom>
          <a:noFill/>
          <a:ln/>
        </p:spPr>
        <p:txBody>
          <a:bodyPr wrap="square" lIns="0" tIns="0" rIns="0" bIns="0" rtlCol="0" anchor="t"/>
          <a:lstStyle/>
          <a:p>
            <a:pPr marL="0" indent="0" algn="ctr">
              <a:lnSpc>
                <a:spcPts val="1500"/>
              </a:lnSpc>
              <a:buNone/>
            </a:pPr>
            <a:r>
              <a:rPr lang="en-US" sz="1250" b="1">
                <a:solidFill>
                  <a:srgbClr val="12212F"/>
                </a:solidFill>
                <a:latin typeface="Century Schoolbook" pitchFamily="34" charset="0"/>
                <a:ea typeface="Century Schoolbook" pitchFamily="34" charset="-122"/>
                <a:cs typeface="Century Schoolbook" pitchFamily="34" charset="-120"/>
              </a:rPr>
              <a:t>Primera nacionalización parcial</a:t>
            </a:r>
            <a:endParaRPr lang="en-US" sz="1250"/>
          </a:p>
        </p:txBody>
      </p:sp>
      <p:sp>
        <p:nvSpPr>
          <p:cNvPr id="26" name="Text 24"/>
          <p:cNvSpPr/>
          <p:nvPr/>
        </p:nvSpPr>
        <p:spPr>
          <a:xfrm>
            <a:off x="5187574" y="3328416"/>
            <a:ext cx="1816547" cy="804672"/>
          </a:xfrm>
          <a:prstGeom prst="rect">
            <a:avLst/>
          </a:prstGeom>
          <a:noFill/>
          <a:ln/>
        </p:spPr>
        <p:txBody>
          <a:bodyPr wrap="square" lIns="0" tIns="0" rIns="0" bIns="0" rtlCol="0" anchor="t"/>
          <a:lstStyle/>
          <a:p>
            <a:pPr marL="0" indent="0" algn="l">
              <a:lnSpc>
                <a:spcPts val="1300"/>
              </a:lnSpc>
              <a:buNone/>
            </a:pPr>
            <a:r>
              <a:rPr lang="en-US" sz="1050">
                <a:solidFill>
                  <a:srgbClr val="12212F"/>
                </a:solidFill>
                <a:latin typeface="Cambria" pitchFamily="34" charset="0"/>
                <a:ea typeface="Cambria" pitchFamily="34" charset="-122"/>
                <a:cs typeface="Cambria" pitchFamily="34" charset="-120"/>
              </a:rPr>
              <a:t>Se nacionalizan 4 unidades. La garantía se reduce al saldo de 14 unidades.</a:t>
            </a:r>
            <a:endParaRPr lang="en-US" sz="1050"/>
          </a:p>
        </p:txBody>
      </p:sp>
      <p:sp>
        <p:nvSpPr>
          <p:cNvPr id="27" name="Text 25"/>
          <p:cNvSpPr/>
          <p:nvPr/>
        </p:nvSpPr>
        <p:spPr>
          <a:xfrm>
            <a:off x="5187574" y="4187952"/>
            <a:ext cx="1816547" cy="201168"/>
          </a:xfrm>
          <a:prstGeom prst="rect">
            <a:avLst/>
          </a:prstGeom>
          <a:noFill/>
          <a:ln/>
        </p:spPr>
        <p:txBody>
          <a:bodyPr wrap="square" lIns="0" tIns="0" rIns="0" bIns="0" rtlCol="0" anchor="ctr"/>
          <a:lstStyle/>
          <a:p>
            <a:pPr marL="0" indent="0">
              <a:buNone/>
            </a:pPr>
            <a:r>
              <a:rPr lang="en-US" sz="850" b="1" kern="0" spc="100">
                <a:solidFill>
                  <a:srgbClr val="44586A"/>
                </a:solidFill>
                <a:latin typeface="Cambria" pitchFamily="34" charset="0"/>
                <a:ea typeface="Cambria" pitchFamily="34" charset="-122"/>
                <a:cs typeface="Cambria" pitchFamily="34" charset="-120"/>
              </a:rPr>
              <a:t>DOCUMENTOS</a:t>
            </a:r>
            <a:endParaRPr lang="en-US" sz="850"/>
          </a:p>
        </p:txBody>
      </p:sp>
      <p:sp>
        <p:nvSpPr>
          <p:cNvPr id="28" name="Text 26"/>
          <p:cNvSpPr/>
          <p:nvPr/>
        </p:nvSpPr>
        <p:spPr>
          <a:xfrm>
            <a:off x="5187574" y="4425696"/>
            <a:ext cx="1816547" cy="1371600"/>
          </a:xfrm>
          <a:prstGeom prst="rect">
            <a:avLst/>
          </a:prstGeom>
          <a:noFill/>
          <a:ln/>
        </p:spPr>
        <p:txBody>
          <a:bodyPr wrap="square" lIns="0" tIns="0" rIns="0" bIns="0" rtlCol="0" anchor="t"/>
          <a:lstStyle/>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DAM Importación para el Consumo</a:t>
            </a:r>
            <a:endParaRPr lang="en-US" sz="1000"/>
          </a:p>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1.ª renovación de Carta Fianza</a:t>
            </a:r>
            <a:endParaRPr lang="en-US" sz="1000"/>
          </a:p>
        </p:txBody>
      </p:sp>
      <p:sp>
        <p:nvSpPr>
          <p:cNvPr id="29" name="Shape 27"/>
          <p:cNvSpPr/>
          <p:nvPr/>
        </p:nvSpPr>
        <p:spPr>
          <a:xfrm>
            <a:off x="8095275" y="1499616"/>
            <a:ext cx="512064" cy="512064"/>
          </a:xfrm>
          <a:prstGeom prst="ellipse">
            <a:avLst/>
          </a:prstGeom>
          <a:solidFill>
            <a:srgbClr val="1D7874"/>
          </a:solidFill>
          <a:ln w="12700">
            <a:solidFill>
              <a:srgbClr val="1D7874"/>
            </a:solidFill>
            <a:prstDash val="solid"/>
          </a:ln>
        </p:spPr>
        <p:txBody>
          <a:bodyPr/>
          <a:lstStyle/>
          <a:p>
            <a:endParaRPr lang="es-PE"/>
          </a:p>
        </p:txBody>
      </p:sp>
      <p:sp>
        <p:nvSpPr>
          <p:cNvPr id="30" name="Text 28"/>
          <p:cNvSpPr/>
          <p:nvPr/>
        </p:nvSpPr>
        <p:spPr>
          <a:xfrm>
            <a:off x="8095275" y="1499616"/>
            <a:ext cx="512064" cy="512064"/>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4</a:t>
            </a:r>
            <a:endParaRPr lang="en-US" sz="1400"/>
          </a:p>
        </p:txBody>
      </p:sp>
      <p:sp>
        <p:nvSpPr>
          <p:cNvPr id="31" name="Shape 29"/>
          <p:cNvSpPr/>
          <p:nvPr/>
        </p:nvSpPr>
        <p:spPr>
          <a:xfrm>
            <a:off x="7315017" y="2139696"/>
            <a:ext cx="2072579" cy="3401568"/>
          </a:xfrm>
          <a:prstGeom prst="roundRect">
            <a:avLst>
              <a:gd name="adj" fmla="val 2647"/>
            </a:avLst>
          </a:prstGeom>
          <a:solidFill>
            <a:srgbClr val="FFFFFF"/>
          </a:solidFill>
          <a:ln w="12700">
            <a:solidFill>
              <a:srgbClr val="C9D8E2"/>
            </a:solidFill>
            <a:prstDash val="solid"/>
          </a:ln>
        </p:spPr>
        <p:txBody>
          <a:bodyPr/>
          <a:lstStyle/>
          <a:p>
            <a:endParaRPr lang="es-PE"/>
          </a:p>
        </p:txBody>
      </p:sp>
      <p:sp>
        <p:nvSpPr>
          <p:cNvPr id="32" name="Text 30"/>
          <p:cNvSpPr/>
          <p:nvPr/>
        </p:nvSpPr>
        <p:spPr>
          <a:xfrm>
            <a:off x="7443033" y="2286000"/>
            <a:ext cx="1816547" cy="237744"/>
          </a:xfrm>
          <a:prstGeom prst="rect">
            <a:avLst/>
          </a:prstGeom>
          <a:noFill/>
          <a:ln/>
        </p:spPr>
        <p:txBody>
          <a:bodyPr wrap="square" lIns="0" tIns="0" rIns="0" bIns="0" rtlCol="0" anchor="ctr"/>
          <a:lstStyle/>
          <a:p>
            <a:pPr marL="0" indent="0" algn="ctr">
              <a:buNone/>
            </a:pPr>
            <a:r>
              <a:rPr lang="en-US" sz="1100" b="1">
                <a:solidFill>
                  <a:srgbClr val="1D7874"/>
                </a:solidFill>
                <a:latin typeface="Cambria" pitchFamily="34" charset="0"/>
                <a:ea typeface="Cambria" pitchFamily="34" charset="-122"/>
                <a:cs typeface="Cambria" pitchFamily="34" charset="-120"/>
              </a:rPr>
              <a:t>29.08.2026</a:t>
            </a:r>
            <a:endParaRPr lang="en-US" sz="1100"/>
          </a:p>
        </p:txBody>
      </p:sp>
      <p:sp>
        <p:nvSpPr>
          <p:cNvPr id="33" name="Text 31"/>
          <p:cNvSpPr/>
          <p:nvPr/>
        </p:nvSpPr>
        <p:spPr>
          <a:xfrm>
            <a:off x="7443033" y="2560320"/>
            <a:ext cx="1816547" cy="713232"/>
          </a:xfrm>
          <a:prstGeom prst="rect">
            <a:avLst/>
          </a:prstGeom>
          <a:noFill/>
          <a:ln/>
        </p:spPr>
        <p:txBody>
          <a:bodyPr wrap="square" lIns="0" tIns="0" rIns="0" bIns="0" rtlCol="0" anchor="t"/>
          <a:lstStyle/>
          <a:p>
            <a:pPr marL="0" indent="0" algn="ctr">
              <a:lnSpc>
                <a:spcPts val="1500"/>
              </a:lnSpc>
              <a:buNone/>
            </a:pPr>
            <a:r>
              <a:rPr lang="en-US" sz="1250" b="1">
                <a:solidFill>
                  <a:srgbClr val="12212F"/>
                </a:solidFill>
                <a:latin typeface="Century Schoolbook" pitchFamily="34" charset="0"/>
                <a:ea typeface="Century Schoolbook" pitchFamily="34" charset="-122"/>
                <a:cs typeface="Century Schoolbook" pitchFamily="34" charset="-120"/>
              </a:rPr>
              <a:t>Segunda nacionalización parcial</a:t>
            </a:r>
            <a:endParaRPr lang="en-US" sz="1250"/>
          </a:p>
        </p:txBody>
      </p:sp>
      <p:sp>
        <p:nvSpPr>
          <p:cNvPr id="34" name="Text 32"/>
          <p:cNvSpPr/>
          <p:nvPr/>
        </p:nvSpPr>
        <p:spPr>
          <a:xfrm>
            <a:off x="7443033" y="3328416"/>
            <a:ext cx="1816547" cy="804672"/>
          </a:xfrm>
          <a:prstGeom prst="rect">
            <a:avLst/>
          </a:prstGeom>
          <a:noFill/>
          <a:ln/>
        </p:spPr>
        <p:txBody>
          <a:bodyPr wrap="square" lIns="0" tIns="0" rIns="0" bIns="0" rtlCol="0" anchor="t"/>
          <a:lstStyle/>
          <a:p>
            <a:pPr marL="0" indent="0" algn="l">
              <a:lnSpc>
                <a:spcPts val="1300"/>
              </a:lnSpc>
              <a:buNone/>
            </a:pPr>
            <a:r>
              <a:rPr lang="en-US" sz="1050">
                <a:solidFill>
                  <a:srgbClr val="12212F"/>
                </a:solidFill>
                <a:latin typeface="Cambria" pitchFamily="34" charset="0"/>
                <a:ea typeface="Cambria" pitchFamily="34" charset="-122"/>
                <a:cs typeface="Cambria" pitchFamily="34" charset="-120"/>
              </a:rPr>
              <a:t>Se nacionalizan 6 unidades más. Quedan 8 unidades bajo el régimen.</a:t>
            </a:r>
            <a:endParaRPr lang="en-US" sz="1050"/>
          </a:p>
        </p:txBody>
      </p:sp>
      <p:sp>
        <p:nvSpPr>
          <p:cNvPr id="35" name="Text 33"/>
          <p:cNvSpPr/>
          <p:nvPr/>
        </p:nvSpPr>
        <p:spPr>
          <a:xfrm>
            <a:off x="7443033" y="4187952"/>
            <a:ext cx="1816547" cy="201168"/>
          </a:xfrm>
          <a:prstGeom prst="rect">
            <a:avLst/>
          </a:prstGeom>
          <a:noFill/>
          <a:ln/>
        </p:spPr>
        <p:txBody>
          <a:bodyPr wrap="square" lIns="0" tIns="0" rIns="0" bIns="0" rtlCol="0" anchor="ctr"/>
          <a:lstStyle/>
          <a:p>
            <a:pPr marL="0" indent="0">
              <a:buNone/>
            </a:pPr>
            <a:r>
              <a:rPr lang="en-US" sz="850" b="1" kern="0" spc="100">
                <a:solidFill>
                  <a:srgbClr val="44586A"/>
                </a:solidFill>
                <a:latin typeface="Cambria" pitchFamily="34" charset="0"/>
                <a:ea typeface="Cambria" pitchFamily="34" charset="-122"/>
                <a:cs typeface="Cambria" pitchFamily="34" charset="-120"/>
              </a:rPr>
              <a:t>DOCUMENTOS</a:t>
            </a:r>
            <a:endParaRPr lang="en-US" sz="850"/>
          </a:p>
        </p:txBody>
      </p:sp>
      <p:sp>
        <p:nvSpPr>
          <p:cNvPr id="36" name="Text 34"/>
          <p:cNvSpPr/>
          <p:nvPr/>
        </p:nvSpPr>
        <p:spPr>
          <a:xfrm>
            <a:off x="7443033" y="4425696"/>
            <a:ext cx="1816547" cy="1371600"/>
          </a:xfrm>
          <a:prstGeom prst="rect">
            <a:avLst/>
          </a:prstGeom>
          <a:noFill/>
          <a:ln/>
        </p:spPr>
        <p:txBody>
          <a:bodyPr wrap="square" lIns="0" tIns="0" rIns="0" bIns="0" rtlCol="0" anchor="t"/>
          <a:lstStyle/>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DAM Importación para el Consumo</a:t>
            </a:r>
            <a:endParaRPr lang="en-US" sz="1000"/>
          </a:p>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2.ª renovación de Carta Fianza</a:t>
            </a:r>
            <a:endParaRPr lang="en-US" sz="1000"/>
          </a:p>
        </p:txBody>
      </p:sp>
      <p:sp>
        <p:nvSpPr>
          <p:cNvPr id="37" name="Shape 35"/>
          <p:cNvSpPr/>
          <p:nvPr/>
        </p:nvSpPr>
        <p:spPr>
          <a:xfrm>
            <a:off x="10350734" y="1499616"/>
            <a:ext cx="512064" cy="512064"/>
          </a:xfrm>
          <a:prstGeom prst="ellipse">
            <a:avLst/>
          </a:prstGeom>
          <a:solidFill>
            <a:srgbClr val="1D7874"/>
          </a:solidFill>
          <a:ln w="12700">
            <a:solidFill>
              <a:srgbClr val="1D7874"/>
            </a:solidFill>
            <a:prstDash val="solid"/>
          </a:ln>
        </p:spPr>
        <p:txBody>
          <a:bodyPr/>
          <a:lstStyle/>
          <a:p>
            <a:endParaRPr lang="es-PE"/>
          </a:p>
        </p:txBody>
      </p:sp>
      <p:sp>
        <p:nvSpPr>
          <p:cNvPr id="38" name="Text 36"/>
          <p:cNvSpPr/>
          <p:nvPr/>
        </p:nvSpPr>
        <p:spPr>
          <a:xfrm>
            <a:off x="10350734" y="1499616"/>
            <a:ext cx="512064" cy="512064"/>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5</a:t>
            </a:r>
            <a:endParaRPr lang="en-US" sz="1400"/>
          </a:p>
        </p:txBody>
      </p:sp>
      <p:sp>
        <p:nvSpPr>
          <p:cNvPr id="39" name="Shape 37"/>
          <p:cNvSpPr/>
          <p:nvPr/>
        </p:nvSpPr>
        <p:spPr>
          <a:xfrm>
            <a:off x="9570476" y="2139696"/>
            <a:ext cx="2072579" cy="3401568"/>
          </a:xfrm>
          <a:prstGeom prst="roundRect">
            <a:avLst>
              <a:gd name="adj" fmla="val 2647"/>
            </a:avLst>
          </a:prstGeom>
          <a:solidFill>
            <a:srgbClr val="F1F6F9"/>
          </a:solidFill>
          <a:ln w="12700">
            <a:solidFill>
              <a:srgbClr val="C9D8E2"/>
            </a:solidFill>
            <a:prstDash val="solid"/>
          </a:ln>
        </p:spPr>
        <p:txBody>
          <a:bodyPr/>
          <a:lstStyle/>
          <a:p>
            <a:endParaRPr lang="es-PE"/>
          </a:p>
        </p:txBody>
      </p:sp>
      <p:sp>
        <p:nvSpPr>
          <p:cNvPr id="40" name="Text 38"/>
          <p:cNvSpPr/>
          <p:nvPr/>
        </p:nvSpPr>
        <p:spPr>
          <a:xfrm>
            <a:off x="9698492" y="2286000"/>
            <a:ext cx="1816547" cy="237744"/>
          </a:xfrm>
          <a:prstGeom prst="rect">
            <a:avLst/>
          </a:prstGeom>
          <a:noFill/>
          <a:ln/>
        </p:spPr>
        <p:txBody>
          <a:bodyPr wrap="square" lIns="0" tIns="0" rIns="0" bIns="0" rtlCol="0" anchor="ctr"/>
          <a:lstStyle/>
          <a:p>
            <a:pPr marL="0" indent="0" algn="ctr">
              <a:buNone/>
            </a:pPr>
            <a:r>
              <a:rPr lang="en-US" sz="1100" b="1">
                <a:solidFill>
                  <a:srgbClr val="1D7874"/>
                </a:solidFill>
                <a:latin typeface="Cambria" pitchFamily="34" charset="0"/>
                <a:ea typeface="Cambria" pitchFamily="34" charset="-122"/>
                <a:cs typeface="Cambria" pitchFamily="34" charset="-120"/>
              </a:rPr>
              <a:t>hasta 05.02.2028</a:t>
            </a:r>
            <a:endParaRPr lang="en-US" sz="1100"/>
          </a:p>
        </p:txBody>
      </p:sp>
      <p:sp>
        <p:nvSpPr>
          <p:cNvPr id="41" name="Text 39"/>
          <p:cNvSpPr/>
          <p:nvPr/>
        </p:nvSpPr>
        <p:spPr>
          <a:xfrm>
            <a:off x="9698492" y="2560320"/>
            <a:ext cx="1816547" cy="713232"/>
          </a:xfrm>
          <a:prstGeom prst="rect">
            <a:avLst/>
          </a:prstGeom>
          <a:noFill/>
          <a:ln/>
        </p:spPr>
        <p:txBody>
          <a:bodyPr wrap="square" lIns="0" tIns="0" rIns="0" bIns="0" rtlCol="0" anchor="t"/>
          <a:lstStyle/>
          <a:p>
            <a:pPr marL="0" indent="0" algn="ctr">
              <a:lnSpc>
                <a:spcPts val="1500"/>
              </a:lnSpc>
              <a:buNone/>
            </a:pPr>
            <a:r>
              <a:rPr lang="en-US" sz="1250" b="1">
                <a:solidFill>
                  <a:srgbClr val="12212F"/>
                </a:solidFill>
                <a:latin typeface="Century Schoolbook" pitchFamily="34" charset="0"/>
                <a:ea typeface="Century Schoolbook" pitchFamily="34" charset="-122"/>
                <a:cs typeface="Century Schoolbook" pitchFamily="34" charset="-120"/>
              </a:rPr>
              <a:t>Reexportación final a Bolivia</a:t>
            </a:r>
            <a:endParaRPr lang="en-US" sz="1250"/>
          </a:p>
        </p:txBody>
      </p:sp>
      <p:sp>
        <p:nvSpPr>
          <p:cNvPr id="42" name="Text 40"/>
          <p:cNvSpPr/>
          <p:nvPr/>
        </p:nvSpPr>
        <p:spPr>
          <a:xfrm>
            <a:off x="9698492" y="3328416"/>
            <a:ext cx="1816547" cy="804672"/>
          </a:xfrm>
          <a:prstGeom prst="rect">
            <a:avLst/>
          </a:prstGeom>
          <a:noFill/>
          <a:ln/>
        </p:spPr>
        <p:txBody>
          <a:bodyPr wrap="square" lIns="0" tIns="0" rIns="0" bIns="0" rtlCol="0" anchor="t"/>
          <a:lstStyle/>
          <a:p>
            <a:pPr marL="0" indent="0" algn="l">
              <a:lnSpc>
                <a:spcPts val="1300"/>
              </a:lnSpc>
              <a:buNone/>
            </a:pPr>
            <a:r>
              <a:rPr lang="en-US" sz="1050">
                <a:solidFill>
                  <a:srgbClr val="12212F"/>
                </a:solidFill>
                <a:latin typeface="Cambria" pitchFamily="34" charset="0"/>
                <a:ea typeface="Cambria" pitchFamily="34" charset="-122"/>
                <a:cs typeface="Cambria" pitchFamily="34" charset="-120"/>
              </a:rPr>
              <a:t>Las 8 unidades restantes se venden a un comprador boliviano y se reexportan en el mismo estado.</a:t>
            </a:r>
            <a:endParaRPr lang="en-US" sz="1050"/>
          </a:p>
        </p:txBody>
      </p:sp>
      <p:sp>
        <p:nvSpPr>
          <p:cNvPr id="43" name="Text 41"/>
          <p:cNvSpPr/>
          <p:nvPr/>
        </p:nvSpPr>
        <p:spPr>
          <a:xfrm>
            <a:off x="9698492" y="4187952"/>
            <a:ext cx="1816547" cy="201168"/>
          </a:xfrm>
          <a:prstGeom prst="rect">
            <a:avLst/>
          </a:prstGeom>
          <a:noFill/>
          <a:ln/>
        </p:spPr>
        <p:txBody>
          <a:bodyPr wrap="square" lIns="0" tIns="0" rIns="0" bIns="0" rtlCol="0" anchor="ctr"/>
          <a:lstStyle/>
          <a:p>
            <a:pPr marL="0" indent="0">
              <a:buNone/>
            </a:pPr>
            <a:r>
              <a:rPr lang="en-US" sz="850" b="1" kern="0" spc="100">
                <a:solidFill>
                  <a:srgbClr val="44586A"/>
                </a:solidFill>
                <a:latin typeface="Cambria" pitchFamily="34" charset="0"/>
                <a:ea typeface="Cambria" pitchFamily="34" charset="-122"/>
                <a:cs typeface="Cambria" pitchFamily="34" charset="-120"/>
              </a:rPr>
              <a:t>DOCUMENTOS</a:t>
            </a:r>
            <a:endParaRPr lang="en-US" sz="850"/>
          </a:p>
        </p:txBody>
      </p:sp>
      <p:sp>
        <p:nvSpPr>
          <p:cNvPr id="44" name="Text 42"/>
          <p:cNvSpPr/>
          <p:nvPr/>
        </p:nvSpPr>
        <p:spPr>
          <a:xfrm>
            <a:off x="9698492" y="4425696"/>
            <a:ext cx="1816547" cy="1371600"/>
          </a:xfrm>
          <a:prstGeom prst="rect">
            <a:avLst/>
          </a:prstGeom>
          <a:noFill/>
          <a:ln/>
        </p:spPr>
        <p:txBody>
          <a:bodyPr wrap="square" lIns="0" tIns="0" rIns="0" bIns="0" rtlCol="0" anchor="t"/>
          <a:lstStyle/>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DAM de Reexportación</a:t>
            </a:r>
            <a:endParaRPr lang="en-US" sz="1000"/>
          </a:p>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Contrato de compraventa (Bolivia)</a:t>
            </a:r>
            <a:endParaRPr lang="en-US" sz="1000"/>
          </a:p>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Devolución de la garantía</a:t>
            </a:r>
            <a:endParaRPr lang="en-US" sz="1000"/>
          </a:p>
        </p:txBody>
      </p:sp>
      <p:sp>
        <p:nvSpPr>
          <p:cNvPr id="45" name="Text 43"/>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Cada nacionalización parcial genera dos documentos: la declaración que paga los tributos y la nueva garantía por el saldo.</a:t>
            </a:r>
            <a:endParaRPr lang="en-US" sz="950"/>
          </a:p>
        </p:txBody>
      </p:sp>
      <p:sp>
        <p:nvSpPr>
          <p:cNvPr id="46" name="Text 44"/>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ERIC MOZOMBITE</a:t>
            </a:r>
            <a:endParaRPr lang="en-US" sz="850"/>
          </a:p>
        </p:txBody>
      </p:sp>
      <p:sp>
        <p:nvSpPr>
          <p:cNvPr id="47" name="Text 45"/>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9</a:t>
            </a:r>
            <a:endParaRPr lang="en-US" sz="9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1D7874"/>
                </a:solidFill>
                <a:latin typeface="Cambria" pitchFamily="34" charset="0"/>
                <a:ea typeface="Cambria" pitchFamily="34" charset="-122"/>
                <a:cs typeface="Cambria" pitchFamily="34" charset="-120"/>
              </a:rPr>
              <a:t>CASO 1</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Nacionalizaciones parciales y renovación de la garantía</a:t>
            </a:r>
            <a:endParaRPr lang="en-US" sz="300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1371600">
                  <a:extLst>
                    <a:ext uri="{9D8B030D-6E8A-4147-A177-3AD203B41FA5}">
                      <a16:colId xmlns:a16="http://schemas.microsoft.com/office/drawing/2014/main" val="20000"/>
                    </a:ext>
                  </a:extLst>
                </a:gridCol>
                <a:gridCol w="3322015">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691640">
                  <a:extLst>
                    <a:ext uri="{9D8B030D-6E8A-4147-A177-3AD203B41FA5}">
                      <a16:colId xmlns:a16="http://schemas.microsoft.com/office/drawing/2014/main" val="20005"/>
                    </a:ext>
                  </a:extLst>
                </a:gridCol>
              </a:tblGrid>
              <a:tr h="438912">
                <a:tc>
                  <a:txBody>
                    <a:bodyPr/>
                    <a:lstStyle/>
                    <a:p>
                      <a:pPr marL="0" indent="0" algn="l">
                        <a:buNone/>
                      </a:pPr>
                      <a:r>
                        <a:rPr lang="en-US" sz="1200" b="1">
                          <a:solidFill>
                            <a:srgbClr val="FFFFFF"/>
                          </a:solidFill>
                          <a:latin typeface="Century Schoolbook" pitchFamily="34" charset="0"/>
                          <a:ea typeface="Century Schoolbook" pitchFamily="34" charset="-122"/>
                          <a:cs typeface="Century Schoolbook" pitchFamily="34" charset="-120"/>
                        </a:rPr>
                        <a:t>Fecha</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tc>
                  <a:txBody>
                    <a:bodyPr/>
                    <a:lstStyle/>
                    <a:p>
                      <a:pPr marL="0" indent="0" algn="l">
                        <a:buNone/>
                      </a:pPr>
                      <a:r>
                        <a:rPr lang="en-US" sz="1200" b="1">
                          <a:solidFill>
                            <a:srgbClr val="FFFFFF"/>
                          </a:solidFill>
                          <a:latin typeface="Century Schoolbook" pitchFamily="34" charset="0"/>
                          <a:ea typeface="Century Schoolbook" pitchFamily="34" charset="-122"/>
                          <a:cs typeface="Century Schoolbook" pitchFamily="34" charset="-120"/>
                        </a:rPr>
                        <a:t>Evento</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tc>
                  <a:txBody>
                    <a:bodyPr/>
                    <a:lstStyle/>
                    <a:p>
                      <a:pPr marL="0" indent="0" algn="ctr">
                        <a:buNone/>
                      </a:pPr>
                      <a:r>
                        <a:rPr lang="en-US" sz="1200" b="1">
                          <a:solidFill>
                            <a:srgbClr val="FFFFFF"/>
                          </a:solidFill>
                          <a:latin typeface="Century Schoolbook" pitchFamily="34" charset="0"/>
                          <a:ea typeface="Century Schoolbook" pitchFamily="34" charset="-122"/>
                          <a:cs typeface="Century Schoolbook" pitchFamily="34" charset="-120"/>
                        </a:rPr>
                        <a:t>Unid. nacionalizadas</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tc>
                  <a:txBody>
                    <a:bodyPr/>
                    <a:lstStyle/>
                    <a:p>
                      <a:pPr marL="0" indent="0" algn="ctr">
                        <a:buNone/>
                      </a:pPr>
                      <a:r>
                        <a:rPr lang="en-US" sz="1200" b="1">
                          <a:solidFill>
                            <a:srgbClr val="FFFFFF"/>
                          </a:solidFill>
                          <a:latin typeface="Century Schoolbook" pitchFamily="34" charset="0"/>
                          <a:ea typeface="Century Schoolbook" pitchFamily="34" charset="-122"/>
                          <a:cs typeface="Century Schoolbook" pitchFamily="34" charset="-120"/>
                        </a:rPr>
                        <a:t>Saldo admitido</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tc>
                  <a:txBody>
                    <a:bodyPr/>
                    <a:lstStyle/>
                    <a:p>
                      <a:pPr marL="0" indent="0" algn="r">
                        <a:buNone/>
                      </a:pPr>
                      <a:r>
                        <a:rPr lang="en-US" sz="1200" b="1">
                          <a:solidFill>
                            <a:srgbClr val="FFFFFF"/>
                          </a:solidFill>
                          <a:latin typeface="Century Schoolbook" pitchFamily="34" charset="0"/>
                          <a:ea typeface="Century Schoolbook" pitchFamily="34" charset="-122"/>
                          <a:cs typeface="Century Schoolbook" pitchFamily="34" charset="-120"/>
                        </a:rPr>
                        <a:t>Tributos pagados US$</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tc>
                  <a:txBody>
                    <a:bodyPr/>
                    <a:lstStyle/>
                    <a:p>
                      <a:pPr marL="0" indent="0" algn="r">
                        <a:buNone/>
                      </a:pPr>
                      <a:r>
                        <a:rPr lang="en-US" sz="1200" b="1">
                          <a:solidFill>
                            <a:srgbClr val="FFFFFF"/>
                          </a:solidFill>
                          <a:latin typeface="Century Schoolbook" pitchFamily="34" charset="0"/>
                          <a:ea typeface="Century Schoolbook" pitchFamily="34" charset="-122"/>
                          <a:cs typeface="Century Schoolbook" pitchFamily="34" charset="-120"/>
                        </a:rPr>
                        <a:t>Nueva garantía US$</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38912">
                <a:tc>
                  <a:txBody>
                    <a:bodyPr/>
                    <a:lstStyle/>
                    <a:p>
                      <a:pPr marL="0" indent="0" algn="l">
                        <a:buNone/>
                      </a:pPr>
                      <a:r>
                        <a:rPr lang="en-US" sz="1200">
                          <a:solidFill>
                            <a:srgbClr val="12212F"/>
                          </a:solidFill>
                          <a:latin typeface="Cambria" pitchFamily="34" charset="0"/>
                          <a:ea typeface="Cambria" pitchFamily="34" charset="-122"/>
                          <a:cs typeface="Cambria" pitchFamily="34" charset="-120"/>
                        </a:rPr>
                        <a:t>05.08.2026</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a:solidFill>
                            <a:srgbClr val="12212F"/>
                          </a:solidFill>
                          <a:latin typeface="Cambria" pitchFamily="34" charset="0"/>
                          <a:ea typeface="Cambria" pitchFamily="34" charset="-122"/>
                          <a:cs typeface="Cambria" pitchFamily="34" charset="-120"/>
                        </a:rPr>
                        <a:t>Numeración de la Admisión Temporal</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200">
                          <a:solidFill>
                            <a:srgbClr val="12212F"/>
                          </a:solidFill>
                          <a:latin typeface="Cambria" pitchFamily="34" charset="0"/>
                          <a:ea typeface="Cambria" pitchFamily="34" charset="-122"/>
                          <a:cs typeface="Cambria" pitchFamily="34" charset="-120"/>
                        </a:rPr>
                        <a:t>—</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200" b="1">
                          <a:solidFill>
                            <a:srgbClr val="12212F"/>
                          </a:solidFill>
                          <a:latin typeface="Cambria" pitchFamily="34" charset="0"/>
                          <a:ea typeface="Cambria" pitchFamily="34" charset="-122"/>
                          <a:cs typeface="Cambria" pitchFamily="34" charset="-120"/>
                        </a:rPr>
                        <a:t>18</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a:solidFill>
                            <a:srgbClr val="12212F"/>
                          </a:solidFill>
                          <a:latin typeface="Cambria" pitchFamily="34" charset="0"/>
                          <a:ea typeface="Cambria" pitchFamily="34" charset="-122"/>
                          <a:cs typeface="Cambria" pitchFamily="34" charset="-120"/>
                        </a:rPr>
                        <a:t>—</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b="1">
                          <a:solidFill>
                            <a:srgbClr val="1D7874"/>
                          </a:solidFill>
                          <a:latin typeface="Cambria" pitchFamily="34" charset="0"/>
                          <a:ea typeface="Cambria" pitchFamily="34" charset="-122"/>
                          <a:cs typeface="Cambria" pitchFamily="34" charset="-120"/>
                        </a:rPr>
                        <a:t>279,892.80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200">
                          <a:solidFill>
                            <a:srgbClr val="12212F"/>
                          </a:solidFill>
                          <a:latin typeface="Cambria" pitchFamily="34" charset="0"/>
                          <a:ea typeface="Cambria" pitchFamily="34" charset="-122"/>
                          <a:cs typeface="Cambria" pitchFamily="34" charset="-120"/>
                        </a:rPr>
                        <a:t>20.08.2026</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l">
                        <a:buNone/>
                      </a:pPr>
                      <a:r>
                        <a:rPr lang="en-US" sz="1200">
                          <a:solidFill>
                            <a:srgbClr val="12212F"/>
                          </a:solidFill>
                          <a:latin typeface="Cambria" pitchFamily="34" charset="0"/>
                          <a:ea typeface="Cambria" pitchFamily="34" charset="-122"/>
                          <a:cs typeface="Cambria" pitchFamily="34" charset="-120"/>
                        </a:rPr>
                        <a:t>1.ª nacionalización parcial</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ctr">
                        <a:buNone/>
                      </a:pPr>
                      <a:r>
                        <a:rPr lang="en-US" sz="1200" b="1">
                          <a:solidFill>
                            <a:srgbClr val="12212F"/>
                          </a:solidFill>
                          <a:latin typeface="Cambria" pitchFamily="34" charset="0"/>
                          <a:ea typeface="Cambria" pitchFamily="34" charset="-122"/>
                          <a:cs typeface="Cambria" pitchFamily="34" charset="-120"/>
                        </a:rPr>
                        <a:t>4</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ctr">
                        <a:buNone/>
                      </a:pPr>
                      <a:r>
                        <a:rPr lang="en-US" sz="1200" b="1">
                          <a:solidFill>
                            <a:srgbClr val="12212F"/>
                          </a:solidFill>
                          <a:latin typeface="Cambria" pitchFamily="34" charset="0"/>
                          <a:ea typeface="Cambria" pitchFamily="34" charset="-122"/>
                          <a:cs typeface="Cambria" pitchFamily="34" charset="-120"/>
                        </a:rPr>
                        <a:t>14</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r">
                        <a:buNone/>
                      </a:pPr>
                      <a:r>
                        <a:rPr lang="en-US" sz="1200">
                          <a:solidFill>
                            <a:srgbClr val="12212F"/>
                          </a:solidFill>
                          <a:latin typeface="Cambria" pitchFamily="34" charset="0"/>
                          <a:ea typeface="Cambria" pitchFamily="34" charset="-122"/>
                          <a:cs typeface="Cambria" pitchFamily="34" charset="-120"/>
                        </a:rPr>
                        <a:t>62,198.40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r">
                        <a:buNone/>
                      </a:pPr>
                      <a:r>
                        <a:rPr lang="en-US" sz="1200" b="1">
                          <a:solidFill>
                            <a:srgbClr val="1D7874"/>
                          </a:solidFill>
                          <a:latin typeface="Cambria" pitchFamily="34" charset="0"/>
                          <a:ea typeface="Cambria" pitchFamily="34" charset="-122"/>
                          <a:cs typeface="Cambria" pitchFamily="34" charset="-120"/>
                        </a:rPr>
                        <a:t>217,694.40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extLst>
                  <a:ext uri="{0D108BD9-81ED-4DB2-BD59-A6C34878D82A}">
                    <a16:rowId xmlns:a16="http://schemas.microsoft.com/office/drawing/2014/main" val="10002"/>
                  </a:ext>
                </a:extLst>
              </a:tr>
              <a:tr h="438912">
                <a:tc>
                  <a:txBody>
                    <a:bodyPr/>
                    <a:lstStyle/>
                    <a:p>
                      <a:pPr marL="0" indent="0" algn="l">
                        <a:buNone/>
                      </a:pPr>
                      <a:r>
                        <a:rPr lang="en-US" sz="1200">
                          <a:solidFill>
                            <a:srgbClr val="12212F"/>
                          </a:solidFill>
                          <a:latin typeface="Cambria" pitchFamily="34" charset="0"/>
                          <a:ea typeface="Cambria" pitchFamily="34" charset="-122"/>
                          <a:cs typeface="Cambria" pitchFamily="34" charset="-120"/>
                        </a:rPr>
                        <a:t>29.08.2026</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a:solidFill>
                            <a:srgbClr val="12212F"/>
                          </a:solidFill>
                          <a:latin typeface="Cambria" pitchFamily="34" charset="0"/>
                          <a:ea typeface="Cambria" pitchFamily="34" charset="-122"/>
                          <a:cs typeface="Cambria" pitchFamily="34" charset="-120"/>
                        </a:rPr>
                        <a:t>2.ª nacionalización parcial</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200" b="1">
                          <a:solidFill>
                            <a:srgbClr val="12212F"/>
                          </a:solidFill>
                          <a:latin typeface="Cambria" pitchFamily="34" charset="0"/>
                          <a:ea typeface="Cambria" pitchFamily="34" charset="-122"/>
                          <a:cs typeface="Cambria" pitchFamily="34" charset="-120"/>
                        </a:rPr>
                        <a:t>6</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200" b="1">
                          <a:solidFill>
                            <a:srgbClr val="12212F"/>
                          </a:solidFill>
                          <a:latin typeface="Cambria" pitchFamily="34" charset="0"/>
                          <a:ea typeface="Cambria" pitchFamily="34" charset="-122"/>
                          <a:cs typeface="Cambria" pitchFamily="34" charset="-120"/>
                        </a:rPr>
                        <a:t>8</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a:solidFill>
                            <a:srgbClr val="12212F"/>
                          </a:solidFill>
                          <a:latin typeface="Cambria" pitchFamily="34" charset="0"/>
                          <a:ea typeface="Cambria" pitchFamily="34" charset="-122"/>
                          <a:cs typeface="Cambria" pitchFamily="34" charset="-120"/>
                        </a:rPr>
                        <a:t>93,297.60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b="1">
                          <a:solidFill>
                            <a:srgbClr val="1D7874"/>
                          </a:solidFill>
                          <a:latin typeface="Cambria" pitchFamily="34" charset="0"/>
                          <a:ea typeface="Cambria" pitchFamily="34" charset="-122"/>
                          <a:cs typeface="Cambria" pitchFamily="34" charset="-120"/>
                        </a:rPr>
                        <a:t>124,396.80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200" b="1">
                          <a:solidFill>
                            <a:srgbClr val="12212F"/>
                          </a:solidFill>
                          <a:latin typeface="Cambria" pitchFamily="34" charset="0"/>
                          <a:ea typeface="Cambria" pitchFamily="34" charset="-122"/>
                          <a:cs typeface="Cambria" pitchFamily="34" charset="-120"/>
                        </a:rPr>
                        <a:t>Total</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l">
                        <a:buNone/>
                      </a:pPr>
                      <a:r>
                        <a:rPr lang="en-US" sz="1200" b="1">
                          <a:solidFill>
                            <a:srgbClr val="12212F"/>
                          </a:solidFill>
                          <a:latin typeface="Cambria" pitchFamily="34" charset="0"/>
                          <a:ea typeface="Cambria" pitchFamily="34" charset="-122"/>
                          <a:cs typeface="Cambria" pitchFamily="34" charset="-120"/>
                        </a:rPr>
                        <a:t>Acumulado del período</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00" b="1">
                          <a:solidFill>
                            <a:srgbClr val="12212F"/>
                          </a:solidFill>
                          <a:latin typeface="Cambria" pitchFamily="34" charset="0"/>
                          <a:ea typeface="Cambria" pitchFamily="34" charset="-122"/>
                          <a:cs typeface="Cambria" pitchFamily="34" charset="-120"/>
                        </a:rPr>
                        <a:t>10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ctr">
                        <a:buNone/>
                      </a:pPr>
                      <a:r>
                        <a:rPr lang="en-US" sz="1200" b="1">
                          <a:solidFill>
                            <a:srgbClr val="12212F"/>
                          </a:solidFill>
                          <a:latin typeface="Cambria" pitchFamily="34" charset="0"/>
                          <a:ea typeface="Cambria" pitchFamily="34" charset="-122"/>
                          <a:cs typeface="Cambria" pitchFamily="34" charset="-120"/>
                        </a:rPr>
                        <a:t>8</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r">
                        <a:buNone/>
                      </a:pPr>
                      <a:r>
                        <a:rPr lang="en-US" sz="1200" b="1">
                          <a:solidFill>
                            <a:srgbClr val="12212F"/>
                          </a:solidFill>
                          <a:latin typeface="Cambria" pitchFamily="34" charset="0"/>
                          <a:ea typeface="Cambria" pitchFamily="34" charset="-122"/>
                          <a:cs typeface="Cambria" pitchFamily="34" charset="-120"/>
                        </a:rPr>
                        <a:t>155,496.00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r">
                        <a:buNone/>
                      </a:pPr>
                      <a:r>
                        <a:rPr lang="en-US" sz="1200" b="1">
                          <a:solidFill>
                            <a:srgbClr val="12212F"/>
                          </a:solidFill>
                          <a:latin typeface="Cambria" pitchFamily="34" charset="0"/>
                          <a:ea typeface="Cambria" pitchFamily="34" charset="-122"/>
                          <a:cs typeface="Cambria" pitchFamily="34" charset="-120"/>
                        </a:rPr>
                        <a:t>—</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4160520"/>
            <a:ext cx="5440680" cy="1828800"/>
          </a:xfrm>
          <a:prstGeom prst="roundRect">
            <a:avLst>
              <a:gd name="adj" fmla="val 3000"/>
            </a:avLst>
          </a:prstGeom>
          <a:solidFill>
            <a:srgbClr val="F1F6F9"/>
          </a:solidFill>
          <a:ln w="12700">
            <a:solidFill>
              <a:srgbClr val="C9D8E2"/>
            </a:solidFill>
            <a:prstDash val="solid"/>
          </a:ln>
        </p:spPr>
        <p:txBody>
          <a:bodyPr/>
          <a:lstStyle/>
          <a:p>
            <a:endParaRPr lang="es-PE"/>
          </a:p>
        </p:txBody>
      </p:sp>
      <p:sp>
        <p:nvSpPr>
          <p:cNvPr id="6" name="Text 3"/>
          <p:cNvSpPr/>
          <p:nvPr/>
        </p:nvSpPr>
        <p:spPr>
          <a:xfrm>
            <a:off x="822960" y="4343400"/>
            <a:ext cx="4892040" cy="256032"/>
          </a:xfrm>
          <a:prstGeom prst="rect">
            <a:avLst/>
          </a:prstGeom>
          <a:noFill/>
          <a:ln/>
        </p:spPr>
        <p:txBody>
          <a:bodyPr wrap="square" lIns="0" tIns="0" rIns="0" bIns="0" rtlCol="0" anchor="ctr"/>
          <a:lstStyle/>
          <a:p>
            <a:pPr marL="0" indent="0">
              <a:buNone/>
            </a:pPr>
            <a:r>
              <a:rPr lang="en-US" sz="950" b="1" kern="0" spc="110">
                <a:solidFill>
                  <a:srgbClr val="44586A"/>
                </a:solidFill>
                <a:latin typeface="Cambria" pitchFamily="34" charset="0"/>
                <a:ea typeface="Cambria" pitchFamily="34" charset="-122"/>
                <a:cs typeface="Cambria" pitchFamily="34" charset="-120"/>
              </a:rPr>
              <a:t>POR QUÉ SE RENUEVA LA GARANTÍA</a:t>
            </a:r>
            <a:endParaRPr lang="en-US" sz="950"/>
          </a:p>
        </p:txBody>
      </p:sp>
      <p:sp>
        <p:nvSpPr>
          <p:cNvPr id="7" name="Text 4"/>
          <p:cNvSpPr/>
          <p:nvPr/>
        </p:nvSpPr>
        <p:spPr>
          <a:xfrm>
            <a:off x="822960" y="4617720"/>
            <a:ext cx="4892040" cy="1234440"/>
          </a:xfrm>
          <a:prstGeom prst="rect">
            <a:avLst/>
          </a:prstGeom>
          <a:noFill/>
          <a:ln/>
        </p:spPr>
        <p:txBody>
          <a:bodyPr wrap="square" lIns="0" tIns="0" rIns="0" bIns="0" rtlCol="0" anchor="ctr"/>
          <a:lstStyle/>
          <a:p>
            <a:pPr marL="0" indent="0">
              <a:lnSpc>
                <a:spcPts val="1500"/>
              </a:lnSpc>
              <a:buNone/>
            </a:pPr>
            <a:r>
              <a:rPr lang="en-US" sz="1200">
                <a:solidFill>
                  <a:srgbClr val="12212F"/>
                </a:solidFill>
                <a:latin typeface="Cambria" pitchFamily="34" charset="0"/>
                <a:ea typeface="Cambria" pitchFamily="34" charset="-122"/>
                <a:cs typeface="Cambria" pitchFamily="34" charset="-120"/>
              </a:rPr>
              <a:t>Cada vez que se nacionaliza una parte de la mercancía, esas unidades ya pagaron sus tributos: dejan de estar suspendidas. Mantener la fianza original significaría garantizar una deuda que ya no existe. Por eso el banco emite una nueva carta fianza por el saldo y libera la anterior.</a:t>
            </a:r>
            <a:endParaRPr lang="en-US" sz="1200"/>
          </a:p>
        </p:txBody>
      </p:sp>
      <p:sp>
        <p:nvSpPr>
          <p:cNvPr id="8" name="Shape 5"/>
          <p:cNvSpPr/>
          <p:nvPr/>
        </p:nvSpPr>
        <p:spPr>
          <a:xfrm>
            <a:off x="6355080" y="4160520"/>
            <a:ext cx="5285232" cy="1828800"/>
          </a:xfrm>
          <a:prstGeom prst="roundRect">
            <a:avLst>
              <a:gd name="adj" fmla="val 3000"/>
            </a:avLst>
          </a:prstGeom>
          <a:solidFill>
            <a:srgbClr val="FFFFFF"/>
          </a:solidFill>
          <a:ln w="12700">
            <a:solidFill>
              <a:srgbClr val="C9D8E2"/>
            </a:solidFill>
            <a:prstDash val="solid"/>
          </a:ln>
        </p:spPr>
        <p:txBody>
          <a:bodyPr/>
          <a:lstStyle/>
          <a:p>
            <a:endParaRPr lang="es-PE"/>
          </a:p>
        </p:txBody>
      </p:sp>
      <p:sp>
        <p:nvSpPr>
          <p:cNvPr id="9" name="Text 6"/>
          <p:cNvSpPr/>
          <p:nvPr/>
        </p:nvSpPr>
        <p:spPr>
          <a:xfrm>
            <a:off x="6629400" y="4343400"/>
            <a:ext cx="4754880" cy="256032"/>
          </a:xfrm>
          <a:prstGeom prst="rect">
            <a:avLst/>
          </a:prstGeom>
          <a:noFill/>
          <a:ln/>
        </p:spPr>
        <p:txBody>
          <a:bodyPr wrap="square" lIns="0" tIns="0" rIns="0" bIns="0" rtlCol="0" anchor="ctr"/>
          <a:lstStyle/>
          <a:p>
            <a:pPr marL="0" indent="0">
              <a:buNone/>
            </a:pPr>
            <a:r>
              <a:rPr lang="en-US" sz="950" b="1" kern="0" spc="110">
                <a:solidFill>
                  <a:srgbClr val="44586A"/>
                </a:solidFill>
                <a:latin typeface="Cambria" pitchFamily="34" charset="0"/>
                <a:ea typeface="Cambria" pitchFamily="34" charset="-122"/>
                <a:cs typeface="Cambria" pitchFamily="34" charset="-120"/>
              </a:rPr>
              <a:t>EL PLAZO NO SE MODIFICA</a:t>
            </a:r>
            <a:endParaRPr lang="en-US" sz="950"/>
          </a:p>
        </p:txBody>
      </p:sp>
      <p:sp>
        <p:nvSpPr>
          <p:cNvPr id="10" name="Text 7"/>
          <p:cNvSpPr/>
          <p:nvPr/>
        </p:nvSpPr>
        <p:spPr>
          <a:xfrm>
            <a:off x="6629400" y="4617720"/>
            <a:ext cx="4754880" cy="1234440"/>
          </a:xfrm>
          <a:prstGeom prst="rect">
            <a:avLst/>
          </a:prstGeom>
          <a:noFill/>
          <a:ln/>
        </p:spPr>
        <p:txBody>
          <a:bodyPr wrap="square" lIns="0" tIns="0" rIns="0" bIns="0" rtlCol="0" anchor="ctr"/>
          <a:lstStyle/>
          <a:p>
            <a:pPr marL="0" indent="0">
              <a:lnSpc>
                <a:spcPts val="1500"/>
              </a:lnSpc>
              <a:buNone/>
            </a:pPr>
            <a:r>
              <a:rPr lang="en-US" sz="1200">
                <a:solidFill>
                  <a:srgbClr val="12212F"/>
                </a:solidFill>
                <a:latin typeface="Cambria" pitchFamily="34" charset="0"/>
                <a:ea typeface="Cambria" pitchFamily="34" charset="-122"/>
                <a:cs typeface="Cambria" pitchFamily="34" charset="-120"/>
              </a:rPr>
              <a:t>Renovar la garantía no reinicia ni amplía el plazo del régimen. Los 18 meses siguen corriendo desde la numeración original y vencen el 05.02.2028, sin importar cuántas renovaciones de fianza se hayan emitido en el camino.</a:t>
            </a:r>
            <a:endParaRPr lang="en-US" sz="1200"/>
          </a:p>
        </p:txBody>
      </p:sp>
      <p:sp>
        <p:nvSpPr>
          <p:cNvPr id="4" name="Text 8"/>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Quedan 8 excavadoras bajo el régimen, garantizadas por US$ 124,396.80.</a:t>
            </a:r>
            <a:endParaRPr lang="en-US" sz="950"/>
          </a:p>
        </p:txBody>
      </p:sp>
      <p:sp>
        <p:nvSpPr>
          <p:cNvPr id="12" name="Text 9"/>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ERIC MOZOMBITE</a:t>
            </a:r>
            <a:endParaRPr lang="en-US" sz="850"/>
          </a:p>
        </p:txBody>
      </p:sp>
      <p:sp>
        <p:nvSpPr>
          <p:cNvPr id="13" name="Text 10"/>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10</a:t>
            </a:r>
            <a:endParaRPr lang="en-US" sz="9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1D7874"/>
                </a:solidFill>
                <a:latin typeface="Cambria" pitchFamily="34" charset="0"/>
                <a:ea typeface="Cambria" pitchFamily="34" charset="-122"/>
                <a:cs typeface="Cambria" pitchFamily="34" charset="-120"/>
              </a:rPr>
              <a:t>CASO 1</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Cómo termina el régimen</a:t>
            </a:r>
            <a:endParaRPr lang="en-US" sz="3000"/>
          </a:p>
        </p:txBody>
      </p:sp>
      <p:sp>
        <p:nvSpPr>
          <p:cNvPr id="4" name="Shape 2"/>
          <p:cNvSpPr/>
          <p:nvPr/>
        </p:nvSpPr>
        <p:spPr>
          <a:xfrm>
            <a:off x="548640" y="1508760"/>
            <a:ext cx="5440680" cy="1298448"/>
          </a:xfrm>
          <a:prstGeom prst="roundRect">
            <a:avLst>
              <a:gd name="adj" fmla="val 4225"/>
            </a:avLst>
          </a:prstGeom>
          <a:solidFill>
            <a:srgbClr val="F1F6F9"/>
          </a:solidFill>
          <a:ln w="12700">
            <a:solidFill>
              <a:srgbClr val="C9D8E2"/>
            </a:solidFill>
            <a:prstDash val="solid"/>
          </a:ln>
        </p:spPr>
        <p:txBody>
          <a:bodyPr/>
          <a:lstStyle/>
          <a:p>
            <a:endParaRPr lang="es-PE"/>
          </a:p>
        </p:txBody>
      </p:sp>
      <p:sp>
        <p:nvSpPr>
          <p:cNvPr id="5" name="Shape 3"/>
          <p:cNvSpPr/>
          <p:nvPr/>
        </p:nvSpPr>
        <p:spPr>
          <a:xfrm>
            <a:off x="813816" y="1709928"/>
            <a:ext cx="475488" cy="475488"/>
          </a:xfrm>
          <a:prstGeom prst="ellipse">
            <a:avLst/>
          </a:prstGeom>
          <a:solidFill>
            <a:srgbClr val="1D7874"/>
          </a:solidFill>
          <a:ln w="12700">
            <a:solidFill>
              <a:srgbClr val="1D7874"/>
            </a:solidFill>
            <a:prstDash val="solid"/>
          </a:ln>
        </p:spPr>
        <p:txBody>
          <a:bodyPr/>
          <a:lstStyle/>
          <a:p>
            <a:endParaRPr lang="es-PE"/>
          </a:p>
        </p:txBody>
      </p:sp>
      <p:sp>
        <p:nvSpPr>
          <p:cNvPr id="6" name="Text 4"/>
          <p:cNvSpPr/>
          <p:nvPr/>
        </p:nvSpPr>
        <p:spPr>
          <a:xfrm>
            <a:off x="813816" y="1709928"/>
            <a:ext cx="475488" cy="475488"/>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1</a:t>
            </a:r>
            <a:endParaRPr lang="en-US" sz="1400"/>
          </a:p>
        </p:txBody>
      </p:sp>
      <p:sp>
        <p:nvSpPr>
          <p:cNvPr id="7" name="Text 5"/>
          <p:cNvSpPr/>
          <p:nvPr/>
        </p:nvSpPr>
        <p:spPr>
          <a:xfrm>
            <a:off x="1463040" y="1709928"/>
            <a:ext cx="4297680" cy="384048"/>
          </a:xfrm>
          <a:prstGeom prst="rect">
            <a:avLst/>
          </a:prstGeom>
          <a:noFill/>
          <a:ln/>
        </p:spPr>
        <p:txBody>
          <a:bodyPr wrap="square" lIns="0" tIns="0" rIns="0" bIns="0" rtlCol="0" anchor="ctr"/>
          <a:lstStyle/>
          <a:p>
            <a:pPr marL="0" indent="0">
              <a:buNone/>
            </a:pPr>
            <a:r>
              <a:rPr lang="en-US" sz="1500" b="1">
                <a:solidFill>
                  <a:srgbClr val="1D7874"/>
                </a:solidFill>
                <a:latin typeface="Century Schoolbook" pitchFamily="34" charset="0"/>
                <a:ea typeface="Century Schoolbook" pitchFamily="34" charset="-122"/>
                <a:cs typeface="Century Schoolbook" pitchFamily="34" charset="-120"/>
              </a:rPr>
              <a:t>Reexportación</a:t>
            </a:r>
            <a:endParaRPr lang="en-US" sz="1500"/>
          </a:p>
        </p:txBody>
      </p:sp>
      <p:sp>
        <p:nvSpPr>
          <p:cNvPr id="8" name="Text 6"/>
          <p:cNvSpPr/>
          <p:nvPr/>
        </p:nvSpPr>
        <p:spPr>
          <a:xfrm>
            <a:off x="1463040" y="2075688"/>
            <a:ext cx="4343400" cy="640080"/>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Total o parcial, en uno o varios envíos, incluso por una aduana distinta a la de ingreso. Es la conclusión natural del régimen.</a:t>
            </a:r>
            <a:endParaRPr lang="en-US" sz="1150"/>
          </a:p>
        </p:txBody>
      </p:sp>
      <p:sp>
        <p:nvSpPr>
          <p:cNvPr id="9" name="Shape 7"/>
          <p:cNvSpPr/>
          <p:nvPr/>
        </p:nvSpPr>
        <p:spPr>
          <a:xfrm>
            <a:off x="6190488" y="1508760"/>
            <a:ext cx="5440680" cy="1298448"/>
          </a:xfrm>
          <a:prstGeom prst="roundRect">
            <a:avLst>
              <a:gd name="adj" fmla="val 4225"/>
            </a:avLst>
          </a:prstGeom>
          <a:solidFill>
            <a:srgbClr val="FFFFFF"/>
          </a:solidFill>
          <a:ln w="12700">
            <a:solidFill>
              <a:srgbClr val="C9D8E2"/>
            </a:solidFill>
            <a:prstDash val="solid"/>
          </a:ln>
        </p:spPr>
        <p:txBody>
          <a:bodyPr/>
          <a:lstStyle/>
          <a:p>
            <a:endParaRPr lang="es-PE"/>
          </a:p>
        </p:txBody>
      </p:sp>
      <p:sp>
        <p:nvSpPr>
          <p:cNvPr id="10" name="Shape 8"/>
          <p:cNvSpPr/>
          <p:nvPr/>
        </p:nvSpPr>
        <p:spPr>
          <a:xfrm>
            <a:off x="6455664" y="1709928"/>
            <a:ext cx="475488" cy="475488"/>
          </a:xfrm>
          <a:prstGeom prst="ellipse">
            <a:avLst/>
          </a:prstGeom>
          <a:solidFill>
            <a:srgbClr val="1D7874"/>
          </a:solidFill>
          <a:ln w="12700">
            <a:solidFill>
              <a:srgbClr val="1D7874"/>
            </a:solidFill>
            <a:prstDash val="solid"/>
          </a:ln>
        </p:spPr>
        <p:txBody>
          <a:bodyPr/>
          <a:lstStyle/>
          <a:p>
            <a:endParaRPr lang="es-PE"/>
          </a:p>
        </p:txBody>
      </p:sp>
      <p:sp>
        <p:nvSpPr>
          <p:cNvPr id="11" name="Text 9"/>
          <p:cNvSpPr/>
          <p:nvPr/>
        </p:nvSpPr>
        <p:spPr>
          <a:xfrm>
            <a:off x="6455664" y="1709928"/>
            <a:ext cx="475488" cy="475488"/>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2</a:t>
            </a:r>
            <a:endParaRPr lang="en-US" sz="1400"/>
          </a:p>
        </p:txBody>
      </p:sp>
      <p:sp>
        <p:nvSpPr>
          <p:cNvPr id="12" name="Text 10"/>
          <p:cNvSpPr/>
          <p:nvPr/>
        </p:nvSpPr>
        <p:spPr>
          <a:xfrm>
            <a:off x="7104888" y="1709928"/>
            <a:ext cx="4297680" cy="384048"/>
          </a:xfrm>
          <a:prstGeom prst="rect">
            <a:avLst/>
          </a:prstGeom>
          <a:noFill/>
          <a:ln/>
        </p:spPr>
        <p:txBody>
          <a:bodyPr wrap="square" lIns="0" tIns="0" rIns="0" bIns="0" rtlCol="0" anchor="ctr"/>
          <a:lstStyle/>
          <a:p>
            <a:pPr marL="0" indent="0">
              <a:buNone/>
            </a:pPr>
            <a:r>
              <a:rPr lang="en-US" sz="1500" b="1">
                <a:solidFill>
                  <a:srgbClr val="1D7874"/>
                </a:solidFill>
                <a:latin typeface="Century Schoolbook" pitchFamily="34" charset="0"/>
                <a:ea typeface="Century Schoolbook" pitchFamily="34" charset="-122"/>
                <a:cs typeface="Century Schoolbook" pitchFamily="34" charset="-120"/>
              </a:rPr>
              <a:t>Nacionalización</a:t>
            </a:r>
            <a:endParaRPr lang="en-US" sz="1500"/>
          </a:p>
        </p:txBody>
      </p:sp>
      <p:sp>
        <p:nvSpPr>
          <p:cNvPr id="13" name="Text 11"/>
          <p:cNvSpPr/>
          <p:nvPr/>
        </p:nvSpPr>
        <p:spPr>
          <a:xfrm>
            <a:off x="7104888" y="2075688"/>
            <a:ext cx="4343400" cy="640080"/>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Total o parcial. Se numera una Declaración de Importación para el Consumo y se pagan los tributos más el interés compensatorio.</a:t>
            </a:r>
            <a:endParaRPr lang="en-US" sz="1150"/>
          </a:p>
        </p:txBody>
      </p:sp>
      <p:sp>
        <p:nvSpPr>
          <p:cNvPr id="14" name="Shape 12"/>
          <p:cNvSpPr/>
          <p:nvPr/>
        </p:nvSpPr>
        <p:spPr>
          <a:xfrm>
            <a:off x="548640" y="2990088"/>
            <a:ext cx="5440680" cy="1298448"/>
          </a:xfrm>
          <a:prstGeom prst="roundRect">
            <a:avLst>
              <a:gd name="adj" fmla="val 4225"/>
            </a:avLst>
          </a:prstGeom>
          <a:solidFill>
            <a:srgbClr val="F1F6F9"/>
          </a:solidFill>
          <a:ln w="12700">
            <a:solidFill>
              <a:srgbClr val="C9D8E2"/>
            </a:solidFill>
            <a:prstDash val="solid"/>
          </a:ln>
        </p:spPr>
        <p:txBody>
          <a:bodyPr/>
          <a:lstStyle/>
          <a:p>
            <a:endParaRPr lang="es-PE"/>
          </a:p>
        </p:txBody>
      </p:sp>
      <p:sp>
        <p:nvSpPr>
          <p:cNvPr id="15" name="Shape 13"/>
          <p:cNvSpPr/>
          <p:nvPr/>
        </p:nvSpPr>
        <p:spPr>
          <a:xfrm>
            <a:off x="813816" y="3191256"/>
            <a:ext cx="475488" cy="475488"/>
          </a:xfrm>
          <a:prstGeom prst="ellipse">
            <a:avLst/>
          </a:prstGeom>
          <a:solidFill>
            <a:srgbClr val="1D7874"/>
          </a:solidFill>
          <a:ln w="12700">
            <a:solidFill>
              <a:srgbClr val="1D7874"/>
            </a:solidFill>
            <a:prstDash val="solid"/>
          </a:ln>
        </p:spPr>
        <p:txBody>
          <a:bodyPr/>
          <a:lstStyle/>
          <a:p>
            <a:endParaRPr lang="es-PE"/>
          </a:p>
        </p:txBody>
      </p:sp>
      <p:sp>
        <p:nvSpPr>
          <p:cNvPr id="16" name="Text 14"/>
          <p:cNvSpPr/>
          <p:nvPr/>
        </p:nvSpPr>
        <p:spPr>
          <a:xfrm>
            <a:off x="813816" y="3191256"/>
            <a:ext cx="475488" cy="475488"/>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3</a:t>
            </a:r>
            <a:endParaRPr lang="en-US" sz="1400"/>
          </a:p>
        </p:txBody>
      </p:sp>
      <p:sp>
        <p:nvSpPr>
          <p:cNvPr id="17" name="Text 15"/>
          <p:cNvSpPr/>
          <p:nvPr/>
        </p:nvSpPr>
        <p:spPr>
          <a:xfrm>
            <a:off x="1463040" y="3191256"/>
            <a:ext cx="4297680" cy="384048"/>
          </a:xfrm>
          <a:prstGeom prst="rect">
            <a:avLst/>
          </a:prstGeom>
          <a:noFill/>
          <a:ln/>
        </p:spPr>
        <p:txBody>
          <a:bodyPr wrap="square" lIns="0" tIns="0" rIns="0" bIns="0" rtlCol="0" anchor="ctr"/>
          <a:lstStyle/>
          <a:p>
            <a:pPr marL="0" indent="0">
              <a:buNone/>
            </a:pPr>
            <a:r>
              <a:rPr lang="en-US" sz="1500" b="1">
                <a:solidFill>
                  <a:srgbClr val="1D7874"/>
                </a:solidFill>
                <a:latin typeface="Century Schoolbook" pitchFamily="34" charset="0"/>
                <a:ea typeface="Century Schoolbook" pitchFamily="34" charset="-122"/>
                <a:cs typeface="Century Schoolbook" pitchFamily="34" charset="-120"/>
              </a:rPr>
              <a:t>Nacionalización automática</a:t>
            </a:r>
            <a:endParaRPr lang="en-US" sz="1500"/>
          </a:p>
        </p:txBody>
      </p:sp>
      <p:sp>
        <p:nvSpPr>
          <p:cNvPr id="18" name="Text 16"/>
          <p:cNvSpPr/>
          <p:nvPr/>
        </p:nvSpPr>
        <p:spPr>
          <a:xfrm>
            <a:off x="1463040" y="3557016"/>
            <a:ext cx="4343400" cy="640080"/>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Si vence el plazo sin haber concluido el régimen, la mercancía se entiende nacionalizada de oficio y la garantía se ejecuta.</a:t>
            </a:r>
            <a:endParaRPr lang="en-US" sz="1150"/>
          </a:p>
        </p:txBody>
      </p:sp>
      <p:sp>
        <p:nvSpPr>
          <p:cNvPr id="19" name="Shape 17"/>
          <p:cNvSpPr/>
          <p:nvPr/>
        </p:nvSpPr>
        <p:spPr>
          <a:xfrm>
            <a:off x="6190488" y="2990088"/>
            <a:ext cx="5440680" cy="1298448"/>
          </a:xfrm>
          <a:prstGeom prst="roundRect">
            <a:avLst>
              <a:gd name="adj" fmla="val 4225"/>
            </a:avLst>
          </a:prstGeom>
          <a:solidFill>
            <a:srgbClr val="FFFFFF"/>
          </a:solidFill>
          <a:ln w="12700">
            <a:solidFill>
              <a:srgbClr val="C9D8E2"/>
            </a:solidFill>
            <a:prstDash val="solid"/>
          </a:ln>
        </p:spPr>
        <p:txBody>
          <a:bodyPr/>
          <a:lstStyle/>
          <a:p>
            <a:endParaRPr lang="es-PE"/>
          </a:p>
        </p:txBody>
      </p:sp>
      <p:sp>
        <p:nvSpPr>
          <p:cNvPr id="20" name="Shape 18"/>
          <p:cNvSpPr/>
          <p:nvPr/>
        </p:nvSpPr>
        <p:spPr>
          <a:xfrm>
            <a:off x="6455664" y="3191256"/>
            <a:ext cx="475488" cy="475488"/>
          </a:xfrm>
          <a:prstGeom prst="ellipse">
            <a:avLst/>
          </a:prstGeom>
          <a:solidFill>
            <a:srgbClr val="1D7874"/>
          </a:solidFill>
          <a:ln w="12700">
            <a:solidFill>
              <a:srgbClr val="1D7874"/>
            </a:solidFill>
            <a:prstDash val="solid"/>
          </a:ln>
        </p:spPr>
        <p:txBody>
          <a:bodyPr/>
          <a:lstStyle/>
          <a:p>
            <a:endParaRPr lang="es-PE"/>
          </a:p>
        </p:txBody>
      </p:sp>
      <p:sp>
        <p:nvSpPr>
          <p:cNvPr id="21" name="Text 19"/>
          <p:cNvSpPr/>
          <p:nvPr/>
        </p:nvSpPr>
        <p:spPr>
          <a:xfrm>
            <a:off x="6455664" y="3191256"/>
            <a:ext cx="475488" cy="475488"/>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4</a:t>
            </a:r>
            <a:endParaRPr lang="en-US" sz="1400"/>
          </a:p>
        </p:txBody>
      </p:sp>
      <p:sp>
        <p:nvSpPr>
          <p:cNvPr id="22" name="Text 20"/>
          <p:cNvSpPr/>
          <p:nvPr/>
        </p:nvSpPr>
        <p:spPr>
          <a:xfrm>
            <a:off x="7104888" y="3191256"/>
            <a:ext cx="4297680" cy="384048"/>
          </a:xfrm>
          <a:prstGeom prst="rect">
            <a:avLst/>
          </a:prstGeom>
          <a:noFill/>
          <a:ln/>
        </p:spPr>
        <p:txBody>
          <a:bodyPr wrap="square" lIns="0" tIns="0" rIns="0" bIns="0" rtlCol="0" anchor="ctr"/>
          <a:lstStyle/>
          <a:p>
            <a:pPr marL="0" indent="0">
              <a:buNone/>
            </a:pPr>
            <a:r>
              <a:rPr lang="en-US" sz="1500" b="1">
                <a:solidFill>
                  <a:srgbClr val="1D7874"/>
                </a:solidFill>
                <a:latin typeface="Century Schoolbook" pitchFamily="34" charset="0"/>
                <a:ea typeface="Century Schoolbook" pitchFamily="34" charset="-122"/>
                <a:cs typeface="Century Schoolbook" pitchFamily="34" charset="-120"/>
              </a:rPr>
              <a:t>Destrucción total o parcial</a:t>
            </a:r>
            <a:endParaRPr lang="en-US" sz="1500"/>
          </a:p>
        </p:txBody>
      </p:sp>
      <p:sp>
        <p:nvSpPr>
          <p:cNvPr id="23" name="Text 21"/>
          <p:cNvSpPr/>
          <p:nvPr/>
        </p:nvSpPr>
        <p:spPr>
          <a:xfrm>
            <a:off x="7104888" y="3557016"/>
            <a:ext cx="4343400" cy="640080"/>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Por caso fortuito o fuerza mayor, incluidos la pérdida y el robo, debidamente acreditados ante la Aduana.</a:t>
            </a:r>
            <a:endParaRPr lang="en-US" sz="1150"/>
          </a:p>
        </p:txBody>
      </p:sp>
      <p:sp>
        <p:nvSpPr>
          <p:cNvPr id="24" name="Shape 22"/>
          <p:cNvSpPr/>
          <p:nvPr/>
        </p:nvSpPr>
        <p:spPr>
          <a:xfrm>
            <a:off x="548640" y="4526280"/>
            <a:ext cx="11094415" cy="1463040"/>
          </a:xfrm>
          <a:prstGeom prst="roundRect">
            <a:avLst>
              <a:gd name="adj" fmla="val 3750"/>
            </a:avLst>
          </a:prstGeom>
          <a:solidFill>
            <a:srgbClr val="FFFFFF"/>
          </a:solidFill>
          <a:ln w="12700">
            <a:solidFill>
              <a:srgbClr val="A63A50"/>
            </a:solidFill>
            <a:prstDash val="solid"/>
          </a:ln>
        </p:spPr>
        <p:txBody>
          <a:bodyPr/>
          <a:lstStyle/>
          <a:p>
            <a:endParaRPr lang="es-PE"/>
          </a:p>
        </p:txBody>
      </p:sp>
      <p:sp>
        <p:nvSpPr>
          <p:cNvPr id="25" name="Text 23"/>
          <p:cNvSpPr/>
          <p:nvPr/>
        </p:nvSpPr>
        <p:spPr>
          <a:xfrm>
            <a:off x="868680" y="4709160"/>
            <a:ext cx="5486400" cy="274320"/>
          </a:xfrm>
          <a:prstGeom prst="rect">
            <a:avLst/>
          </a:prstGeom>
          <a:noFill/>
          <a:ln/>
        </p:spPr>
        <p:txBody>
          <a:bodyPr wrap="square" lIns="0" tIns="0" rIns="0" bIns="0" rtlCol="0" anchor="ctr"/>
          <a:lstStyle/>
          <a:p>
            <a:pPr marL="0" indent="0">
              <a:buNone/>
            </a:pPr>
            <a:r>
              <a:rPr lang="en-US" sz="1000" b="1" kern="0" spc="120">
                <a:solidFill>
                  <a:srgbClr val="A63A50"/>
                </a:solidFill>
                <a:latin typeface="Cambria" pitchFamily="34" charset="0"/>
                <a:ea typeface="Cambria" pitchFamily="34" charset="-122"/>
                <a:cs typeface="Cambria" pitchFamily="34" charset="-120"/>
              </a:rPr>
              <a:t>SI SE DEJA VENCER EL PLAZO</a:t>
            </a:r>
            <a:endParaRPr lang="en-US" sz="1000"/>
          </a:p>
        </p:txBody>
      </p:sp>
      <p:sp>
        <p:nvSpPr>
          <p:cNvPr id="26" name="Text 24"/>
          <p:cNvSpPr/>
          <p:nvPr/>
        </p:nvSpPr>
        <p:spPr>
          <a:xfrm>
            <a:off x="868680" y="4983480"/>
            <a:ext cx="10454335" cy="868680"/>
          </a:xfrm>
          <a:prstGeom prst="rect">
            <a:avLst/>
          </a:prstGeom>
          <a:noFill/>
          <a:ln/>
        </p:spPr>
        <p:txBody>
          <a:bodyPr wrap="square" lIns="0" tIns="0" rIns="0" bIns="0" rtlCol="0" anchor="ctr"/>
          <a:lstStyle/>
          <a:p>
            <a:pPr marL="0" indent="0">
              <a:lnSpc>
                <a:spcPts val="1600"/>
              </a:lnSpc>
              <a:buNone/>
            </a:pPr>
            <a:r>
              <a:rPr lang="en-US" sz="1250">
                <a:solidFill>
                  <a:srgbClr val="12212F"/>
                </a:solidFill>
                <a:latin typeface="Cambria" pitchFamily="34" charset="0"/>
                <a:ea typeface="Cambria" pitchFamily="34" charset="-122"/>
                <a:cs typeface="Cambria" pitchFamily="34" charset="-120"/>
              </a:rPr>
              <a:t>Al día siguiente del vencimiento el banco ejecuta la carta fianza de forma automática, sin requerimiento previo ni posibilidad de oposición. El importador conserva el derecho de reclamar el excedente si el monto ejecutado resultó mayor a la deuda real. Por eso, si la empresa necesita más tiempo, debe presentar la solicitud de ampliación del plazo ANTES de que venza.</a:t>
            </a:r>
            <a:endParaRPr lang="en-US" sz="1250"/>
          </a:p>
        </p:txBody>
      </p:sp>
      <p:sp>
        <p:nvSpPr>
          <p:cNvPr id="27" name="Text 25"/>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La ampliación del plazo se solicita antes del vencimiento. Después ya no hay remedio.</a:t>
            </a:r>
            <a:endParaRPr lang="en-US" sz="950"/>
          </a:p>
        </p:txBody>
      </p:sp>
      <p:sp>
        <p:nvSpPr>
          <p:cNvPr id="28" name="Text 26"/>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ERIC MOZOMBITE</a:t>
            </a:r>
            <a:endParaRPr lang="en-US" sz="850"/>
          </a:p>
        </p:txBody>
      </p:sp>
      <p:sp>
        <p:nvSpPr>
          <p:cNvPr id="29" name="Text 27"/>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11</a:t>
            </a:r>
            <a:endParaRPr lang="en-US" sz="9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1D7874"/>
                </a:solidFill>
                <a:latin typeface="Cambria" pitchFamily="34" charset="0"/>
                <a:ea typeface="Cambria" pitchFamily="34" charset="-122"/>
                <a:cs typeface="Cambria" pitchFamily="34" charset="-120"/>
              </a:rPr>
              <a:t>CASO 1</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Conclusión</a:t>
            </a:r>
            <a:endParaRPr lang="en-US" sz="3000"/>
          </a:p>
        </p:txBody>
      </p:sp>
      <p:sp>
        <p:nvSpPr>
          <p:cNvPr id="4" name="Shape 2"/>
          <p:cNvSpPr/>
          <p:nvPr/>
        </p:nvSpPr>
        <p:spPr>
          <a:xfrm>
            <a:off x="548640" y="1554480"/>
            <a:ext cx="3566160" cy="1828800"/>
          </a:xfrm>
          <a:prstGeom prst="roundRect">
            <a:avLst>
              <a:gd name="adj" fmla="val 3000"/>
            </a:avLst>
          </a:prstGeom>
          <a:solidFill>
            <a:srgbClr val="F1F6F9"/>
          </a:solidFill>
          <a:ln w="12700">
            <a:solidFill>
              <a:srgbClr val="C9D8E2"/>
            </a:solidFill>
            <a:prstDash val="solid"/>
          </a:ln>
        </p:spPr>
        <p:txBody>
          <a:bodyPr/>
          <a:lstStyle/>
          <a:p>
            <a:endParaRPr lang="es-PE"/>
          </a:p>
        </p:txBody>
      </p:sp>
      <p:sp>
        <p:nvSpPr>
          <p:cNvPr id="5" name="Text 3"/>
          <p:cNvSpPr/>
          <p:nvPr/>
        </p:nvSpPr>
        <p:spPr>
          <a:xfrm>
            <a:off x="804672" y="1755648"/>
            <a:ext cx="3063240" cy="256032"/>
          </a:xfrm>
          <a:prstGeom prst="rect">
            <a:avLst/>
          </a:prstGeom>
          <a:noFill/>
          <a:ln/>
        </p:spPr>
        <p:txBody>
          <a:bodyPr wrap="square" lIns="0" tIns="0" rIns="0" bIns="0" rtlCol="0" anchor="ctr"/>
          <a:lstStyle/>
          <a:p>
            <a:pPr marL="0" indent="0">
              <a:buNone/>
            </a:pPr>
            <a:r>
              <a:rPr lang="en-US" sz="900" b="1" kern="0" spc="100">
                <a:solidFill>
                  <a:srgbClr val="44586A"/>
                </a:solidFill>
                <a:latin typeface="Cambria" pitchFamily="34" charset="0"/>
                <a:ea typeface="Cambria" pitchFamily="34" charset="-122"/>
                <a:cs typeface="Cambria" pitchFamily="34" charset="-120"/>
              </a:rPr>
              <a:t>NO DESEMBOLSADO AL INGRESO</a:t>
            </a:r>
            <a:endParaRPr lang="en-US" sz="900"/>
          </a:p>
        </p:txBody>
      </p:sp>
      <p:sp>
        <p:nvSpPr>
          <p:cNvPr id="6" name="Text 4"/>
          <p:cNvSpPr/>
          <p:nvPr/>
        </p:nvSpPr>
        <p:spPr>
          <a:xfrm>
            <a:off x="804672" y="2029968"/>
            <a:ext cx="3108960" cy="548640"/>
          </a:xfrm>
          <a:prstGeom prst="rect">
            <a:avLst/>
          </a:prstGeom>
          <a:noFill/>
          <a:ln/>
        </p:spPr>
        <p:txBody>
          <a:bodyPr wrap="square" lIns="0" tIns="0" rIns="0" bIns="0" rtlCol="0" anchor="ctr"/>
          <a:lstStyle/>
          <a:p>
            <a:pPr marL="0" indent="0">
              <a:buNone/>
            </a:pPr>
            <a:r>
              <a:rPr lang="en-US" sz="2400" b="1">
                <a:solidFill>
                  <a:srgbClr val="1D7874"/>
                </a:solidFill>
                <a:latin typeface="Century Schoolbook" pitchFamily="34" charset="0"/>
                <a:ea typeface="Century Schoolbook" pitchFamily="34" charset="-122"/>
                <a:cs typeface="Century Schoolbook" pitchFamily="34" charset="-120"/>
              </a:rPr>
              <a:t>US$ 279,892.80</a:t>
            </a:r>
            <a:endParaRPr lang="en-US" sz="2400"/>
          </a:p>
        </p:txBody>
      </p:sp>
      <p:sp>
        <p:nvSpPr>
          <p:cNvPr id="7" name="Text 5"/>
          <p:cNvSpPr/>
          <p:nvPr/>
        </p:nvSpPr>
        <p:spPr>
          <a:xfrm>
            <a:off x="804672" y="2606040"/>
            <a:ext cx="3108960" cy="640080"/>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Sustituidos por una garantía bancaria.</a:t>
            </a:r>
            <a:endParaRPr lang="en-US" sz="1150"/>
          </a:p>
        </p:txBody>
      </p:sp>
      <p:sp>
        <p:nvSpPr>
          <p:cNvPr id="8" name="Shape 6"/>
          <p:cNvSpPr/>
          <p:nvPr/>
        </p:nvSpPr>
        <p:spPr>
          <a:xfrm>
            <a:off x="4315968" y="1554480"/>
            <a:ext cx="3566160" cy="1828800"/>
          </a:xfrm>
          <a:prstGeom prst="roundRect">
            <a:avLst>
              <a:gd name="adj" fmla="val 3000"/>
            </a:avLst>
          </a:prstGeom>
          <a:solidFill>
            <a:srgbClr val="FFFFFF"/>
          </a:solidFill>
          <a:ln w="12700">
            <a:solidFill>
              <a:srgbClr val="C9D8E2"/>
            </a:solidFill>
            <a:prstDash val="solid"/>
          </a:ln>
        </p:spPr>
        <p:txBody>
          <a:bodyPr/>
          <a:lstStyle/>
          <a:p>
            <a:endParaRPr lang="es-PE"/>
          </a:p>
        </p:txBody>
      </p:sp>
      <p:sp>
        <p:nvSpPr>
          <p:cNvPr id="9" name="Text 7"/>
          <p:cNvSpPr/>
          <p:nvPr/>
        </p:nvSpPr>
        <p:spPr>
          <a:xfrm>
            <a:off x="4572000" y="1755648"/>
            <a:ext cx="3063240" cy="256032"/>
          </a:xfrm>
          <a:prstGeom prst="rect">
            <a:avLst/>
          </a:prstGeom>
          <a:noFill/>
          <a:ln/>
        </p:spPr>
        <p:txBody>
          <a:bodyPr wrap="square" lIns="0" tIns="0" rIns="0" bIns="0" rtlCol="0" anchor="ctr"/>
          <a:lstStyle/>
          <a:p>
            <a:pPr marL="0" indent="0">
              <a:buNone/>
            </a:pPr>
            <a:r>
              <a:rPr lang="en-US" sz="900" b="1" kern="0" spc="100">
                <a:solidFill>
                  <a:srgbClr val="44586A"/>
                </a:solidFill>
                <a:latin typeface="Cambria" pitchFamily="34" charset="0"/>
                <a:ea typeface="Cambria" pitchFamily="34" charset="-122"/>
                <a:cs typeface="Cambria" pitchFamily="34" charset="-120"/>
              </a:rPr>
              <a:t>EFECTIVAMENTE PAGADO</a:t>
            </a:r>
            <a:endParaRPr lang="en-US" sz="900"/>
          </a:p>
        </p:txBody>
      </p:sp>
      <p:sp>
        <p:nvSpPr>
          <p:cNvPr id="10" name="Text 8"/>
          <p:cNvSpPr/>
          <p:nvPr/>
        </p:nvSpPr>
        <p:spPr>
          <a:xfrm>
            <a:off x="4572000" y="2029968"/>
            <a:ext cx="3108960" cy="548640"/>
          </a:xfrm>
          <a:prstGeom prst="rect">
            <a:avLst/>
          </a:prstGeom>
          <a:noFill/>
          <a:ln/>
        </p:spPr>
        <p:txBody>
          <a:bodyPr wrap="square" lIns="0" tIns="0" rIns="0" bIns="0" rtlCol="0" anchor="ctr"/>
          <a:lstStyle/>
          <a:p>
            <a:pPr marL="0" indent="0">
              <a:buNone/>
            </a:pPr>
            <a:r>
              <a:rPr lang="en-US" sz="2400" b="1">
                <a:solidFill>
                  <a:srgbClr val="0B3C5D"/>
                </a:solidFill>
                <a:latin typeface="Century Schoolbook" pitchFamily="34" charset="0"/>
                <a:ea typeface="Century Schoolbook" pitchFamily="34" charset="-122"/>
                <a:cs typeface="Century Schoolbook" pitchFamily="34" charset="-120"/>
              </a:rPr>
              <a:t>US$ 155,496.00</a:t>
            </a:r>
            <a:endParaRPr lang="en-US" sz="2400"/>
          </a:p>
        </p:txBody>
      </p:sp>
      <p:sp>
        <p:nvSpPr>
          <p:cNvPr id="11" name="Text 9"/>
          <p:cNvSpPr/>
          <p:nvPr/>
        </p:nvSpPr>
        <p:spPr>
          <a:xfrm>
            <a:off x="4572000" y="2606040"/>
            <a:ext cx="3108960" cy="640080"/>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Solo por las 10 unidades nacionalizadas.</a:t>
            </a:r>
            <a:endParaRPr lang="en-US" sz="1150"/>
          </a:p>
        </p:txBody>
      </p:sp>
      <p:sp>
        <p:nvSpPr>
          <p:cNvPr id="12" name="Shape 10"/>
          <p:cNvSpPr/>
          <p:nvPr/>
        </p:nvSpPr>
        <p:spPr>
          <a:xfrm>
            <a:off x="8074152" y="1554480"/>
            <a:ext cx="3566160" cy="1828800"/>
          </a:xfrm>
          <a:prstGeom prst="roundRect">
            <a:avLst>
              <a:gd name="adj" fmla="val 3000"/>
            </a:avLst>
          </a:prstGeom>
          <a:solidFill>
            <a:srgbClr val="F1F6F9"/>
          </a:solidFill>
          <a:ln w="12700">
            <a:solidFill>
              <a:srgbClr val="C9D8E2"/>
            </a:solidFill>
            <a:prstDash val="solid"/>
          </a:ln>
        </p:spPr>
        <p:txBody>
          <a:bodyPr/>
          <a:lstStyle/>
          <a:p>
            <a:endParaRPr lang="es-PE"/>
          </a:p>
        </p:txBody>
      </p:sp>
      <p:sp>
        <p:nvSpPr>
          <p:cNvPr id="13" name="Text 11"/>
          <p:cNvSpPr/>
          <p:nvPr/>
        </p:nvSpPr>
        <p:spPr>
          <a:xfrm>
            <a:off x="8330184" y="1755648"/>
            <a:ext cx="3063240" cy="256032"/>
          </a:xfrm>
          <a:prstGeom prst="rect">
            <a:avLst/>
          </a:prstGeom>
          <a:noFill/>
          <a:ln/>
        </p:spPr>
        <p:txBody>
          <a:bodyPr wrap="square" lIns="0" tIns="0" rIns="0" bIns="0" rtlCol="0" anchor="ctr"/>
          <a:lstStyle/>
          <a:p>
            <a:pPr marL="0" indent="0">
              <a:buNone/>
            </a:pPr>
            <a:r>
              <a:rPr lang="en-US" sz="900" b="1" kern="0" spc="100">
                <a:solidFill>
                  <a:srgbClr val="44586A"/>
                </a:solidFill>
                <a:latin typeface="Cambria" pitchFamily="34" charset="0"/>
                <a:ea typeface="Cambria" pitchFamily="34" charset="-122"/>
                <a:cs typeface="Cambria" pitchFamily="34" charset="-120"/>
              </a:rPr>
              <a:t>AÚN SUSPENDIDO</a:t>
            </a:r>
            <a:endParaRPr lang="en-US" sz="900"/>
          </a:p>
        </p:txBody>
      </p:sp>
      <p:sp>
        <p:nvSpPr>
          <p:cNvPr id="14" name="Text 12"/>
          <p:cNvSpPr/>
          <p:nvPr/>
        </p:nvSpPr>
        <p:spPr>
          <a:xfrm>
            <a:off x="8330184" y="2029968"/>
            <a:ext cx="3108960" cy="548640"/>
          </a:xfrm>
          <a:prstGeom prst="rect">
            <a:avLst/>
          </a:prstGeom>
          <a:noFill/>
          <a:ln/>
        </p:spPr>
        <p:txBody>
          <a:bodyPr wrap="square" lIns="0" tIns="0" rIns="0" bIns="0" rtlCol="0" anchor="ctr"/>
          <a:lstStyle/>
          <a:p>
            <a:pPr marL="0" indent="0">
              <a:buNone/>
            </a:pPr>
            <a:r>
              <a:rPr lang="en-US" sz="2400" b="1">
                <a:solidFill>
                  <a:srgbClr val="A63A50"/>
                </a:solidFill>
                <a:latin typeface="Century Schoolbook" pitchFamily="34" charset="0"/>
                <a:ea typeface="Century Schoolbook" pitchFamily="34" charset="-122"/>
                <a:cs typeface="Century Schoolbook" pitchFamily="34" charset="-120"/>
              </a:rPr>
              <a:t>US$ 124,396.80</a:t>
            </a:r>
            <a:endParaRPr lang="en-US" sz="2400"/>
          </a:p>
        </p:txBody>
      </p:sp>
      <p:sp>
        <p:nvSpPr>
          <p:cNvPr id="15" name="Text 13"/>
          <p:cNvSpPr/>
          <p:nvPr/>
        </p:nvSpPr>
        <p:spPr>
          <a:xfrm>
            <a:off x="8330184" y="2606040"/>
            <a:ext cx="3108960" cy="640080"/>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8 unidades reexportadas: venta a comprador en Bolivia.</a:t>
            </a:r>
            <a:endParaRPr lang="en-US" sz="1150"/>
          </a:p>
        </p:txBody>
      </p:sp>
      <p:sp>
        <p:nvSpPr>
          <p:cNvPr id="16" name="Shape 14"/>
          <p:cNvSpPr/>
          <p:nvPr/>
        </p:nvSpPr>
        <p:spPr>
          <a:xfrm>
            <a:off x="548640" y="3611880"/>
            <a:ext cx="11094415" cy="2377440"/>
          </a:xfrm>
          <a:prstGeom prst="roundRect">
            <a:avLst>
              <a:gd name="adj" fmla="val 2308"/>
            </a:avLst>
          </a:prstGeom>
          <a:solidFill>
            <a:srgbClr val="FFFFFF"/>
          </a:solidFill>
          <a:ln w="12700">
            <a:solidFill>
              <a:srgbClr val="C9D8E2"/>
            </a:solidFill>
            <a:prstDash val="solid"/>
          </a:ln>
        </p:spPr>
        <p:txBody>
          <a:bodyPr/>
          <a:lstStyle/>
          <a:p>
            <a:endParaRPr lang="es-PE"/>
          </a:p>
        </p:txBody>
      </p:sp>
      <p:sp>
        <p:nvSpPr>
          <p:cNvPr id="17" name="Text 15"/>
          <p:cNvSpPr/>
          <p:nvPr/>
        </p:nvSpPr>
        <p:spPr>
          <a:xfrm>
            <a:off x="914400" y="3886200"/>
            <a:ext cx="10362895" cy="1874520"/>
          </a:xfrm>
          <a:prstGeom prst="rect">
            <a:avLst/>
          </a:prstGeom>
          <a:noFill/>
          <a:ln/>
        </p:spPr>
        <p:txBody>
          <a:bodyPr wrap="square" lIns="0" tIns="0" rIns="0" bIns="0" rtlCol="0" anchor="ctr"/>
          <a:lstStyle/>
          <a:p>
            <a:pPr marL="0" indent="0">
              <a:lnSpc>
                <a:spcPts val="1900"/>
              </a:lnSpc>
              <a:buNone/>
            </a:pPr>
            <a:r>
              <a:rPr lang="en-US" sz="1350" b="1">
                <a:solidFill>
                  <a:srgbClr val="12212F"/>
                </a:solidFill>
                <a:latin typeface="Cambria" pitchFamily="34" charset="0"/>
                <a:ea typeface="Cambria" pitchFamily="34" charset="-122"/>
                <a:cs typeface="Cambria" pitchFamily="34" charset="-120"/>
              </a:rPr>
              <a:t>El régimen convierte un desembolso inmediato en una decisión escalonada.</a:t>
            </a:r>
            <a:endParaRPr lang="en-US" sz="1350"/>
          </a:p>
          <a:p>
            <a:pPr marL="0" indent="0">
              <a:lnSpc>
                <a:spcPts val="1900"/>
              </a:lnSpc>
              <a:buNone/>
            </a:pPr>
            <a:r>
              <a:rPr lang="en-US" sz="1350">
                <a:solidFill>
                  <a:srgbClr val="12212F"/>
                </a:solidFill>
                <a:latin typeface="Cambria" pitchFamily="34" charset="0"/>
                <a:ea typeface="Cambria" pitchFamily="34" charset="-122"/>
                <a:cs typeface="Cambria" pitchFamily="34" charset="-120"/>
              </a:rPr>
              <a:t>La empresa evita inmovilizar capital en tributos por maquinaria que solo necesita durante la obra, y paga únicamente en función de lo que decide quedarse. La renovación periódica de la garantía mantiene cubierto a la Aduana por el saldo real, sin sobregarantizar unidades ya nacionalizadas.</a:t>
            </a:r>
            <a:endParaRPr lang="en-US" sz="1350"/>
          </a:p>
          <a:p>
            <a:pPr marL="0" indent="0">
              <a:lnSpc>
                <a:spcPts val="1900"/>
              </a:lnSpc>
              <a:buNone/>
            </a:pPr>
            <a:r>
              <a:rPr lang="en-US" sz="600">
                <a:solidFill>
                  <a:srgbClr val="12212F"/>
                </a:solidFill>
                <a:latin typeface="Cambria" pitchFamily="34" charset="0"/>
                <a:ea typeface="Cambria" pitchFamily="34" charset="-122"/>
                <a:cs typeface="Cambria" pitchFamily="34" charset="-120"/>
              </a:rPr>
              <a:t> </a:t>
            </a:r>
            <a:endParaRPr lang="en-US" sz="1350"/>
          </a:p>
          <a:p>
            <a:pPr marL="0" indent="0">
              <a:lnSpc>
                <a:spcPts val="1900"/>
              </a:lnSpc>
              <a:buNone/>
            </a:pPr>
            <a:r>
              <a:rPr lang="en-US" sz="1350">
                <a:solidFill>
                  <a:srgbClr val="12212F"/>
                </a:solidFill>
                <a:latin typeface="Cambria" pitchFamily="34" charset="0"/>
                <a:ea typeface="Cambria" pitchFamily="34" charset="-122"/>
                <a:cs typeface="Cambria" pitchFamily="34" charset="-120"/>
              </a:rPr>
              <a:t>El riesgo del régimen no es económico sino de gestión: si nadie controla la fecha de vencimiento, la nacionalización automática y la ejecución de la garantía ocurren solas. Llevar el control del plazo es tan importante como haber calculado bien la fianza. Las 8 unidades restantes cierran el caso sin pagar tributo alguno: se reexportan por venta a un comprador en Bolivia.</a:t>
            </a:r>
            <a:endParaRPr lang="en-US" sz="1350"/>
          </a:p>
        </p:txBody>
      </p:sp>
      <p:sp>
        <p:nvSpPr>
          <p:cNvPr id="18" name="Text 16"/>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Caso 1 · Admisión Temporal para Reexportación en el Mismo Estado</a:t>
            </a:r>
            <a:endParaRPr lang="en-US" sz="950"/>
          </a:p>
        </p:txBody>
      </p:sp>
      <p:sp>
        <p:nvSpPr>
          <p:cNvPr id="19" name="Text 17"/>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ERIC MOZOMBITE</a:t>
            </a:r>
            <a:endParaRPr lang="en-US" sz="850"/>
          </a:p>
        </p:txBody>
      </p:sp>
      <p:sp>
        <p:nvSpPr>
          <p:cNvPr id="20" name="Text 18"/>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12</a:t>
            </a:r>
            <a:endParaRPr lang="en-US" sz="9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4EDF3"/>
        </a:solidFill>
        <a:effectLst/>
      </p:bgPr>
    </p:bg>
    <p:spTree>
      <p:nvGrpSpPr>
        <p:cNvPr id="1" name=""/>
        <p:cNvGrpSpPr/>
        <p:nvPr/>
      </p:nvGrpSpPr>
      <p:grpSpPr>
        <a:xfrm>
          <a:off x="0" y="0"/>
          <a:ext cx="0" cy="0"/>
          <a:chOff x="0" y="0"/>
          <a:chExt cx="0" cy="0"/>
        </a:xfrm>
      </p:grpSpPr>
      <p:sp>
        <p:nvSpPr>
          <p:cNvPr id="2" name="Shape 0"/>
          <p:cNvSpPr/>
          <p:nvPr/>
        </p:nvSpPr>
        <p:spPr>
          <a:xfrm>
            <a:off x="548640" y="1600200"/>
            <a:ext cx="1554480" cy="1554480"/>
          </a:xfrm>
          <a:prstGeom prst="ellipse">
            <a:avLst/>
          </a:prstGeom>
          <a:solidFill>
            <a:srgbClr val="A65E2E"/>
          </a:solidFill>
          <a:ln w="12700">
            <a:solidFill>
              <a:srgbClr val="A65E2E"/>
            </a:solidFill>
            <a:prstDash val="solid"/>
          </a:ln>
        </p:spPr>
        <p:txBody>
          <a:bodyPr/>
          <a:lstStyle/>
          <a:p>
            <a:endParaRPr lang="es-PE"/>
          </a:p>
        </p:txBody>
      </p:sp>
      <p:sp>
        <p:nvSpPr>
          <p:cNvPr id="3" name="Text 1"/>
          <p:cNvSpPr/>
          <p:nvPr/>
        </p:nvSpPr>
        <p:spPr>
          <a:xfrm>
            <a:off x="548640" y="1600200"/>
            <a:ext cx="1554480" cy="1554480"/>
          </a:xfrm>
          <a:prstGeom prst="rect">
            <a:avLst/>
          </a:prstGeom>
          <a:noFill/>
          <a:ln/>
        </p:spPr>
        <p:txBody>
          <a:bodyPr wrap="square" lIns="0" tIns="0" rIns="0" bIns="0" rtlCol="0" anchor="ctr"/>
          <a:lstStyle/>
          <a:p>
            <a:pPr marL="0" indent="0" algn="ctr">
              <a:buNone/>
            </a:pPr>
            <a:r>
              <a:rPr lang="en-US" sz="1800" b="1">
                <a:solidFill>
                  <a:srgbClr val="FFFFFF"/>
                </a:solidFill>
                <a:latin typeface="Century Schoolbook" pitchFamily="34" charset="0"/>
                <a:ea typeface="Century Schoolbook" pitchFamily="34" charset="-122"/>
                <a:cs typeface="Century Schoolbook" pitchFamily="34" charset="-120"/>
              </a:rPr>
              <a:t>2</a:t>
            </a:r>
            <a:endParaRPr lang="en-US" sz="1800"/>
          </a:p>
        </p:txBody>
      </p:sp>
      <p:sp>
        <p:nvSpPr>
          <p:cNvPr id="4" name="Text 2"/>
          <p:cNvSpPr/>
          <p:nvPr/>
        </p:nvSpPr>
        <p:spPr>
          <a:xfrm>
            <a:off x="2468880" y="1783080"/>
            <a:ext cx="8686800" cy="329184"/>
          </a:xfrm>
          <a:prstGeom prst="rect">
            <a:avLst/>
          </a:prstGeom>
          <a:noFill/>
          <a:ln/>
        </p:spPr>
        <p:txBody>
          <a:bodyPr wrap="square" lIns="0" tIns="0" rIns="0" bIns="0" rtlCol="0" anchor="ctr"/>
          <a:lstStyle/>
          <a:p>
            <a:pPr marL="0" indent="0">
              <a:buNone/>
            </a:pPr>
            <a:r>
              <a:rPr lang="en-US" sz="1400" b="1" kern="0" spc="240">
                <a:solidFill>
                  <a:srgbClr val="A65E2E"/>
                </a:solidFill>
                <a:latin typeface="Cambria" pitchFamily="34" charset="0"/>
                <a:ea typeface="Cambria" pitchFamily="34" charset="-122"/>
                <a:cs typeface="Cambria" pitchFamily="34" charset="-120"/>
              </a:rPr>
              <a:t>CASO 2</a:t>
            </a:r>
            <a:endParaRPr lang="en-US" sz="1400"/>
          </a:p>
        </p:txBody>
      </p:sp>
      <p:sp>
        <p:nvSpPr>
          <p:cNvPr id="5" name="Text 3"/>
          <p:cNvSpPr/>
          <p:nvPr/>
        </p:nvSpPr>
        <p:spPr>
          <a:xfrm>
            <a:off x="2468880" y="2103120"/>
            <a:ext cx="8778240" cy="868680"/>
          </a:xfrm>
          <a:prstGeom prst="rect">
            <a:avLst/>
          </a:prstGeom>
          <a:noFill/>
          <a:ln/>
        </p:spPr>
        <p:txBody>
          <a:bodyPr wrap="square" lIns="0" tIns="0" rIns="0" bIns="0" rtlCol="0" anchor="ctr"/>
          <a:lstStyle/>
          <a:p>
            <a:pPr marL="0" indent="0">
              <a:buNone/>
            </a:pPr>
            <a:r>
              <a:rPr lang="en-US" sz="3400" b="1">
                <a:solidFill>
                  <a:srgbClr val="12212F"/>
                </a:solidFill>
                <a:latin typeface="Century Schoolbook" pitchFamily="34" charset="0"/>
                <a:ea typeface="Century Schoolbook" pitchFamily="34" charset="-122"/>
                <a:cs typeface="Century Schoolbook" pitchFamily="34" charset="-120"/>
              </a:rPr>
              <a:t>Depósito Aduanero con Warrant</a:t>
            </a:r>
            <a:endParaRPr lang="en-US" sz="3400"/>
          </a:p>
        </p:txBody>
      </p:sp>
      <p:sp>
        <p:nvSpPr>
          <p:cNvPr id="6" name="Text 4"/>
          <p:cNvSpPr/>
          <p:nvPr/>
        </p:nvSpPr>
        <p:spPr>
          <a:xfrm>
            <a:off x="2468880" y="2926080"/>
            <a:ext cx="8595360" cy="457200"/>
          </a:xfrm>
          <a:prstGeom prst="rect">
            <a:avLst/>
          </a:prstGeom>
          <a:noFill/>
          <a:ln/>
        </p:spPr>
        <p:txBody>
          <a:bodyPr wrap="square" lIns="0" tIns="0" rIns="0" bIns="0" rtlCol="0" anchor="ctr"/>
          <a:lstStyle/>
          <a:p>
            <a:pPr marL="0" indent="0">
              <a:buNone/>
            </a:pPr>
            <a:r>
              <a:rPr lang="en-US" sz="1600">
                <a:solidFill>
                  <a:srgbClr val="44586A"/>
                </a:solidFill>
                <a:latin typeface="Cambria" pitchFamily="34" charset="0"/>
                <a:ea typeface="Cambria" pitchFamily="34" charset="-122"/>
                <a:cs typeface="Cambria" pitchFamily="34" charset="-120"/>
              </a:rPr>
              <a:t>Almacenar sin pagar tributos y financiarse con la propia mercancía</a:t>
            </a:r>
            <a:endParaRPr lang="en-US" sz="1600"/>
          </a:p>
        </p:txBody>
      </p:sp>
      <p:sp>
        <p:nvSpPr>
          <p:cNvPr id="7" name="Shape 5"/>
          <p:cNvSpPr/>
          <p:nvPr/>
        </p:nvSpPr>
        <p:spPr>
          <a:xfrm>
            <a:off x="548640" y="3977640"/>
            <a:ext cx="11094415" cy="1051560"/>
          </a:xfrm>
          <a:prstGeom prst="roundRect">
            <a:avLst>
              <a:gd name="adj" fmla="val 5217"/>
            </a:avLst>
          </a:prstGeom>
          <a:solidFill>
            <a:srgbClr val="FFFFFF"/>
          </a:solidFill>
          <a:ln w="12700">
            <a:solidFill>
              <a:srgbClr val="C9D8E2"/>
            </a:solidFill>
            <a:prstDash val="solid"/>
          </a:ln>
        </p:spPr>
        <p:txBody>
          <a:bodyPr/>
          <a:lstStyle/>
          <a:p>
            <a:endParaRPr lang="es-PE"/>
          </a:p>
        </p:txBody>
      </p:sp>
      <p:sp>
        <p:nvSpPr>
          <p:cNvPr id="8" name="Text 6"/>
          <p:cNvSpPr/>
          <p:nvPr/>
        </p:nvSpPr>
        <p:spPr>
          <a:xfrm>
            <a:off x="868680" y="4160520"/>
            <a:ext cx="3657600" cy="237744"/>
          </a:xfrm>
          <a:prstGeom prst="rect">
            <a:avLst/>
          </a:prstGeom>
          <a:noFill/>
          <a:ln/>
        </p:spPr>
        <p:txBody>
          <a:bodyPr wrap="square" lIns="0" tIns="0" rIns="0" bIns="0" rtlCol="0" anchor="ctr"/>
          <a:lstStyle/>
          <a:p>
            <a:pPr marL="0" indent="0">
              <a:buNone/>
            </a:pPr>
            <a:r>
              <a:rPr lang="en-US" sz="950" b="1" kern="0" spc="120">
                <a:solidFill>
                  <a:srgbClr val="44586A"/>
                </a:solidFill>
                <a:latin typeface="Cambria" pitchFamily="34" charset="0"/>
                <a:ea typeface="Cambria" pitchFamily="34" charset="-122"/>
                <a:cs typeface="Cambria" pitchFamily="34" charset="-120"/>
              </a:rPr>
              <a:t>EMPRESA DEL CASO</a:t>
            </a:r>
            <a:endParaRPr lang="en-US" sz="950"/>
          </a:p>
        </p:txBody>
      </p:sp>
      <p:sp>
        <p:nvSpPr>
          <p:cNvPr id="9" name="Text 7"/>
          <p:cNvSpPr/>
          <p:nvPr/>
        </p:nvSpPr>
        <p:spPr>
          <a:xfrm>
            <a:off x="868680" y="4407408"/>
            <a:ext cx="10424160" cy="411480"/>
          </a:xfrm>
          <a:prstGeom prst="rect">
            <a:avLst/>
          </a:prstGeom>
          <a:noFill/>
          <a:ln/>
        </p:spPr>
        <p:txBody>
          <a:bodyPr wrap="square" lIns="0" tIns="0" rIns="0" bIns="0" rtlCol="0" anchor="ctr"/>
          <a:lstStyle/>
          <a:p>
            <a:pPr marL="0" indent="0">
              <a:buNone/>
            </a:pPr>
            <a:r>
              <a:rPr lang="en-US" sz="1800" b="1">
                <a:solidFill>
                  <a:srgbClr val="A65E2E"/>
                </a:solidFill>
                <a:latin typeface="Century Schoolbook" pitchFamily="34" charset="0"/>
                <a:ea typeface="Century Schoolbook" pitchFamily="34" charset="-122"/>
                <a:cs typeface="Century Schoolbook" pitchFamily="34" charset="-120"/>
              </a:rPr>
              <a:t>TecnoImport Perú S.A.C.  ·  RUC 20605517842</a:t>
            </a:r>
            <a:endParaRPr lang="en-US" sz="1800"/>
          </a:p>
        </p:txBody>
      </p:sp>
      <p:sp>
        <p:nvSpPr>
          <p:cNvPr id="10" name="Text 8"/>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Tarea 4 · Regímenes Aduaneros Especiales</a:t>
            </a:r>
            <a:endParaRPr lang="en-US" sz="950"/>
          </a:p>
        </p:txBody>
      </p:sp>
      <p:sp>
        <p:nvSpPr>
          <p:cNvPr id="11" name="Text 9"/>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ANDERSON QUISPE</a:t>
            </a:r>
            <a:endParaRPr lang="en-US" sz="850"/>
          </a:p>
        </p:txBody>
      </p:sp>
      <p:sp>
        <p:nvSpPr>
          <p:cNvPr id="12" name="Text 10"/>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13</a:t>
            </a:r>
            <a:endParaRPr lang="en-US" sz="9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A65E2E"/>
                </a:solidFill>
                <a:latin typeface="Cambria" pitchFamily="34" charset="0"/>
                <a:ea typeface="Cambria" pitchFamily="34" charset="-122"/>
                <a:cs typeface="Cambria" pitchFamily="34" charset="-120"/>
              </a:rPr>
              <a:t>CASO 2</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El régimen de Depósito Aduanero</a:t>
            </a:r>
            <a:endParaRPr lang="en-US" sz="3000"/>
          </a:p>
        </p:txBody>
      </p:sp>
      <p:sp>
        <p:nvSpPr>
          <p:cNvPr id="4" name="Shape 2"/>
          <p:cNvSpPr/>
          <p:nvPr/>
        </p:nvSpPr>
        <p:spPr>
          <a:xfrm>
            <a:off x="548640" y="1536192"/>
            <a:ext cx="5852160" cy="2103120"/>
          </a:xfrm>
          <a:prstGeom prst="roundRect">
            <a:avLst>
              <a:gd name="adj" fmla="val 2609"/>
            </a:avLst>
          </a:prstGeom>
          <a:solidFill>
            <a:srgbClr val="F1F6F9"/>
          </a:solidFill>
          <a:ln w="12700">
            <a:solidFill>
              <a:srgbClr val="C9D8E2"/>
            </a:solidFill>
            <a:prstDash val="solid"/>
          </a:ln>
        </p:spPr>
        <p:txBody>
          <a:bodyPr/>
          <a:lstStyle/>
          <a:p>
            <a:endParaRPr lang="es-PE"/>
          </a:p>
        </p:txBody>
      </p:sp>
      <p:sp>
        <p:nvSpPr>
          <p:cNvPr id="5" name="Text 3"/>
          <p:cNvSpPr/>
          <p:nvPr/>
        </p:nvSpPr>
        <p:spPr>
          <a:xfrm>
            <a:off x="841248" y="1737360"/>
            <a:ext cx="5303520" cy="237744"/>
          </a:xfrm>
          <a:prstGeom prst="rect">
            <a:avLst/>
          </a:prstGeom>
          <a:noFill/>
          <a:ln/>
        </p:spPr>
        <p:txBody>
          <a:bodyPr wrap="square" lIns="0" tIns="0" rIns="0" bIns="0" rtlCol="0" anchor="ctr"/>
          <a:lstStyle/>
          <a:p>
            <a:pPr marL="0" indent="0">
              <a:buNone/>
            </a:pPr>
            <a:r>
              <a:rPr lang="en-US" sz="950" b="1" kern="0" spc="120">
                <a:solidFill>
                  <a:srgbClr val="44586A"/>
                </a:solidFill>
                <a:latin typeface="Cambria" pitchFamily="34" charset="0"/>
                <a:ea typeface="Cambria" pitchFamily="34" charset="-122"/>
                <a:cs typeface="Cambria" pitchFamily="34" charset="-120"/>
              </a:rPr>
              <a:t>QUÉ PERMITE</a:t>
            </a:r>
            <a:endParaRPr lang="en-US" sz="950"/>
          </a:p>
        </p:txBody>
      </p:sp>
      <p:sp>
        <p:nvSpPr>
          <p:cNvPr id="6" name="Text 4"/>
          <p:cNvSpPr/>
          <p:nvPr/>
        </p:nvSpPr>
        <p:spPr>
          <a:xfrm>
            <a:off x="841248" y="2011680"/>
            <a:ext cx="5303520" cy="1463040"/>
          </a:xfrm>
          <a:prstGeom prst="rect">
            <a:avLst/>
          </a:prstGeom>
          <a:noFill/>
          <a:ln/>
        </p:spPr>
        <p:txBody>
          <a:bodyPr wrap="square" lIns="0" tIns="0" rIns="0" bIns="0" rtlCol="0" anchor="ctr"/>
          <a:lstStyle/>
          <a:p>
            <a:pPr marL="0" indent="0">
              <a:lnSpc>
                <a:spcPts val="1600"/>
              </a:lnSpc>
              <a:buNone/>
            </a:pPr>
            <a:r>
              <a:rPr lang="en-US" sz="1250">
                <a:solidFill>
                  <a:srgbClr val="12212F"/>
                </a:solidFill>
                <a:latin typeface="Cambria" pitchFamily="34" charset="0"/>
                <a:ea typeface="Cambria" pitchFamily="34" charset="-122"/>
                <a:cs typeface="Cambria" pitchFamily="34" charset="-120"/>
              </a:rPr>
              <a:t>Almacenar la mercancía que llega al territorio aduanero, bajo control de la Aduana y en lugares autorizados, sin pagar los derechos arancelarios ni los demás impuestos que gravan la importación, siempre que no haya sido solicitada a otro régimen ni se encuentre en abandono legal.</a:t>
            </a:r>
            <a:endParaRPr lang="en-US" sz="1250"/>
          </a:p>
        </p:txBody>
      </p:sp>
      <p:sp>
        <p:nvSpPr>
          <p:cNvPr id="7" name="Shape 5"/>
          <p:cNvSpPr/>
          <p:nvPr/>
        </p:nvSpPr>
        <p:spPr>
          <a:xfrm>
            <a:off x="548640" y="3840480"/>
            <a:ext cx="5852160" cy="2194560"/>
          </a:xfrm>
          <a:prstGeom prst="roundRect">
            <a:avLst>
              <a:gd name="adj" fmla="val 2500"/>
            </a:avLst>
          </a:prstGeom>
          <a:solidFill>
            <a:srgbClr val="FFFFFF"/>
          </a:solidFill>
          <a:ln w="12700">
            <a:solidFill>
              <a:srgbClr val="C9D8E2"/>
            </a:solidFill>
            <a:prstDash val="solid"/>
          </a:ln>
        </p:spPr>
        <p:txBody>
          <a:bodyPr/>
          <a:lstStyle/>
          <a:p>
            <a:endParaRPr lang="es-PE"/>
          </a:p>
        </p:txBody>
      </p:sp>
      <p:sp>
        <p:nvSpPr>
          <p:cNvPr id="8" name="Text 6"/>
          <p:cNvSpPr/>
          <p:nvPr/>
        </p:nvSpPr>
        <p:spPr>
          <a:xfrm>
            <a:off x="841248" y="4041648"/>
            <a:ext cx="5303520" cy="237744"/>
          </a:xfrm>
          <a:prstGeom prst="rect">
            <a:avLst/>
          </a:prstGeom>
          <a:noFill/>
          <a:ln/>
        </p:spPr>
        <p:txBody>
          <a:bodyPr wrap="square" lIns="0" tIns="0" rIns="0" bIns="0" rtlCol="0" anchor="ctr"/>
          <a:lstStyle/>
          <a:p>
            <a:pPr marL="0" indent="0">
              <a:buNone/>
            </a:pPr>
            <a:r>
              <a:rPr lang="en-US" sz="950" b="1" kern="0" spc="110">
                <a:solidFill>
                  <a:srgbClr val="44586A"/>
                </a:solidFill>
                <a:latin typeface="Cambria" pitchFamily="34" charset="0"/>
                <a:ea typeface="Cambria" pitchFamily="34" charset="-122"/>
                <a:cs typeface="Cambria" pitchFamily="34" charset="-120"/>
              </a:rPr>
              <a:t>ACTIVIDADES PERMITIDAS DENTRO DEL DEPÓSITO</a:t>
            </a:r>
            <a:endParaRPr lang="en-US" sz="950"/>
          </a:p>
        </p:txBody>
      </p:sp>
      <p:sp>
        <p:nvSpPr>
          <p:cNvPr id="9" name="Text 7"/>
          <p:cNvSpPr/>
          <p:nvPr/>
        </p:nvSpPr>
        <p:spPr>
          <a:xfrm>
            <a:off x="841248" y="4315968"/>
            <a:ext cx="5303520" cy="1600200"/>
          </a:xfrm>
          <a:prstGeom prst="rect">
            <a:avLst/>
          </a:prstGeom>
          <a:noFill/>
          <a:ln/>
        </p:spPr>
        <p:txBody>
          <a:bodyPr wrap="square" lIns="0" tIns="0" rIns="0" bIns="0" rtlCol="0" anchor="ctr"/>
          <a:lstStyle/>
          <a:p>
            <a:pPr marL="342900" indent="-342900">
              <a:lnSpc>
                <a:spcPts val="1500"/>
              </a:lnSpc>
              <a:spcAft>
                <a:spcPts val="400"/>
              </a:spcAft>
              <a:buSzPct val="100000"/>
              <a:buChar char="•"/>
            </a:pPr>
            <a:r>
              <a:rPr lang="en-US" sz="1200">
                <a:solidFill>
                  <a:srgbClr val="12212F"/>
                </a:solidFill>
                <a:latin typeface="Cambria" pitchFamily="34" charset="0"/>
                <a:ea typeface="Cambria" pitchFamily="34" charset="-122"/>
                <a:cs typeface="Cambria" pitchFamily="34" charset="-120"/>
              </a:rPr>
              <a:t>Cambio y reparación de envases</a:t>
            </a:r>
            <a:endParaRPr lang="en-US" sz="1200"/>
          </a:p>
          <a:p>
            <a:pPr marL="342900" indent="-342900">
              <a:lnSpc>
                <a:spcPts val="1500"/>
              </a:lnSpc>
              <a:spcAft>
                <a:spcPts val="400"/>
              </a:spcAft>
              <a:buSzPct val="100000"/>
              <a:buChar char="•"/>
            </a:pPr>
            <a:r>
              <a:rPr lang="en-US" sz="1200">
                <a:solidFill>
                  <a:srgbClr val="12212F"/>
                </a:solidFill>
                <a:latin typeface="Cambria" pitchFamily="34" charset="0"/>
                <a:ea typeface="Cambria" pitchFamily="34" charset="-122"/>
                <a:cs typeface="Cambria" pitchFamily="34" charset="-120"/>
              </a:rPr>
              <a:t>Reunión de bultos y formación de lotes</a:t>
            </a:r>
            <a:endParaRPr lang="en-US" sz="1200"/>
          </a:p>
          <a:p>
            <a:pPr marL="342900" indent="-342900">
              <a:lnSpc>
                <a:spcPts val="1500"/>
              </a:lnSpc>
              <a:spcAft>
                <a:spcPts val="400"/>
              </a:spcAft>
              <a:buSzPct val="100000"/>
              <a:buChar char="•"/>
            </a:pPr>
            <a:r>
              <a:rPr lang="en-US" sz="1200">
                <a:solidFill>
                  <a:srgbClr val="12212F"/>
                </a:solidFill>
                <a:latin typeface="Cambria" pitchFamily="34" charset="0"/>
                <a:ea typeface="Cambria" pitchFamily="34" charset="-122"/>
                <a:cs typeface="Cambria" pitchFamily="34" charset="-120"/>
              </a:rPr>
              <a:t>Clasificación y acondicionamiento de la mercancía</a:t>
            </a:r>
            <a:endParaRPr lang="en-US" sz="1200"/>
          </a:p>
          <a:p>
            <a:pPr marL="342900" indent="-342900">
              <a:lnSpc>
                <a:spcPts val="1500"/>
              </a:lnSpc>
              <a:spcAft>
                <a:spcPts val="400"/>
              </a:spcAft>
              <a:buSzPct val="100000"/>
              <a:buChar char="•"/>
            </a:pPr>
            <a:r>
              <a:rPr lang="en-US" sz="1200">
                <a:solidFill>
                  <a:srgbClr val="12212F"/>
                </a:solidFill>
                <a:latin typeface="Cambria" pitchFamily="34" charset="0"/>
                <a:ea typeface="Cambria" pitchFamily="34" charset="-122"/>
                <a:cs typeface="Cambria" pitchFamily="34" charset="-120"/>
              </a:rPr>
              <a:t>Trasiego: cambio de envase de líquidos</a:t>
            </a:r>
            <a:endParaRPr lang="en-US" sz="1200"/>
          </a:p>
          <a:p>
            <a:pPr marL="0" indent="0">
              <a:lnSpc>
                <a:spcPts val="1500"/>
              </a:lnSpc>
              <a:spcAft>
                <a:spcPts val="400"/>
              </a:spcAft>
              <a:buNone/>
            </a:pPr>
            <a:r>
              <a:rPr lang="en-US" sz="1200" b="1">
                <a:solidFill>
                  <a:srgbClr val="12212F"/>
                </a:solidFill>
                <a:latin typeface="Cambria" pitchFamily="34" charset="0"/>
                <a:ea typeface="Cambria" pitchFamily="34" charset="-122"/>
                <a:cs typeface="Cambria" pitchFamily="34" charset="-120"/>
              </a:rPr>
              <a:t>Siempre sin alterar la naturaleza ni el valor de la mercancía, y con autorización previa del dueño de la carga.</a:t>
            </a:r>
            <a:endParaRPr lang="en-US" sz="1200"/>
          </a:p>
        </p:txBody>
      </p:sp>
      <p:sp>
        <p:nvSpPr>
          <p:cNvPr id="10" name="Shape 8"/>
          <p:cNvSpPr/>
          <p:nvPr/>
        </p:nvSpPr>
        <p:spPr>
          <a:xfrm>
            <a:off x="6766560" y="1536192"/>
            <a:ext cx="4873752" cy="2331720"/>
          </a:xfrm>
          <a:prstGeom prst="roundRect">
            <a:avLst>
              <a:gd name="adj" fmla="val 2353"/>
            </a:avLst>
          </a:prstGeom>
          <a:solidFill>
            <a:srgbClr val="FFFFFF"/>
          </a:solidFill>
          <a:ln w="12700">
            <a:solidFill>
              <a:srgbClr val="A65E2E"/>
            </a:solidFill>
            <a:prstDash val="solid"/>
          </a:ln>
        </p:spPr>
        <p:txBody>
          <a:bodyPr/>
          <a:lstStyle/>
          <a:p>
            <a:endParaRPr lang="es-PE"/>
          </a:p>
        </p:txBody>
      </p:sp>
      <p:sp>
        <p:nvSpPr>
          <p:cNvPr id="11" name="Text 9"/>
          <p:cNvSpPr/>
          <p:nvPr/>
        </p:nvSpPr>
        <p:spPr>
          <a:xfrm>
            <a:off x="7040880" y="1783080"/>
            <a:ext cx="4343400" cy="274320"/>
          </a:xfrm>
          <a:prstGeom prst="rect">
            <a:avLst/>
          </a:prstGeom>
          <a:noFill/>
          <a:ln/>
        </p:spPr>
        <p:txBody>
          <a:bodyPr wrap="square" lIns="0" tIns="0" rIns="0" bIns="0" rtlCol="0" anchor="ctr"/>
          <a:lstStyle/>
          <a:p>
            <a:pPr marL="0" indent="0" algn="ctr">
              <a:buNone/>
            </a:pPr>
            <a:r>
              <a:rPr lang="en-US" sz="1000" b="1" kern="0" spc="120">
                <a:solidFill>
                  <a:srgbClr val="44586A"/>
                </a:solidFill>
                <a:latin typeface="Cambria" pitchFamily="34" charset="0"/>
                <a:ea typeface="Cambria" pitchFamily="34" charset="-122"/>
                <a:cs typeface="Cambria" pitchFamily="34" charset="-120"/>
              </a:rPr>
              <a:t>PLAZO MÁXIMO</a:t>
            </a:r>
            <a:endParaRPr lang="en-US" sz="1000"/>
          </a:p>
        </p:txBody>
      </p:sp>
      <p:sp>
        <p:nvSpPr>
          <p:cNvPr id="12" name="Text 10"/>
          <p:cNvSpPr/>
          <p:nvPr/>
        </p:nvSpPr>
        <p:spPr>
          <a:xfrm>
            <a:off x="6949440" y="2103120"/>
            <a:ext cx="4526280" cy="777240"/>
          </a:xfrm>
          <a:prstGeom prst="rect">
            <a:avLst/>
          </a:prstGeom>
          <a:noFill/>
          <a:ln/>
        </p:spPr>
        <p:txBody>
          <a:bodyPr wrap="square" lIns="0" tIns="0" rIns="0" bIns="0" rtlCol="0" anchor="ctr"/>
          <a:lstStyle/>
          <a:p>
            <a:pPr marL="0" indent="0" algn="ctr">
              <a:buNone/>
            </a:pPr>
            <a:r>
              <a:rPr lang="en-US" sz="4000" b="1">
                <a:solidFill>
                  <a:srgbClr val="A65E2E"/>
                </a:solidFill>
                <a:latin typeface="Century Schoolbook" pitchFamily="34" charset="0"/>
                <a:ea typeface="Century Schoolbook" pitchFamily="34" charset="-122"/>
                <a:cs typeface="Century Schoolbook" pitchFamily="34" charset="-120"/>
              </a:rPr>
              <a:t>12 meses</a:t>
            </a:r>
            <a:endParaRPr lang="en-US" sz="4000"/>
          </a:p>
        </p:txBody>
      </p:sp>
      <p:sp>
        <p:nvSpPr>
          <p:cNvPr id="13" name="Text 11"/>
          <p:cNvSpPr/>
          <p:nvPr/>
        </p:nvSpPr>
        <p:spPr>
          <a:xfrm>
            <a:off x="7040880" y="2926080"/>
            <a:ext cx="4343400" cy="365760"/>
          </a:xfrm>
          <a:prstGeom prst="rect">
            <a:avLst/>
          </a:prstGeom>
          <a:noFill/>
          <a:ln/>
        </p:spPr>
        <p:txBody>
          <a:bodyPr wrap="square" lIns="0" tIns="0" rIns="0" bIns="0" rtlCol="0" anchor="ctr"/>
          <a:lstStyle/>
          <a:p>
            <a:pPr marL="0" indent="0" algn="ctr">
              <a:buNone/>
            </a:pPr>
            <a:r>
              <a:rPr lang="en-US" sz="1200">
                <a:solidFill>
                  <a:srgbClr val="12212F"/>
                </a:solidFill>
                <a:latin typeface="Cambria" pitchFamily="34" charset="0"/>
                <a:ea typeface="Cambria" pitchFamily="34" charset="-122"/>
                <a:cs typeface="Cambria" pitchFamily="34" charset="-120"/>
              </a:rPr>
              <a:t>Contados desde la numeración de la declaración.</a:t>
            </a:r>
            <a:endParaRPr lang="en-US" sz="1200"/>
          </a:p>
        </p:txBody>
      </p:sp>
      <p:sp>
        <p:nvSpPr>
          <p:cNvPr id="14" name="Text 12"/>
          <p:cNvSpPr/>
          <p:nvPr/>
        </p:nvSpPr>
        <p:spPr>
          <a:xfrm>
            <a:off x="7040880" y="3310128"/>
            <a:ext cx="4343400" cy="365760"/>
          </a:xfrm>
          <a:prstGeom prst="rect">
            <a:avLst/>
          </a:prstGeom>
          <a:noFill/>
          <a:ln/>
        </p:spPr>
        <p:txBody>
          <a:bodyPr wrap="square" lIns="0" tIns="0" rIns="0" bIns="0" rtlCol="0" anchor="ctr"/>
          <a:lstStyle/>
          <a:p>
            <a:pPr marL="0" indent="0" algn="ctr">
              <a:buNone/>
            </a:pPr>
            <a:r>
              <a:rPr lang="en-US" sz="1300" b="1">
                <a:solidFill>
                  <a:srgbClr val="A63A50"/>
                </a:solidFill>
                <a:latin typeface="Century Schoolbook" pitchFamily="34" charset="0"/>
                <a:ea typeface="Century Schoolbook" pitchFamily="34" charset="-122"/>
                <a:cs typeface="Century Schoolbook" pitchFamily="34" charset="-120"/>
              </a:rPr>
              <a:t>No admite ampliación ni renovación.</a:t>
            </a:r>
            <a:endParaRPr lang="en-US" sz="1300"/>
          </a:p>
        </p:txBody>
      </p:sp>
      <p:sp>
        <p:nvSpPr>
          <p:cNvPr id="15" name="Shape 13"/>
          <p:cNvSpPr/>
          <p:nvPr/>
        </p:nvSpPr>
        <p:spPr>
          <a:xfrm>
            <a:off x="6766560" y="4069080"/>
            <a:ext cx="4873752" cy="1965960"/>
          </a:xfrm>
          <a:prstGeom prst="roundRect">
            <a:avLst>
              <a:gd name="adj" fmla="val 2791"/>
            </a:avLst>
          </a:prstGeom>
          <a:solidFill>
            <a:srgbClr val="F1F6F9"/>
          </a:solidFill>
          <a:ln w="12700">
            <a:solidFill>
              <a:srgbClr val="C9D8E2"/>
            </a:solidFill>
            <a:prstDash val="solid"/>
          </a:ln>
        </p:spPr>
        <p:txBody>
          <a:bodyPr/>
          <a:lstStyle/>
          <a:p>
            <a:endParaRPr lang="es-PE"/>
          </a:p>
        </p:txBody>
      </p:sp>
      <p:sp>
        <p:nvSpPr>
          <p:cNvPr id="16" name="Text 14"/>
          <p:cNvSpPr/>
          <p:nvPr/>
        </p:nvSpPr>
        <p:spPr>
          <a:xfrm>
            <a:off x="7040880" y="4251960"/>
            <a:ext cx="4343400" cy="256032"/>
          </a:xfrm>
          <a:prstGeom prst="rect">
            <a:avLst/>
          </a:prstGeom>
          <a:noFill/>
          <a:ln/>
        </p:spPr>
        <p:txBody>
          <a:bodyPr wrap="square" lIns="0" tIns="0" rIns="0" bIns="0" rtlCol="0" anchor="ctr"/>
          <a:lstStyle/>
          <a:p>
            <a:pPr marL="0" indent="0">
              <a:buNone/>
            </a:pPr>
            <a:r>
              <a:rPr lang="en-US" sz="950" b="1" kern="0" spc="110">
                <a:solidFill>
                  <a:srgbClr val="44586A"/>
                </a:solidFill>
                <a:latin typeface="Cambria" pitchFamily="34" charset="0"/>
                <a:ea typeface="Cambria" pitchFamily="34" charset="-122"/>
                <a:cs typeface="Cambria" pitchFamily="34" charset="-120"/>
              </a:rPr>
              <a:t>SI VENCE EL PLAZO</a:t>
            </a:r>
            <a:endParaRPr lang="en-US" sz="950"/>
          </a:p>
        </p:txBody>
      </p:sp>
      <p:sp>
        <p:nvSpPr>
          <p:cNvPr id="17" name="Text 15"/>
          <p:cNvSpPr/>
          <p:nvPr/>
        </p:nvSpPr>
        <p:spPr>
          <a:xfrm>
            <a:off x="7040880" y="4526280"/>
            <a:ext cx="4343400" cy="1371600"/>
          </a:xfrm>
          <a:prstGeom prst="rect">
            <a:avLst/>
          </a:prstGeom>
          <a:noFill/>
          <a:ln/>
        </p:spPr>
        <p:txBody>
          <a:bodyPr wrap="square" lIns="0" tIns="0" rIns="0" bIns="0" rtlCol="0" anchor="ctr"/>
          <a:lstStyle/>
          <a:p>
            <a:pPr marL="0" indent="0">
              <a:lnSpc>
                <a:spcPts val="1500"/>
              </a:lnSpc>
              <a:buNone/>
            </a:pPr>
            <a:r>
              <a:rPr lang="en-US" sz="1200">
                <a:solidFill>
                  <a:srgbClr val="12212F"/>
                </a:solidFill>
                <a:latin typeface="Cambria" pitchFamily="34" charset="0"/>
                <a:ea typeface="Cambria" pitchFamily="34" charset="-122"/>
                <a:cs typeface="Cambria" pitchFamily="34" charset="-120"/>
              </a:rPr>
              <a:t>La mercancía cae en abandono legal. A diferencia de la Admisión Temporal, aquí no hay garantía que ejecutar: lo que se pierde es la mercancía misma, que la Aduana puede rematar, adjudicar o destinar según corresponda.</a:t>
            </a:r>
            <a:endParaRPr lang="en-US" sz="1200"/>
          </a:p>
        </p:txBody>
      </p:sp>
      <p:sp>
        <p:nvSpPr>
          <p:cNvPr id="18" name="Text 16"/>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Más de la mitad de los importadores peruanos recurre a este régimen: es una operación pensada para el importador.</a:t>
            </a:r>
            <a:endParaRPr lang="en-US" sz="950"/>
          </a:p>
        </p:txBody>
      </p:sp>
      <p:sp>
        <p:nvSpPr>
          <p:cNvPr id="19" name="Text 17"/>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ANDERSON QUISPE</a:t>
            </a:r>
            <a:endParaRPr lang="en-US" sz="850"/>
          </a:p>
        </p:txBody>
      </p:sp>
      <p:sp>
        <p:nvSpPr>
          <p:cNvPr id="20" name="Text 18"/>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14</a:t>
            </a:r>
            <a:endParaRPr lang="en-US" sz="9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A65E2E"/>
                </a:solidFill>
                <a:latin typeface="Cambria" pitchFamily="34" charset="0"/>
                <a:ea typeface="Cambria" pitchFamily="34" charset="-122"/>
                <a:cs typeface="Cambria" pitchFamily="34" charset="-120"/>
              </a:rPr>
              <a:t>CASO 2</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El Warrant: financiarse con la propia mercancía</a:t>
            </a:r>
            <a:endParaRPr lang="en-US" sz="3000"/>
          </a:p>
        </p:txBody>
      </p:sp>
      <p:sp>
        <p:nvSpPr>
          <p:cNvPr id="4" name="Shape 2"/>
          <p:cNvSpPr/>
          <p:nvPr/>
        </p:nvSpPr>
        <p:spPr>
          <a:xfrm>
            <a:off x="548640" y="1508760"/>
            <a:ext cx="11094415" cy="1143000"/>
          </a:xfrm>
          <a:prstGeom prst="roundRect">
            <a:avLst>
              <a:gd name="adj" fmla="val 4800"/>
            </a:avLst>
          </a:prstGeom>
          <a:solidFill>
            <a:srgbClr val="E4EDF3"/>
          </a:solidFill>
          <a:ln w="12700">
            <a:solidFill>
              <a:srgbClr val="C9D8E2"/>
            </a:solidFill>
            <a:prstDash val="solid"/>
          </a:ln>
        </p:spPr>
        <p:txBody>
          <a:bodyPr/>
          <a:lstStyle/>
          <a:p>
            <a:endParaRPr lang="es-PE"/>
          </a:p>
        </p:txBody>
      </p:sp>
      <p:sp>
        <p:nvSpPr>
          <p:cNvPr id="5" name="Text 3"/>
          <p:cNvSpPr/>
          <p:nvPr/>
        </p:nvSpPr>
        <p:spPr>
          <a:xfrm>
            <a:off x="914400" y="1719072"/>
            <a:ext cx="10362895" cy="777240"/>
          </a:xfrm>
          <a:prstGeom prst="rect">
            <a:avLst/>
          </a:prstGeom>
          <a:noFill/>
          <a:ln/>
        </p:spPr>
        <p:txBody>
          <a:bodyPr wrap="square" lIns="0" tIns="0" rIns="0" bIns="0" rtlCol="0" anchor="ctr"/>
          <a:lstStyle/>
          <a:p>
            <a:pPr marL="0" indent="0">
              <a:lnSpc>
                <a:spcPts val="1800"/>
              </a:lnSpc>
              <a:buNone/>
            </a:pPr>
            <a:r>
              <a:rPr lang="en-US" sz="1400">
                <a:solidFill>
                  <a:srgbClr val="12212F"/>
                </a:solidFill>
                <a:latin typeface="Cambria" pitchFamily="34" charset="0"/>
                <a:ea typeface="Cambria" pitchFamily="34" charset="-122"/>
                <a:cs typeface="Cambria" pitchFamily="34" charset="-120"/>
              </a:rPr>
              <a:t>El Warrant es, ante todo, una operación de financiamiento: el importador pide un préstamo al banco dejando en prenda parte de la mercancía que tiene en Depósito Aduanero (nunca el 100%), sin necesidad de nacionalizar toda la carga de una sola vez.</a:t>
            </a:r>
            <a:endParaRPr lang="en-US" sz="1400"/>
          </a:p>
        </p:txBody>
      </p:sp>
      <p:sp>
        <p:nvSpPr>
          <p:cNvPr id="6" name="Shape 4"/>
          <p:cNvSpPr/>
          <p:nvPr/>
        </p:nvSpPr>
        <p:spPr>
          <a:xfrm>
            <a:off x="548640" y="2834640"/>
            <a:ext cx="5440680" cy="1444752"/>
          </a:xfrm>
          <a:prstGeom prst="roundRect">
            <a:avLst>
              <a:gd name="adj" fmla="val 3797"/>
            </a:avLst>
          </a:prstGeom>
          <a:solidFill>
            <a:srgbClr val="F1F6F9"/>
          </a:solidFill>
          <a:ln w="12700">
            <a:solidFill>
              <a:srgbClr val="C9D8E2"/>
            </a:solidFill>
            <a:prstDash val="solid"/>
          </a:ln>
        </p:spPr>
        <p:txBody>
          <a:bodyPr/>
          <a:lstStyle/>
          <a:p>
            <a:endParaRPr lang="es-PE"/>
          </a:p>
        </p:txBody>
      </p:sp>
      <p:sp>
        <p:nvSpPr>
          <p:cNvPr id="7" name="Shape 5"/>
          <p:cNvSpPr/>
          <p:nvPr/>
        </p:nvSpPr>
        <p:spPr>
          <a:xfrm>
            <a:off x="813816" y="3054096"/>
            <a:ext cx="475488" cy="475488"/>
          </a:xfrm>
          <a:prstGeom prst="ellipse">
            <a:avLst/>
          </a:prstGeom>
          <a:solidFill>
            <a:srgbClr val="A65E2E"/>
          </a:solidFill>
          <a:ln w="12700">
            <a:solidFill>
              <a:srgbClr val="A65E2E"/>
            </a:solidFill>
            <a:prstDash val="solid"/>
          </a:ln>
        </p:spPr>
        <p:txBody>
          <a:bodyPr/>
          <a:lstStyle/>
          <a:p>
            <a:endParaRPr lang="es-PE"/>
          </a:p>
        </p:txBody>
      </p:sp>
      <p:sp>
        <p:nvSpPr>
          <p:cNvPr id="8" name="Text 6"/>
          <p:cNvSpPr/>
          <p:nvPr/>
        </p:nvSpPr>
        <p:spPr>
          <a:xfrm>
            <a:off x="813816" y="3054096"/>
            <a:ext cx="475488" cy="475488"/>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A</a:t>
            </a:r>
            <a:endParaRPr lang="en-US" sz="1400"/>
          </a:p>
        </p:txBody>
      </p:sp>
      <p:sp>
        <p:nvSpPr>
          <p:cNvPr id="9" name="Text 7"/>
          <p:cNvSpPr/>
          <p:nvPr/>
        </p:nvSpPr>
        <p:spPr>
          <a:xfrm>
            <a:off x="1463040" y="3054096"/>
            <a:ext cx="4297680" cy="365760"/>
          </a:xfrm>
          <a:prstGeom prst="rect">
            <a:avLst/>
          </a:prstGeom>
          <a:noFill/>
          <a:ln/>
        </p:spPr>
        <p:txBody>
          <a:bodyPr wrap="square" lIns="0" tIns="0" rIns="0" bIns="0" rtlCol="0" anchor="ctr"/>
          <a:lstStyle/>
          <a:p>
            <a:pPr marL="0" indent="0">
              <a:buNone/>
            </a:pPr>
            <a:r>
              <a:rPr lang="en-US" sz="1450" b="1">
                <a:solidFill>
                  <a:srgbClr val="A65E2E"/>
                </a:solidFill>
                <a:latin typeface="Century Schoolbook" pitchFamily="34" charset="0"/>
                <a:ea typeface="Century Schoolbook" pitchFamily="34" charset="-122"/>
                <a:cs typeface="Century Schoolbook" pitchFamily="34" charset="-120"/>
              </a:rPr>
              <a:t>Dos títulos, siempre juntos</a:t>
            </a:r>
            <a:endParaRPr lang="en-US" sz="1450"/>
          </a:p>
        </p:txBody>
      </p:sp>
      <p:sp>
        <p:nvSpPr>
          <p:cNvPr id="10" name="Text 8"/>
          <p:cNvSpPr/>
          <p:nvPr/>
        </p:nvSpPr>
        <p:spPr>
          <a:xfrm>
            <a:off x="1463040" y="3419856"/>
            <a:ext cx="4370832" cy="786384"/>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El almacén emite el Certificado de Depósito, que acredita la propiedad de la mercancía, y el Warrant, que acredita el derecho de prenda. Ambos se emiten a la orden del banco que presta el dinero.</a:t>
            </a:r>
            <a:endParaRPr lang="en-US" sz="1150"/>
          </a:p>
        </p:txBody>
      </p:sp>
      <p:sp>
        <p:nvSpPr>
          <p:cNvPr id="11" name="Shape 9"/>
          <p:cNvSpPr/>
          <p:nvPr/>
        </p:nvSpPr>
        <p:spPr>
          <a:xfrm>
            <a:off x="6190488" y="2834640"/>
            <a:ext cx="5440680" cy="1444752"/>
          </a:xfrm>
          <a:prstGeom prst="roundRect">
            <a:avLst>
              <a:gd name="adj" fmla="val 3797"/>
            </a:avLst>
          </a:prstGeom>
          <a:solidFill>
            <a:srgbClr val="FFFFFF"/>
          </a:solidFill>
          <a:ln w="12700">
            <a:solidFill>
              <a:srgbClr val="C9D8E2"/>
            </a:solidFill>
            <a:prstDash val="solid"/>
          </a:ln>
        </p:spPr>
        <p:txBody>
          <a:bodyPr/>
          <a:lstStyle/>
          <a:p>
            <a:endParaRPr lang="es-PE"/>
          </a:p>
        </p:txBody>
      </p:sp>
      <p:sp>
        <p:nvSpPr>
          <p:cNvPr id="12" name="Shape 10"/>
          <p:cNvSpPr/>
          <p:nvPr/>
        </p:nvSpPr>
        <p:spPr>
          <a:xfrm>
            <a:off x="6455664" y="3054096"/>
            <a:ext cx="475488" cy="475488"/>
          </a:xfrm>
          <a:prstGeom prst="ellipse">
            <a:avLst/>
          </a:prstGeom>
          <a:solidFill>
            <a:srgbClr val="A65E2E"/>
          </a:solidFill>
          <a:ln w="12700">
            <a:solidFill>
              <a:srgbClr val="A65E2E"/>
            </a:solidFill>
            <a:prstDash val="solid"/>
          </a:ln>
        </p:spPr>
        <p:txBody>
          <a:bodyPr/>
          <a:lstStyle/>
          <a:p>
            <a:endParaRPr lang="es-PE"/>
          </a:p>
        </p:txBody>
      </p:sp>
      <p:sp>
        <p:nvSpPr>
          <p:cNvPr id="13" name="Text 11"/>
          <p:cNvSpPr/>
          <p:nvPr/>
        </p:nvSpPr>
        <p:spPr>
          <a:xfrm>
            <a:off x="6455664" y="3054096"/>
            <a:ext cx="475488" cy="475488"/>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B</a:t>
            </a:r>
            <a:endParaRPr lang="en-US" sz="1400"/>
          </a:p>
        </p:txBody>
      </p:sp>
      <p:sp>
        <p:nvSpPr>
          <p:cNvPr id="14" name="Text 12"/>
          <p:cNvSpPr/>
          <p:nvPr/>
        </p:nvSpPr>
        <p:spPr>
          <a:xfrm>
            <a:off x="7104888" y="3054096"/>
            <a:ext cx="4297680" cy="365760"/>
          </a:xfrm>
          <a:prstGeom prst="rect">
            <a:avLst/>
          </a:prstGeom>
          <a:noFill/>
          <a:ln/>
        </p:spPr>
        <p:txBody>
          <a:bodyPr wrap="square" lIns="0" tIns="0" rIns="0" bIns="0" rtlCol="0" anchor="ctr"/>
          <a:lstStyle/>
          <a:p>
            <a:pPr marL="0" indent="0">
              <a:buNone/>
            </a:pPr>
            <a:r>
              <a:rPr lang="en-US" sz="1450" b="1">
                <a:solidFill>
                  <a:srgbClr val="A65E2E"/>
                </a:solidFill>
                <a:latin typeface="Century Schoolbook" pitchFamily="34" charset="0"/>
                <a:ea typeface="Century Schoolbook" pitchFamily="34" charset="-122"/>
                <a:cs typeface="Century Schoolbook" pitchFamily="34" charset="-120"/>
              </a:rPr>
              <a:t>Requisito del almacén</a:t>
            </a:r>
            <a:endParaRPr lang="en-US" sz="1450"/>
          </a:p>
        </p:txBody>
      </p:sp>
      <p:sp>
        <p:nvSpPr>
          <p:cNvPr id="15" name="Text 13"/>
          <p:cNvSpPr/>
          <p:nvPr/>
        </p:nvSpPr>
        <p:spPr>
          <a:xfrm>
            <a:off x="7104888" y="3419856"/>
            <a:ext cx="4370832" cy="786384"/>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El Depósito Aduanero Autorizado debe estar constituido además como Almacén General de Depósito. Sin esa condición no puede emitir Warrants.</a:t>
            </a:r>
            <a:endParaRPr lang="en-US" sz="1150"/>
          </a:p>
        </p:txBody>
      </p:sp>
      <p:sp>
        <p:nvSpPr>
          <p:cNvPr id="16" name="Shape 14"/>
          <p:cNvSpPr/>
          <p:nvPr/>
        </p:nvSpPr>
        <p:spPr>
          <a:xfrm>
            <a:off x="548640" y="4462272"/>
            <a:ext cx="5440680" cy="1444752"/>
          </a:xfrm>
          <a:prstGeom prst="roundRect">
            <a:avLst>
              <a:gd name="adj" fmla="val 3797"/>
            </a:avLst>
          </a:prstGeom>
          <a:solidFill>
            <a:srgbClr val="F1F6F9"/>
          </a:solidFill>
          <a:ln w="12700">
            <a:solidFill>
              <a:srgbClr val="C9D8E2"/>
            </a:solidFill>
            <a:prstDash val="solid"/>
          </a:ln>
        </p:spPr>
        <p:txBody>
          <a:bodyPr/>
          <a:lstStyle/>
          <a:p>
            <a:endParaRPr lang="es-PE"/>
          </a:p>
        </p:txBody>
      </p:sp>
      <p:sp>
        <p:nvSpPr>
          <p:cNvPr id="17" name="Shape 15"/>
          <p:cNvSpPr/>
          <p:nvPr/>
        </p:nvSpPr>
        <p:spPr>
          <a:xfrm>
            <a:off x="813816" y="4681728"/>
            <a:ext cx="475488" cy="475488"/>
          </a:xfrm>
          <a:prstGeom prst="ellipse">
            <a:avLst/>
          </a:prstGeom>
          <a:solidFill>
            <a:srgbClr val="A65E2E"/>
          </a:solidFill>
          <a:ln w="12700">
            <a:solidFill>
              <a:srgbClr val="A65E2E"/>
            </a:solidFill>
            <a:prstDash val="solid"/>
          </a:ln>
        </p:spPr>
        <p:txBody>
          <a:bodyPr/>
          <a:lstStyle/>
          <a:p>
            <a:endParaRPr lang="es-PE"/>
          </a:p>
        </p:txBody>
      </p:sp>
      <p:sp>
        <p:nvSpPr>
          <p:cNvPr id="18" name="Text 16"/>
          <p:cNvSpPr/>
          <p:nvPr/>
        </p:nvSpPr>
        <p:spPr>
          <a:xfrm>
            <a:off x="813816" y="4681728"/>
            <a:ext cx="475488" cy="475488"/>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C</a:t>
            </a:r>
            <a:endParaRPr lang="en-US" sz="1400"/>
          </a:p>
        </p:txBody>
      </p:sp>
      <p:sp>
        <p:nvSpPr>
          <p:cNvPr id="19" name="Text 17"/>
          <p:cNvSpPr/>
          <p:nvPr/>
        </p:nvSpPr>
        <p:spPr>
          <a:xfrm>
            <a:off x="1463040" y="4681728"/>
            <a:ext cx="4297680" cy="365760"/>
          </a:xfrm>
          <a:prstGeom prst="rect">
            <a:avLst/>
          </a:prstGeom>
          <a:noFill/>
          <a:ln/>
        </p:spPr>
        <p:txBody>
          <a:bodyPr wrap="square" lIns="0" tIns="0" rIns="0" bIns="0" rtlCol="0" anchor="ctr"/>
          <a:lstStyle/>
          <a:p>
            <a:pPr marL="0" indent="0">
              <a:buNone/>
            </a:pPr>
            <a:r>
              <a:rPr lang="en-US" sz="1450" b="1">
                <a:solidFill>
                  <a:srgbClr val="A65E2E"/>
                </a:solidFill>
                <a:latin typeface="Century Schoolbook" pitchFamily="34" charset="0"/>
                <a:ea typeface="Century Schoolbook" pitchFamily="34" charset="-122"/>
                <a:cs typeface="Century Schoolbook" pitchFamily="34" charset="-120"/>
              </a:rPr>
              <a:t>Verificación previa</a:t>
            </a:r>
            <a:endParaRPr lang="en-US" sz="1450"/>
          </a:p>
        </p:txBody>
      </p:sp>
      <p:sp>
        <p:nvSpPr>
          <p:cNvPr id="20" name="Text 18"/>
          <p:cNvSpPr/>
          <p:nvPr/>
        </p:nvSpPr>
        <p:spPr>
          <a:xfrm>
            <a:off x="1463040" y="5047488"/>
            <a:ext cx="4370832" cy="786384"/>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El banco envía a una empresa ajustadora de seguros a verificar físicamente el estado y la existencia de la mercancía antes de aceptarla en garantía, y hace seguimiento mientras dure el préstamo.</a:t>
            </a:r>
            <a:endParaRPr lang="en-US" sz="1150"/>
          </a:p>
        </p:txBody>
      </p:sp>
      <p:sp>
        <p:nvSpPr>
          <p:cNvPr id="21" name="Shape 19"/>
          <p:cNvSpPr/>
          <p:nvPr/>
        </p:nvSpPr>
        <p:spPr>
          <a:xfrm>
            <a:off x="6190488" y="4462272"/>
            <a:ext cx="5440680" cy="1444752"/>
          </a:xfrm>
          <a:prstGeom prst="roundRect">
            <a:avLst>
              <a:gd name="adj" fmla="val 3797"/>
            </a:avLst>
          </a:prstGeom>
          <a:solidFill>
            <a:srgbClr val="FFFFFF"/>
          </a:solidFill>
          <a:ln w="12700">
            <a:solidFill>
              <a:srgbClr val="C9D8E2"/>
            </a:solidFill>
            <a:prstDash val="solid"/>
          </a:ln>
        </p:spPr>
        <p:txBody>
          <a:bodyPr/>
          <a:lstStyle/>
          <a:p>
            <a:endParaRPr lang="es-PE"/>
          </a:p>
        </p:txBody>
      </p:sp>
      <p:sp>
        <p:nvSpPr>
          <p:cNvPr id="22" name="Shape 20"/>
          <p:cNvSpPr/>
          <p:nvPr/>
        </p:nvSpPr>
        <p:spPr>
          <a:xfrm>
            <a:off x="6455664" y="4681728"/>
            <a:ext cx="475488" cy="475488"/>
          </a:xfrm>
          <a:prstGeom prst="ellipse">
            <a:avLst/>
          </a:prstGeom>
          <a:solidFill>
            <a:srgbClr val="A65E2E"/>
          </a:solidFill>
          <a:ln w="12700">
            <a:solidFill>
              <a:srgbClr val="A65E2E"/>
            </a:solidFill>
            <a:prstDash val="solid"/>
          </a:ln>
        </p:spPr>
        <p:txBody>
          <a:bodyPr/>
          <a:lstStyle/>
          <a:p>
            <a:endParaRPr lang="es-PE"/>
          </a:p>
        </p:txBody>
      </p:sp>
      <p:sp>
        <p:nvSpPr>
          <p:cNvPr id="23" name="Text 21"/>
          <p:cNvSpPr/>
          <p:nvPr/>
        </p:nvSpPr>
        <p:spPr>
          <a:xfrm>
            <a:off x="6455664" y="4681728"/>
            <a:ext cx="475488" cy="475488"/>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D</a:t>
            </a:r>
            <a:endParaRPr lang="en-US" sz="1400"/>
          </a:p>
        </p:txBody>
      </p:sp>
      <p:sp>
        <p:nvSpPr>
          <p:cNvPr id="24" name="Text 22"/>
          <p:cNvSpPr/>
          <p:nvPr/>
        </p:nvSpPr>
        <p:spPr>
          <a:xfrm>
            <a:off x="7104888" y="4681728"/>
            <a:ext cx="4297680" cy="365760"/>
          </a:xfrm>
          <a:prstGeom prst="rect">
            <a:avLst/>
          </a:prstGeom>
          <a:noFill/>
          <a:ln/>
        </p:spPr>
        <p:txBody>
          <a:bodyPr wrap="square" lIns="0" tIns="0" rIns="0" bIns="0" rtlCol="0" anchor="ctr"/>
          <a:lstStyle/>
          <a:p>
            <a:pPr marL="0" indent="0">
              <a:buNone/>
            </a:pPr>
            <a:r>
              <a:rPr lang="en-US" sz="1450" b="1">
                <a:solidFill>
                  <a:srgbClr val="A65E2E"/>
                </a:solidFill>
                <a:latin typeface="Century Schoolbook" pitchFamily="34" charset="0"/>
                <a:ea typeface="Century Schoolbook" pitchFamily="34" charset="-122"/>
                <a:cs typeface="Century Schoolbook" pitchFamily="34" charset="-120"/>
              </a:rPr>
              <a:t>Destino condicionado</a:t>
            </a:r>
            <a:endParaRPr lang="en-US" sz="1450"/>
          </a:p>
        </p:txBody>
      </p:sp>
      <p:sp>
        <p:nvSpPr>
          <p:cNvPr id="25" name="Text 23"/>
          <p:cNvSpPr/>
          <p:nvPr/>
        </p:nvSpPr>
        <p:spPr>
          <a:xfrm>
            <a:off x="7104888" y="5047488"/>
            <a:ext cx="4370832" cy="786384"/>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El banco puede condicionar el uso del dinero prestado: por ejemplo, exigir que se destine a nacionalizar esa misma mercancía y transferir los fondos directamente para el trámite.</a:t>
            </a:r>
            <a:endParaRPr lang="en-US" sz="1150"/>
          </a:p>
        </p:txBody>
      </p:sp>
      <p:sp>
        <p:nvSpPr>
          <p:cNvPr id="26" name="Text 24"/>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El Warrant financia al importador. No reemplaza ni suspende el pago de los tributos aduaneros.</a:t>
            </a:r>
            <a:endParaRPr lang="en-US" sz="950"/>
          </a:p>
        </p:txBody>
      </p:sp>
      <p:sp>
        <p:nvSpPr>
          <p:cNvPr id="27" name="Text 25"/>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ANDERSON QUISPE</a:t>
            </a:r>
            <a:endParaRPr lang="en-US" sz="850"/>
          </a:p>
        </p:txBody>
      </p:sp>
      <p:sp>
        <p:nvSpPr>
          <p:cNvPr id="28" name="Text 26"/>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15</a:t>
            </a:r>
            <a:endParaRPr lang="en-US" sz="95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A65E2E"/>
                </a:solidFill>
                <a:latin typeface="Cambria" pitchFamily="34" charset="0"/>
                <a:ea typeface="Cambria" pitchFamily="34" charset="-122"/>
                <a:cs typeface="Cambria" pitchFamily="34" charset="-120"/>
              </a:rPr>
              <a:t>CASO 2</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Planteamiento del caso</a:t>
            </a:r>
            <a:endParaRPr lang="en-US" sz="300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566160">
                  <a:extLst>
                    <a:ext uri="{9D8B030D-6E8A-4147-A177-3AD203B41FA5}">
                      <a16:colId xmlns:a16="http://schemas.microsoft.com/office/drawing/2014/main" val="20000"/>
                    </a:ext>
                  </a:extLst>
                </a:gridCol>
                <a:gridCol w="7528255">
                  <a:extLst>
                    <a:ext uri="{9D8B030D-6E8A-4147-A177-3AD203B41FA5}">
                      <a16:colId xmlns:a16="http://schemas.microsoft.com/office/drawing/2014/main" val="20001"/>
                    </a:ext>
                  </a:extLst>
                </a:gridCol>
              </a:tblGrid>
              <a:tr h="402336">
                <a:tc>
                  <a:txBody>
                    <a:bodyPr/>
                    <a:lstStyle/>
                    <a:p>
                      <a:pPr marL="0" indent="0" algn="l">
                        <a:buNone/>
                      </a:pPr>
                      <a:r>
                        <a:rPr lang="en-US" sz="1200" b="1">
                          <a:solidFill>
                            <a:srgbClr val="FFFFFF"/>
                          </a:solidFill>
                          <a:latin typeface="Century Schoolbook" pitchFamily="34" charset="0"/>
                          <a:ea typeface="Century Schoolbook" pitchFamily="34" charset="-122"/>
                          <a:cs typeface="Century Schoolbook" pitchFamily="34" charset="-120"/>
                        </a:rPr>
                        <a:t>Concepto</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tc>
                  <a:txBody>
                    <a:bodyPr/>
                    <a:lstStyle/>
                    <a:p>
                      <a:pPr marL="0" indent="0" algn="l">
                        <a:buNone/>
                      </a:pPr>
                      <a:r>
                        <a:rPr lang="en-US" sz="1200" b="1">
                          <a:solidFill>
                            <a:srgbClr val="FFFFFF"/>
                          </a:solidFill>
                          <a:latin typeface="Century Schoolbook" pitchFamily="34" charset="0"/>
                          <a:ea typeface="Century Schoolbook" pitchFamily="34" charset="-122"/>
                          <a:cs typeface="Century Schoolbook" pitchFamily="34" charset="-120"/>
                        </a:rPr>
                        <a:t>Detalle</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Empresa beneficiaria</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b="1">
                          <a:solidFill>
                            <a:srgbClr val="12212F"/>
                          </a:solidFill>
                          <a:latin typeface="Cambria" pitchFamily="34" charset="0"/>
                          <a:ea typeface="Cambria" pitchFamily="34" charset="-122"/>
                          <a:cs typeface="Cambria" pitchFamily="34" charset="-120"/>
                        </a:rPr>
                        <a:t>TecnoImport Perú S.A.C.  ·  RUC 20605517842</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Mercancía</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2,600 refrigeradoras Side by Side LG Inverter, capacidad 550 L</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extLst>
                  <a:ext uri="{0D108BD9-81ED-4DB2-BD59-A6C34878D82A}">
                    <a16:rowId xmlns:a16="http://schemas.microsoft.com/office/drawing/2014/main" val="10002"/>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Origen</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Corea del Sur, vía Puerto del Callao</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Subpartida nacional</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8418.10.00.00</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extLst>
                  <a:ext uri="{0D108BD9-81ED-4DB2-BD59-A6C34878D82A}">
                    <a16:rowId xmlns:a16="http://schemas.microsoft.com/office/drawing/2014/main" val="10004"/>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Valor FOB / flete / seguro</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US$ 520,000.00  ·  US$ 31,000.00  ·  US$ 2,900.00</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Valor en Aduana (CIF)</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l">
                        <a:buNone/>
                      </a:pPr>
                      <a:r>
                        <a:rPr lang="en-US" sz="1250" b="1">
                          <a:solidFill>
                            <a:srgbClr val="12212F"/>
                          </a:solidFill>
                          <a:latin typeface="Cambria" pitchFamily="34" charset="0"/>
                          <a:ea typeface="Cambria" pitchFamily="34" charset="-122"/>
                          <a:cs typeface="Cambria" pitchFamily="34" charset="-120"/>
                        </a:rPr>
                        <a:t>US$ 553,900.00</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extLst>
                  <a:ext uri="{0D108BD9-81ED-4DB2-BD59-A6C34878D82A}">
                    <a16:rowId xmlns:a16="http://schemas.microsoft.com/office/drawing/2014/main" val="10006"/>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Tributos liquidados si se nacionaliza todo</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b="1">
                          <a:solidFill>
                            <a:srgbClr val="A63A50"/>
                          </a:solidFill>
                          <a:latin typeface="Cambria" pitchFamily="34" charset="0"/>
                          <a:ea typeface="Cambria" pitchFamily="34" charset="-122"/>
                          <a:cs typeface="Cambria" pitchFamily="34" charset="-120"/>
                        </a:rPr>
                        <a:t>US$ 171,598.22   (≈ US$ 66.00 por unidad)</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Almacén</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Almacenera del Sur S.A., Depósito Aduanero y Almacén General de Depósito</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extLst>
                  <a:ext uri="{0D108BD9-81ED-4DB2-BD59-A6C34878D82A}">
                    <a16:rowId xmlns:a16="http://schemas.microsoft.com/office/drawing/2014/main" val="10008"/>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Numeración / vencimiento</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b="1">
                          <a:solidFill>
                            <a:srgbClr val="12212F"/>
                          </a:solidFill>
                          <a:latin typeface="Cambria" pitchFamily="34" charset="0"/>
                          <a:ea typeface="Cambria" pitchFamily="34" charset="-122"/>
                          <a:cs typeface="Cambria" pitchFamily="34" charset="-120"/>
                        </a:rPr>
                        <a:t>07 de agosto de 2026  →  07 de agosto de 2027  (12 meses)</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5" name="Shape 2"/>
          <p:cNvSpPr/>
          <p:nvPr/>
        </p:nvSpPr>
        <p:spPr>
          <a:xfrm>
            <a:off x="548640" y="4617720"/>
            <a:ext cx="11094415" cy="1371600"/>
          </a:xfrm>
          <a:prstGeom prst="roundRect">
            <a:avLst>
              <a:gd name="adj" fmla="val 4000"/>
            </a:avLst>
          </a:prstGeom>
          <a:solidFill>
            <a:srgbClr val="E4EDF3"/>
          </a:solidFill>
          <a:ln w="12700">
            <a:solidFill>
              <a:srgbClr val="C9D8E2"/>
            </a:solidFill>
            <a:prstDash val="solid"/>
          </a:ln>
        </p:spPr>
        <p:txBody>
          <a:bodyPr/>
          <a:lstStyle/>
          <a:p>
            <a:endParaRPr lang="es-PE"/>
          </a:p>
        </p:txBody>
      </p:sp>
      <p:sp>
        <p:nvSpPr>
          <p:cNvPr id="6" name="Text 3"/>
          <p:cNvSpPr/>
          <p:nvPr/>
        </p:nvSpPr>
        <p:spPr>
          <a:xfrm>
            <a:off x="868680" y="4800600"/>
            <a:ext cx="5486400" cy="256032"/>
          </a:xfrm>
          <a:prstGeom prst="rect">
            <a:avLst/>
          </a:prstGeom>
          <a:noFill/>
          <a:ln/>
        </p:spPr>
        <p:txBody>
          <a:bodyPr wrap="square" lIns="0" tIns="0" rIns="0" bIns="0" rtlCol="0" anchor="ctr"/>
          <a:lstStyle/>
          <a:p>
            <a:pPr marL="0" indent="0">
              <a:buNone/>
            </a:pPr>
            <a:r>
              <a:rPr lang="en-US" sz="950" b="1" kern="0" spc="110">
                <a:solidFill>
                  <a:srgbClr val="44586A"/>
                </a:solidFill>
                <a:latin typeface="Cambria" pitchFamily="34" charset="0"/>
                <a:ea typeface="Cambria" pitchFamily="34" charset="-122"/>
                <a:cs typeface="Cambria" pitchFamily="34" charset="-120"/>
              </a:rPr>
              <a:t>EL PROBLEMA A RESOLVER</a:t>
            </a:r>
            <a:endParaRPr lang="en-US" sz="950"/>
          </a:p>
        </p:txBody>
      </p:sp>
      <p:sp>
        <p:nvSpPr>
          <p:cNvPr id="7" name="Text 4"/>
          <p:cNvSpPr/>
          <p:nvPr/>
        </p:nvSpPr>
        <p:spPr>
          <a:xfrm>
            <a:off x="868680" y="5074920"/>
            <a:ext cx="10454335" cy="777240"/>
          </a:xfrm>
          <a:prstGeom prst="rect">
            <a:avLst/>
          </a:prstGeom>
          <a:noFill/>
          <a:ln/>
        </p:spPr>
        <p:txBody>
          <a:bodyPr wrap="square" lIns="0" tIns="0" rIns="0" bIns="0" rtlCol="0" anchor="ctr"/>
          <a:lstStyle/>
          <a:p>
            <a:pPr marL="0" indent="0">
              <a:lnSpc>
                <a:spcPts val="1700"/>
              </a:lnSpc>
              <a:buNone/>
            </a:pPr>
            <a:r>
              <a:rPr lang="en-US" sz="1300">
                <a:solidFill>
                  <a:srgbClr val="12212F"/>
                </a:solidFill>
                <a:latin typeface="Cambria" pitchFamily="34" charset="0"/>
                <a:ea typeface="Cambria" pitchFamily="34" charset="-122"/>
                <a:cs typeface="Cambria" pitchFamily="34" charset="-120"/>
              </a:rPr>
              <a:t>La empresa acaba de invertir fuerte en la compra y no tiene liquidez para pagar de golpe los US$ 171,598.22 de tributos. En vez de dejar la mercancía varada (con riesgo de abandono legal), la ingresa a Depósito y la nacionaliza por lotes conforme genera caja con la venta.</a:t>
            </a:r>
            <a:endParaRPr lang="en-US" sz="1300"/>
          </a:p>
        </p:txBody>
      </p:sp>
      <p:sp>
        <p:nvSpPr>
          <p:cNvPr id="8" name="Text 5"/>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El régimen resuelve un problema de liquidez, no de costo: los tributos se pagan igual, pero escalonadamente.</a:t>
            </a:r>
            <a:endParaRPr lang="en-US" sz="950"/>
          </a:p>
        </p:txBody>
      </p:sp>
      <p:sp>
        <p:nvSpPr>
          <p:cNvPr id="9" name="Text 6"/>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ANDERSON QUISPE</a:t>
            </a:r>
            <a:endParaRPr lang="en-US" sz="850"/>
          </a:p>
        </p:txBody>
      </p:sp>
      <p:sp>
        <p:nvSpPr>
          <p:cNvPr id="10" name="Text 7"/>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16</a:t>
            </a:r>
            <a:endParaRPr lang="en-US" sz="95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A65E2E"/>
                </a:solidFill>
                <a:latin typeface="Cambria" pitchFamily="34" charset="0"/>
                <a:ea typeface="Cambria" pitchFamily="34" charset="-122"/>
                <a:cs typeface="Cambria" pitchFamily="34" charset="-120"/>
              </a:rPr>
              <a:t>CASO 2</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Línea de tiempo y documentación por etapa</a:t>
            </a:r>
            <a:endParaRPr lang="en-US" sz="3000"/>
          </a:p>
        </p:txBody>
      </p:sp>
      <p:sp>
        <p:nvSpPr>
          <p:cNvPr id="4" name="Shape 2"/>
          <p:cNvSpPr/>
          <p:nvPr/>
        </p:nvSpPr>
        <p:spPr>
          <a:xfrm>
            <a:off x="1584930" y="1741932"/>
            <a:ext cx="9021836" cy="27432"/>
          </a:xfrm>
          <a:prstGeom prst="rect">
            <a:avLst/>
          </a:prstGeom>
          <a:solidFill>
            <a:srgbClr val="C9D8E2"/>
          </a:solidFill>
          <a:ln w="12700">
            <a:solidFill>
              <a:srgbClr val="C9D8E2"/>
            </a:solidFill>
            <a:prstDash val="solid"/>
          </a:ln>
        </p:spPr>
        <p:txBody>
          <a:bodyPr/>
          <a:lstStyle/>
          <a:p>
            <a:endParaRPr lang="es-PE"/>
          </a:p>
        </p:txBody>
      </p:sp>
      <p:sp>
        <p:nvSpPr>
          <p:cNvPr id="5" name="Shape 3"/>
          <p:cNvSpPr/>
          <p:nvPr/>
        </p:nvSpPr>
        <p:spPr>
          <a:xfrm>
            <a:off x="1328898" y="1499616"/>
            <a:ext cx="512064" cy="512064"/>
          </a:xfrm>
          <a:prstGeom prst="ellipse">
            <a:avLst/>
          </a:prstGeom>
          <a:solidFill>
            <a:srgbClr val="A65E2E"/>
          </a:solidFill>
          <a:ln w="12700">
            <a:solidFill>
              <a:srgbClr val="A65E2E"/>
            </a:solidFill>
            <a:prstDash val="solid"/>
          </a:ln>
        </p:spPr>
        <p:txBody>
          <a:bodyPr/>
          <a:lstStyle/>
          <a:p>
            <a:endParaRPr lang="es-PE"/>
          </a:p>
        </p:txBody>
      </p:sp>
      <p:sp>
        <p:nvSpPr>
          <p:cNvPr id="6" name="Text 4"/>
          <p:cNvSpPr/>
          <p:nvPr/>
        </p:nvSpPr>
        <p:spPr>
          <a:xfrm>
            <a:off x="1328898" y="1499616"/>
            <a:ext cx="512064" cy="512064"/>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1</a:t>
            </a:r>
            <a:endParaRPr lang="en-US" sz="1400"/>
          </a:p>
        </p:txBody>
      </p:sp>
      <p:sp>
        <p:nvSpPr>
          <p:cNvPr id="7" name="Shape 5"/>
          <p:cNvSpPr/>
          <p:nvPr/>
        </p:nvSpPr>
        <p:spPr>
          <a:xfrm>
            <a:off x="548640" y="2139696"/>
            <a:ext cx="2072579" cy="3401568"/>
          </a:xfrm>
          <a:prstGeom prst="roundRect">
            <a:avLst>
              <a:gd name="adj" fmla="val 2647"/>
            </a:avLst>
          </a:prstGeom>
          <a:solidFill>
            <a:srgbClr val="F1F6F9"/>
          </a:solidFill>
          <a:ln w="12700">
            <a:solidFill>
              <a:srgbClr val="C9D8E2"/>
            </a:solidFill>
            <a:prstDash val="solid"/>
          </a:ln>
        </p:spPr>
        <p:txBody>
          <a:bodyPr/>
          <a:lstStyle/>
          <a:p>
            <a:endParaRPr lang="es-PE"/>
          </a:p>
        </p:txBody>
      </p:sp>
      <p:sp>
        <p:nvSpPr>
          <p:cNvPr id="8" name="Text 6"/>
          <p:cNvSpPr/>
          <p:nvPr/>
        </p:nvSpPr>
        <p:spPr>
          <a:xfrm>
            <a:off x="676656" y="2286000"/>
            <a:ext cx="1816547" cy="237744"/>
          </a:xfrm>
          <a:prstGeom prst="rect">
            <a:avLst/>
          </a:prstGeom>
          <a:noFill/>
          <a:ln/>
        </p:spPr>
        <p:txBody>
          <a:bodyPr wrap="square" lIns="0" tIns="0" rIns="0" bIns="0" rtlCol="0" anchor="ctr"/>
          <a:lstStyle/>
          <a:p>
            <a:pPr marL="0" indent="0" algn="ctr">
              <a:buNone/>
            </a:pPr>
            <a:r>
              <a:rPr lang="en-US" sz="1100" b="1">
                <a:solidFill>
                  <a:srgbClr val="A65E2E"/>
                </a:solidFill>
                <a:latin typeface="Cambria" pitchFamily="34" charset="0"/>
                <a:ea typeface="Cambria" pitchFamily="34" charset="-122"/>
                <a:cs typeface="Cambria" pitchFamily="34" charset="-120"/>
              </a:rPr>
              <a:t>03 → 11.07.2026</a:t>
            </a:r>
            <a:endParaRPr lang="en-US" sz="1100"/>
          </a:p>
        </p:txBody>
      </p:sp>
      <p:sp>
        <p:nvSpPr>
          <p:cNvPr id="9" name="Text 7"/>
          <p:cNvSpPr/>
          <p:nvPr/>
        </p:nvSpPr>
        <p:spPr>
          <a:xfrm>
            <a:off x="676656" y="2560320"/>
            <a:ext cx="1816547" cy="713232"/>
          </a:xfrm>
          <a:prstGeom prst="rect">
            <a:avLst/>
          </a:prstGeom>
          <a:noFill/>
          <a:ln/>
        </p:spPr>
        <p:txBody>
          <a:bodyPr wrap="square" lIns="0" tIns="0" rIns="0" bIns="0" rtlCol="0" anchor="t"/>
          <a:lstStyle/>
          <a:p>
            <a:pPr marL="0" indent="0" algn="ctr">
              <a:lnSpc>
                <a:spcPts val="1500"/>
              </a:lnSpc>
              <a:buNone/>
            </a:pPr>
            <a:r>
              <a:rPr lang="en-US" sz="1250" b="1">
                <a:solidFill>
                  <a:srgbClr val="12212F"/>
                </a:solidFill>
                <a:latin typeface="Century Schoolbook" pitchFamily="34" charset="0"/>
                <a:ea typeface="Century Schoolbook" pitchFamily="34" charset="-122"/>
                <a:cs typeface="Century Schoolbook" pitchFamily="34" charset="-120"/>
              </a:rPr>
              <a:t>Compra y embarque</a:t>
            </a:r>
            <a:endParaRPr lang="en-US" sz="1250"/>
          </a:p>
        </p:txBody>
      </p:sp>
      <p:sp>
        <p:nvSpPr>
          <p:cNvPr id="10" name="Text 8"/>
          <p:cNvSpPr/>
          <p:nvPr/>
        </p:nvSpPr>
        <p:spPr>
          <a:xfrm>
            <a:off x="676656" y="3328416"/>
            <a:ext cx="1816547" cy="804672"/>
          </a:xfrm>
          <a:prstGeom prst="rect">
            <a:avLst/>
          </a:prstGeom>
          <a:noFill/>
          <a:ln/>
        </p:spPr>
        <p:txBody>
          <a:bodyPr wrap="square" lIns="0" tIns="0" rIns="0" bIns="0" rtlCol="0" anchor="t"/>
          <a:lstStyle/>
          <a:p>
            <a:pPr marL="0" indent="0" algn="l">
              <a:lnSpc>
                <a:spcPts val="1300"/>
              </a:lnSpc>
              <a:buNone/>
            </a:pPr>
            <a:r>
              <a:rPr lang="en-US" sz="1050">
                <a:solidFill>
                  <a:srgbClr val="12212F"/>
                </a:solidFill>
                <a:latin typeface="Cambria" pitchFamily="34" charset="0"/>
                <a:ea typeface="Cambria" pitchFamily="34" charset="-122"/>
                <a:cs typeface="Cambria" pitchFamily="34" charset="-120"/>
              </a:rPr>
              <a:t>Compra FOB Busan y embarque de las 2,600 unidades hacia el Callao.</a:t>
            </a:r>
            <a:endParaRPr lang="en-US" sz="1050"/>
          </a:p>
        </p:txBody>
      </p:sp>
      <p:sp>
        <p:nvSpPr>
          <p:cNvPr id="11" name="Text 9"/>
          <p:cNvSpPr/>
          <p:nvPr/>
        </p:nvSpPr>
        <p:spPr>
          <a:xfrm>
            <a:off x="676656" y="4187952"/>
            <a:ext cx="1816547" cy="201168"/>
          </a:xfrm>
          <a:prstGeom prst="rect">
            <a:avLst/>
          </a:prstGeom>
          <a:noFill/>
          <a:ln/>
        </p:spPr>
        <p:txBody>
          <a:bodyPr wrap="square" lIns="0" tIns="0" rIns="0" bIns="0" rtlCol="0" anchor="ctr"/>
          <a:lstStyle/>
          <a:p>
            <a:pPr marL="0" indent="0">
              <a:buNone/>
            </a:pPr>
            <a:r>
              <a:rPr lang="en-US" sz="850" b="1" kern="0" spc="100">
                <a:solidFill>
                  <a:srgbClr val="44586A"/>
                </a:solidFill>
                <a:latin typeface="Cambria" pitchFamily="34" charset="0"/>
                <a:ea typeface="Cambria" pitchFamily="34" charset="-122"/>
                <a:cs typeface="Cambria" pitchFamily="34" charset="-120"/>
              </a:rPr>
              <a:t>DOCUMENTOS</a:t>
            </a:r>
            <a:endParaRPr lang="en-US" sz="850"/>
          </a:p>
        </p:txBody>
      </p:sp>
      <p:sp>
        <p:nvSpPr>
          <p:cNvPr id="12" name="Text 10"/>
          <p:cNvSpPr/>
          <p:nvPr/>
        </p:nvSpPr>
        <p:spPr>
          <a:xfrm>
            <a:off x="676656" y="4425696"/>
            <a:ext cx="1816547" cy="1371600"/>
          </a:xfrm>
          <a:prstGeom prst="rect">
            <a:avLst/>
          </a:prstGeom>
          <a:noFill/>
          <a:ln/>
        </p:spPr>
        <p:txBody>
          <a:bodyPr wrap="square" lIns="0" tIns="0" rIns="0" bIns="0" rtlCol="0" anchor="t"/>
          <a:lstStyle/>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Factura comercial</a:t>
            </a:r>
            <a:endParaRPr lang="en-US" sz="1000"/>
          </a:p>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Bill of Lading</a:t>
            </a:r>
            <a:endParaRPr lang="en-US" sz="1000"/>
          </a:p>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Certificado de seguro</a:t>
            </a:r>
            <a:endParaRPr lang="en-US" sz="1000"/>
          </a:p>
        </p:txBody>
      </p:sp>
      <p:sp>
        <p:nvSpPr>
          <p:cNvPr id="13" name="Shape 11"/>
          <p:cNvSpPr/>
          <p:nvPr/>
        </p:nvSpPr>
        <p:spPr>
          <a:xfrm>
            <a:off x="3584357" y="1499616"/>
            <a:ext cx="512064" cy="512064"/>
          </a:xfrm>
          <a:prstGeom prst="ellipse">
            <a:avLst/>
          </a:prstGeom>
          <a:solidFill>
            <a:srgbClr val="A65E2E"/>
          </a:solidFill>
          <a:ln w="12700">
            <a:solidFill>
              <a:srgbClr val="A65E2E"/>
            </a:solidFill>
            <a:prstDash val="solid"/>
          </a:ln>
        </p:spPr>
        <p:txBody>
          <a:bodyPr/>
          <a:lstStyle/>
          <a:p>
            <a:endParaRPr lang="es-PE"/>
          </a:p>
        </p:txBody>
      </p:sp>
      <p:sp>
        <p:nvSpPr>
          <p:cNvPr id="14" name="Text 12"/>
          <p:cNvSpPr/>
          <p:nvPr/>
        </p:nvSpPr>
        <p:spPr>
          <a:xfrm>
            <a:off x="3584357" y="1499616"/>
            <a:ext cx="512064" cy="512064"/>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2</a:t>
            </a:r>
            <a:endParaRPr lang="en-US" sz="1400"/>
          </a:p>
        </p:txBody>
      </p:sp>
      <p:sp>
        <p:nvSpPr>
          <p:cNvPr id="15" name="Shape 13"/>
          <p:cNvSpPr/>
          <p:nvPr/>
        </p:nvSpPr>
        <p:spPr>
          <a:xfrm>
            <a:off x="2804099" y="2139696"/>
            <a:ext cx="2072579" cy="3401568"/>
          </a:xfrm>
          <a:prstGeom prst="roundRect">
            <a:avLst>
              <a:gd name="adj" fmla="val 2647"/>
            </a:avLst>
          </a:prstGeom>
          <a:solidFill>
            <a:srgbClr val="FFFFFF"/>
          </a:solidFill>
          <a:ln w="12700">
            <a:solidFill>
              <a:srgbClr val="C9D8E2"/>
            </a:solidFill>
            <a:prstDash val="solid"/>
          </a:ln>
        </p:spPr>
        <p:txBody>
          <a:bodyPr/>
          <a:lstStyle/>
          <a:p>
            <a:endParaRPr lang="es-PE"/>
          </a:p>
        </p:txBody>
      </p:sp>
      <p:sp>
        <p:nvSpPr>
          <p:cNvPr id="16" name="Text 14"/>
          <p:cNvSpPr/>
          <p:nvPr/>
        </p:nvSpPr>
        <p:spPr>
          <a:xfrm>
            <a:off x="2932115" y="2286000"/>
            <a:ext cx="1816547" cy="237744"/>
          </a:xfrm>
          <a:prstGeom prst="rect">
            <a:avLst/>
          </a:prstGeom>
          <a:noFill/>
          <a:ln/>
        </p:spPr>
        <p:txBody>
          <a:bodyPr wrap="square" lIns="0" tIns="0" rIns="0" bIns="0" rtlCol="0" anchor="ctr"/>
          <a:lstStyle/>
          <a:p>
            <a:pPr marL="0" indent="0" algn="ctr">
              <a:buNone/>
            </a:pPr>
            <a:r>
              <a:rPr lang="en-US" sz="1100" b="1">
                <a:solidFill>
                  <a:srgbClr val="A65E2E"/>
                </a:solidFill>
                <a:latin typeface="Cambria" pitchFamily="34" charset="0"/>
                <a:ea typeface="Cambria" pitchFamily="34" charset="-122"/>
                <a:cs typeface="Cambria" pitchFamily="34" charset="-120"/>
              </a:rPr>
              <a:t>07.08.2026</a:t>
            </a:r>
            <a:endParaRPr lang="en-US" sz="1100"/>
          </a:p>
        </p:txBody>
      </p:sp>
      <p:sp>
        <p:nvSpPr>
          <p:cNvPr id="17" name="Text 15"/>
          <p:cNvSpPr/>
          <p:nvPr/>
        </p:nvSpPr>
        <p:spPr>
          <a:xfrm>
            <a:off x="2932115" y="2560320"/>
            <a:ext cx="1816547" cy="713232"/>
          </a:xfrm>
          <a:prstGeom prst="rect">
            <a:avLst/>
          </a:prstGeom>
          <a:noFill/>
          <a:ln/>
        </p:spPr>
        <p:txBody>
          <a:bodyPr wrap="square" lIns="0" tIns="0" rIns="0" bIns="0" rtlCol="0" anchor="t"/>
          <a:lstStyle/>
          <a:p>
            <a:pPr marL="0" indent="0" algn="ctr">
              <a:lnSpc>
                <a:spcPts val="1500"/>
              </a:lnSpc>
              <a:buNone/>
            </a:pPr>
            <a:r>
              <a:rPr lang="en-US" sz="1250" b="1">
                <a:solidFill>
                  <a:srgbClr val="12212F"/>
                </a:solidFill>
                <a:latin typeface="Century Schoolbook" pitchFamily="34" charset="0"/>
                <a:ea typeface="Century Schoolbook" pitchFamily="34" charset="-122"/>
                <a:cs typeface="Century Schoolbook" pitchFamily="34" charset="-120"/>
              </a:rPr>
              <a:t>Ingreso a Depósito Aduanero</a:t>
            </a:r>
            <a:endParaRPr lang="en-US" sz="1250"/>
          </a:p>
        </p:txBody>
      </p:sp>
      <p:sp>
        <p:nvSpPr>
          <p:cNvPr id="18" name="Text 16"/>
          <p:cNvSpPr/>
          <p:nvPr/>
        </p:nvSpPr>
        <p:spPr>
          <a:xfrm>
            <a:off x="2932115" y="3328416"/>
            <a:ext cx="1816547" cy="804672"/>
          </a:xfrm>
          <a:prstGeom prst="rect">
            <a:avLst/>
          </a:prstGeom>
          <a:noFill/>
          <a:ln/>
        </p:spPr>
        <p:txBody>
          <a:bodyPr wrap="square" lIns="0" tIns="0" rIns="0" bIns="0" rtlCol="0" anchor="t"/>
          <a:lstStyle/>
          <a:p>
            <a:pPr marL="0" indent="0" algn="l">
              <a:lnSpc>
                <a:spcPts val="1300"/>
              </a:lnSpc>
              <a:buNone/>
            </a:pPr>
            <a:r>
              <a:rPr lang="en-US" sz="1050">
                <a:solidFill>
                  <a:srgbClr val="12212F"/>
                </a:solidFill>
                <a:latin typeface="Cambria" pitchFamily="34" charset="0"/>
                <a:ea typeface="Cambria" pitchFamily="34" charset="-122"/>
                <a:cs typeface="Cambria" pitchFamily="34" charset="-120"/>
              </a:rPr>
              <a:t>Las 2,600 unidades quedan almacenadas sin pago de tributos, por un plazo de 12 meses.</a:t>
            </a:r>
            <a:endParaRPr lang="en-US" sz="1050"/>
          </a:p>
        </p:txBody>
      </p:sp>
      <p:sp>
        <p:nvSpPr>
          <p:cNvPr id="19" name="Text 17"/>
          <p:cNvSpPr/>
          <p:nvPr/>
        </p:nvSpPr>
        <p:spPr>
          <a:xfrm>
            <a:off x="2932115" y="4187952"/>
            <a:ext cx="1816547" cy="201168"/>
          </a:xfrm>
          <a:prstGeom prst="rect">
            <a:avLst/>
          </a:prstGeom>
          <a:noFill/>
          <a:ln/>
        </p:spPr>
        <p:txBody>
          <a:bodyPr wrap="square" lIns="0" tIns="0" rIns="0" bIns="0" rtlCol="0" anchor="ctr"/>
          <a:lstStyle/>
          <a:p>
            <a:pPr marL="0" indent="0">
              <a:buNone/>
            </a:pPr>
            <a:r>
              <a:rPr lang="en-US" sz="850" b="1" kern="0" spc="100">
                <a:solidFill>
                  <a:srgbClr val="44586A"/>
                </a:solidFill>
                <a:latin typeface="Cambria" pitchFamily="34" charset="0"/>
                <a:ea typeface="Cambria" pitchFamily="34" charset="-122"/>
                <a:cs typeface="Cambria" pitchFamily="34" charset="-120"/>
              </a:rPr>
              <a:t>DOCUMENTOS</a:t>
            </a:r>
            <a:endParaRPr lang="en-US" sz="850"/>
          </a:p>
        </p:txBody>
      </p:sp>
      <p:sp>
        <p:nvSpPr>
          <p:cNvPr id="20" name="Text 18"/>
          <p:cNvSpPr/>
          <p:nvPr/>
        </p:nvSpPr>
        <p:spPr>
          <a:xfrm>
            <a:off x="2932115" y="4425696"/>
            <a:ext cx="1816547" cy="1371600"/>
          </a:xfrm>
          <a:prstGeom prst="rect">
            <a:avLst/>
          </a:prstGeom>
          <a:noFill/>
          <a:ln/>
        </p:spPr>
        <p:txBody>
          <a:bodyPr wrap="square" lIns="0" tIns="0" rIns="0" bIns="0" rtlCol="0" anchor="t"/>
          <a:lstStyle/>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DAM de Depósito Aduanero</a:t>
            </a:r>
            <a:endParaRPr lang="en-US" sz="1000"/>
          </a:p>
        </p:txBody>
      </p:sp>
      <p:sp>
        <p:nvSpPr>
          <p:cNvPr id="21" name="Shape 19"/>
          <p:cNvSpPr/>
          <p:nvPr/>
        </p:nvSpPr>
        <p:spPr>
          <a:xfrm>
            <a:off x="5839816" y="1499616"/>
            <a:ext cx="512064" cy="512064"/>
          </a:xfrm>
          <a:prstGeom prst="ellipse">
            <a:avLst/>
          </a:prstGeom>
          <a:solidFill>
            <a:srgbClr val="A65E2E"/>
          </a:solidFill>
          <a:ln w="12700">
            <a:solidFill>
              <a:srgbClr val="A65E2E"/>
            </a:solidFill>
            <a:prstDash val="solid"/>
          </a:ln>
        </p:spPr>
        <p:txBody>
          <a:bodyPr/>
          <a:lstStyle/>
          <a:p>
            <a:endParaRPr lang="es-PE"/>
          </a:p>
        </p:txBody>
      </p:sp>
      <p:sp>
        <p:nvSpPr>
          <p:cNvPr id="22" name="Text 20"/>
          <p:cNvSpPr/>
          <p:nvPr/>
        </p:nvSpPr>
        <p:spPr>
          <a:xfrm>
            <a:off x="5839816" y="1499616"/>
            <a:ext cx="512064" cy="512064"/>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3</a:t>
            </a:r>
            <a:endParaRPr lang="en-US" sz="1400"/>
          </a:p>
        </p:txBody>
      </p:sp>
      <p:sp>
        <p:nvSpPr>
          <p:cNvPr id="23" name="Shape 21"/>
          <p:cNvSpPr/>
          <p:nvPr/>
        </p:nvSpPr>
        <p:spPr>
          <a:xfrm>
            <a:off x="5059558" y="2139696"/>
            <a:ext cx="2072579" cy="3401568"/>
          </a:xfrm>
          <a:prstGeom prst="roundRect">
            <a:avLst>
              <a:gd name="adj" fmla="val 2647"/>
            </a:avLst>
          </a:prstGeom>
          <a:solidFill>
            <a:srgbClr val="F1F6F9"/>
          </a:solidFill>
          <a:ln w="12700">
            <a:solidFill>
              <a:srgbClr val="C9D8E2"/>
            </a:solidFill>
            <a:prstDash val="solid"/>
          </a:ln>
        </p:spPr>
        <p:txBody>
          <a:bodyPr/>
          <a:lstStyle/>
          <a:p>
            <a:endParaRPr lang="es-PE"/>
          </a:p>
        </p:txBody>
      </p:sp>
      <p:sp>
        <p:nvSpPr>
          <p:cNvPr id="24" name="Text 22"/>
          <p:cNvSpPr/>
          <p:nvPr/>
        </p:nvSpPr>
        <p:spPr>
          <a:xfrm>
            <a:off x="5187574" y="2286000"/>
            <a:ext cx="1816547" cy="237744"/>
          </a:xfrm>
          <a:prstGeom prst="rect">
            <a:avLst/>
          </a:prstGeom>
          <a:noFill/>
          <a:ln/>
        </p:spPr>
        <p:txBody>
          <a:bodyPr wrap="square" lIns="0" tIns="0" rIns="0" bIns="0" rtlCol="0" anchor="ctr"/>
          <a:lstStyle/>
          <a:p>
            <a:pPr marL="0" indent="0" algn="ctr">
              <a:buNone/>
            </a:pPr>
            <a:r>
              <a:rPr lang="en-US" sz="1100" b="1">
                <a:solidFill>
                  <a:srgbClr val="A65E2E"/>
                </a:solidFill>
                <a:latin typeface="Cambria" pitchFamily="34" charset="0"/>
                <a:ea typeface="Cambria" pitchFamily="34" charset="-122"/>
                <a:cs typeface="Cambria" pitchFamily="34" charset="-120"/>
              </a:rPr>
              <a:t>14.08.2026</a:t>
            </a:r>
            <a:endParaRPr lang="en-US" sz="1100"/>
          </a:p>
        </p:txBody>
      </p:sp>
      <p:sp>
        <p:nvSpPr>
          <p:cNvPr id="25" name="Text 23"/>
          <p:cNvSpPr/>
          <p:nvPr/>
        </p:nvSpPr>
        <p:spPr>
          <a:xfrm>
            <a:off x="5187574" y="2560320"/>
            <a:ext cx="1816547" cy="713232"/>
          </a:xfrm>
          <a:prstGeom prst="rect">
            <a:avLst/>
          </a:prstGeom>
          <a:noFill/>
          <a:ln/>
        </p:spPr>
        <p:txBody>
          <a:bodyPr wrap="square" lIns="0" tIns="0" rIns="0" bIns="0" rtlCol="0" anchor="t"/>
          <a:lstStyle/>
          <a:p>
            <a:pPr marL="0" indent="0" algn="ctr">
              <a:lnSpc>
                <a:spcPts val="1500"/>
              </a:lnSpc>
              <a:buNone/>
            </a:pPr>
            <a:r>
              <a:rPr lang="en-US" sz="1250" b="1">
                <a:solidFill>
                  <a:srgbClr val="12212F"/>
                </a:solidFill>
                <a:latin typeface="Century Schoolbook" pitchFamily="34" charset="0"/>
                <a:ea typeface="Century Schoolbook" pitchFamily="34" charset="-122"/>
                <a:cs typeface="Century Schoolbook" pitchFamily="34" charset="-120"/>
              </a:rPr>
              <a:t>Solicitud del Warrant</a:t>
            </a:r>
            <a:endParaRPr lang="en-US" sz="1250"/>
          </a:p>
        </p:txBody>
      </p:sp>
      <p:sp>
        <p:nvSpPr>
          <p:cNvPr id="26" name="Text 24"/>
          <p:cNvSpPr/>
          <p:nvPr/>
        </p:nvSpPr>
        <p:spPr>
          <a:xfrm>
            <a:off x="5187574" y="3328416"/>
            <a:ext cx="1816547" cy="804672"/>
          </a:xfrm>
          <a:prstGeom prst="rect">
            <a:avLst/>
          </a:prstGeom>
          <a:noFill/>
          <a:ln/>
        </p:spPr>
        <p:txBody>
          <a:bodyPr wrap="square" lIns="0" tIns="0" rIns="0" bIns="0" rtlCol="0" anchor="t"/>
          <a:lstStyle/>
          <a:p>
            <a:pPr marL="0" indent="0" algn="l">
              <a:lnSpc>
                <a:spcPts val="1300"/>
              </a:lnSpc>
              <a:buNone/>
            </a:pPr>
            <a:r>
              <a:rPr lang="en-US" sz="1050">
                <a:solidFill>
                  <a:srgbClr val="12212F"/>
                </a:solidFill>
                <a:latin typeface="Cambria" pitchFamily="34" charset="0"/>
                <a:ea typeface="Cambria" pitchFamily="34" charset="-122"/>
                <a:cs typeface="Cambria" pitchFamily="34" charset="-120"/>
              </a:rPr>
              <a:t>Se prendan 400 unidades para obtener un préstamo de US$ 45,000.00.</a:t>
            </a:r>
            <a:endParaRPr lang="en-US" sz="1050"/>
          </a:p>
        </p:txBody>
      </p:sp>
      <p:sp>
        <p:nvSpPr>
          <p:cNvPr id="27" name="Text 25"/>
          <p:cNvSpPr/>
          <p:nvPr/>
        </p:nvSpPr>
        <p:spPr>
          <a:xfrm>
            <a:off x="5187574" y="4187952"/>
            <a:ext cx="1816547" cy="201168"/>
          </a:xfrm>
          <a:prstGeom prst="rect">
            <a:avLst/>
          </a:prstGeom>
          <a:noFill/>
          <a:ln/>
        </p:spPr>
        <p:txBody>
          <a:bodyPr wrap="square" lIns="0" tIns="0" rIns="0" bIns="0" rtlCol="0" anchor="ctr"/>
          <a:lstStyle/>
          <a:p>
            <a:pPr marL="0" indent="0">
              <a:buNone/>
            </a:pPr>
            <a:r>
              <a:rPr lang="en-US" sz="850" b="1" kern="0" spc="100">
                <a:solidFill>
                  <a:srgbClr val="44586A"/>
                </a:solidFill>
                <a:latin typeface="Cambria" pitchFamily="34" charset="0"/>
                <a:ea typeface="Cambria" pitchFamily="34" charset="-122"/>
                <a:cs typeface="Cambria" pitchFamily="34" charset="-120"/>
              </a:rPr>
              <a:t>DOCUMENTOS</a:t>
            </a:r>
            <a:endParaRPr lang="en-US" sz="850"/>
          </a:p>
        </p:txBody>
      </p:sp>
      <p:sp>
        <p:nvSpPr>
          <p:cNvPr id="28" name="Text 26"/>
          <p:cNvSpPr/>
          <p:nvPr/>
        </p:nvSpPr>
        <p:spPr>
          <a:xfrm>
            <a:off x="5187574" y="4425696"/>
            <a:ext cx="1816547" cy="1371600"/>
          </a:xfrm>
          <a:prstGeom prst="rect">
            <a:avLst/>
          </a:prstGeom>
          <a:noFill/>
          <a:ln/>
        </p:spPr>
        <p:txBody>
          <a:bodyPr wrap="square" lIns="0" tIns="0" rIns="0" bIns="0" rtlCol="0" anchor="t"/>
          <a:lstStyle/>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Certificado de Depósito</a:t>
            </a:r>
            <a:endParaRPr lang="en-US" sz="1000"/>
          </a:p>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Warrant</a:t>
            </a:r>
            <a:endParaRPr lang="en-US" sz="1000"/>
          </a:p>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Contrato de préstamo bancario</a:t>
            </a:r>
            <a:endParaRPr lang="en-US" sz="1000"/>
          </a:p>
        </p:txBody>
      </p:sp>
      <p:sp>
        <p:nvSpPr>
          <p:cNvPr id="29" name="Shape 27"/>
          <p:cNvSpPr/>
          <p:nvPr/>
        </p:nvSpPr>
        <p:spPr>
          <a:xfrm>
            <a:off x="8095275" y="1499616"/>
            <a:ext cx="512064" cy="512064"/>
          </a:xfrm>
          <a:prstGeom prst="ellipse">
            <a:avLst/>
          </a:prstGeom>
          <a:solidFill>
            <a:srgbClr val="A65E2E"/>
          </a:solidFill>
          <a:ln w="12700">
            <a:solidFill>
              <a:srgbClr val="A65E2E"/>
            </a:solidFill>
            <a:prstDash val="solid"/>
          </a:ln>
        </p:spPr>
        <p:txBody>
          <a:bodyPr/>
          <a:lstStyle/>
          <a:p>
            <a:endParaRPr lang="es-PE"/>
          </a:p>
        </p:txBody>
      </p:sp>
      <p:sp>
        <p:nvSpPr>
          <p:cNvPr id="30" name="Text 28"/>
          <p:cNvSpPr/>
          <p:nvPr/>
        </p:nvSpPr>
        <p:spPr>
          <a:xfrm>
            <a:off x="8095275" y="1499616"/>
            <a:ext cx="512064" cy="512064"/>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4</a:t>
            </a:r>
            <a:endParaRPr lang="en-US" sz="1400"/>
          </a:p>
        </p:txBody>
      </p:sp>
      <p:sp>
        <p:nvSpPr>
          <p:cNvPr id="31" name="Shape 29"/>
          <p:cNvSpPr/>
          <p:nvPr/>
        </p:nvSpPr>
        <p:spPr>
          <a:xfrm>
            <a:off x="7315017" y="2139696"/>
            <a:ext cx="2072579" cy="3401568"/>
          </a:xfrm>
          <a:prstGeom prst="roundRect">
            <a:avLst>
              <a:gd name="adj" fmla="val 2647"/>
            </a:avLst>
          </a:prstGeom>
          <a:solidFill>
            <a:srgbClr val="FFFFFF"/>
          </a:solidFill>
          <a:ln w="12700">
            <a:solidFill>
              <a:srgbClr val="C9D8E2"/>
            </a:solidFill>
            <a:prstDash val="solid"/>
          </a:ln>
        </p:spPr>
        <p:txBody>
          <a:bodyPr/>
          <a:lstStyle/>
          <a:p>
            <a:endParaRPr lang="es-PE"/>
          </a:p>
        </p:txBody>
      </p:sp>
      <p:sp>
        <p:nvSpPr>
          <p:cNvPr id="32" name="Text 30"/>
          <p:cNvSpPr/>
          <p:nvPr/>
        </p:nvSpPr>
        <p:spPr>
          <a:xfrm>
            <a:off x="7443033" y="2286000"/>
            <a:ext cx="1816547" cy="237744"/>
          </a:xfrm>
          <a:prstGeom prst="rect">
            <a:avLst/>
          </a:prstGeom>
          <a:noFill/>
          <a:ln/>
        </p:spPr>
        <p:txBody>
          <a:bodyPr wrap="square" lIns="0" tIns="0" rIns="0" bIns="0" rtlCol="0" anchor="ctr"/>
          <a:lstStyle/>
          <a:p>
            <a:pPr marL="0" indent="0" algn="ctr">
              <a:buNone/>
            </a:pPr>
            <a:r>
              <a:rPr lang="en-US" sz="1100" b="1">
                <a:solidFill>
                  <a:srgbClr val="A65E2E"/>
                </a:solidFill>
                <a:latin typeface="Cambria" pitchFamily="34" charset="0"/>
                <a:ea typeface="Cambria" pitchFamily="34" charset="-122"/>
                <a:cs typeface="Cambria" pitchFamily="34" charset="-120"/>
              </a:rPr>
              <a:t>21 → 28.08.2026</a:t>
            </a:r>
            <a:endParaRPr lang="en-US" sz="1100"/>
          </a:p>
        </p:txBody>
      </p:sp>
      <p:sp>
        <p:nvSpPr>
          <p:cNvPr id="33" name="Text 31"/>
          <p:cNvSpPr/>
          <p:nvPr/>
        </p:nvSpPr>
        <p:spPr>
          <a:xfrm>
            <a:off x="7443033" y="2560320"/>
            <a:ext cx="1816547" cy="713232"/>
          </a:xfrm>
          <a:prstGeom prst="rect">
            <a:avLst/>
          </a:prstGeom>
          <a:noFill/>
          <a:ln/>
        </p:spPr>
        <p:txBody>
          <a:bodyPr wrap="square" lIns="0" tIns="0" rIns="0" bIns="0" rtlCol="0" anchor="t"/>
          <a:lstStyle/>
          <a:p>
            <a:pPr marL="0" indent="0" algn="ctr">
              <a:lnSpc>
                <a:spcPts val="1500"/>
              </a:lnSpc>
              <a:buNone/>
            </a:pPr>
            <a:r>
              <a:rPr lang="en-US" sz="1250" b="1">
                <a:solidFill>
                  <a:srgbClr val="12212F"/>
                </a:solidFill>
                <a:latin typeface="Century Schoolbook" pitchFamily="34" charset="0"/>
                <a:ea typeface="Century Schoolbook" pitchFamily="34" charset="-122"/>
                <a:cs typeface="Century Schoolbook" pitchFamily="34" charset="-120"/>
              </a:rPr>
              <a:t>Nacionalizaciones parciales</a:t>
            </a:r>
            <a:endParaRPr lang="en-US" sz="1250"/>
          </a:p>
        </p:txBody>
      </p:sp>
      <p:sp>
        <p:nvSpPr>
          <p:cNvPr id="34" name="Text 32"/>
          <p:cNvSpPr/>
          <p:nvPr/>
        </p:nvSpPr>
        <p:spPr>
          <a:xfrm>
            <a:off x="7443033" y="3328416"/>
            <a:ext cx="1816547" cy="804672"/>
          </a:xfrm>
          <a:prstGeom prst="rect">
            <a:avLst/>
          </a:prstGeom>
          <a:noFill/>
          <a:ln/>
        </p:spPr>
        <p:txBody>
          <a:bodyPr wrap="square" lIns="0" tIns="0" rIns="0" bIns="0" rtlCol="0" anchor="t"/>
          <a:lstStyle/>
          <a:p>
            <a:pPr marL="0" indent="0" algn="l">
              <a:lnSpc>
                <a:spcPts val="1300"/>
              </a:lnSpc>
              <a:buNone/>
            </a:pPr>
            <a:r>
              <a:rPr lang="en-US" sz="1050">
                <a:solidFill>
                  <a:srgbClr val="12212F"/>
                </a:solidFill>
                <a:latin typeface="Cambria" pitchFamily="34" charset="0"/>
                <a:ea typeface="Cambria" pitchFamily="34" charset="-122"/>
                <a:cs typeface="Cambria" pitchFamily="34" charset="-120"/>
              </a:rPr>
              <a:t>Se nacionalizan 600 unidades con el préstamo y luego 500 más con caja propia.</a:t>
            </a:r>
            <a:endParaRPr lang="en-US" sz="1050"/>
          </a:p>
        </p:txBody>
      </p:sp>
      <p:sp>
        <p:nvSpPr>
          <p:cNvPr id="35" name="Text 33"/>
          <p:cNvSpPr/>
          <p:nvPr/>
        </p:nvSpPr>
        <p:spPr>
          <a:xfrm>
            <a:off x="7443033" y="4187952"/>
            <a:ext cx="1816547" cy="201168"/>
          </a:xfrm>
          <a:prstGeom prst="rect">
            <a:avLst/>
          </a:prstGeom>
          <a:noFill/>
          <a:ln/>
        </p:spPr>
        <p:txBody>
          <a:bodyPr wrap="square" lIns="0" tIns="0" rIns="0" bIns="0" rtlCol="0" anchor="ctr"/>
          <a:lstStyle/>
          <a:p>
            <a:pPr marL="0" indent="0">
              <a:buNone/>
            </a:pPr>
            <a:r>
              <a:rPr lang="en-US" sz="850" b="1" kern="0" spc="100">
                <a:solidFill>
                  <a:srgbClr val="44586A"/>
                </a:solidFill>
                <a:latin typeface="Cambria" pitchFamily="34" charset="0"/>
                <a:ea typeface="Cambria" pitchFamily="34" charset="-122"/>
                <a:cs typeface="Cambria" pitchFamily="34" charset="-120"/>
              </a:rPr>
              <a:t>DOCUMENTOS</a:t>
            </a:r>
            <a:endParaRPr lang="en-US" sz="850"/>
          </a:p>
        </p:txBody>
      </p:sp>
      <p:sp>
        <p:nvSpPr>
          <p:cNvPr id="36" name="Text 34"/>
          <p:cNvSpPr/>
          <p:nvPr/>
        </p:nvSpPr>
        <p:spPr>
          <a:xfrm>
            <a:off x="7443033" y="4425696"/>
            <a:ext cx="1816547" cy="1371600"/>
          </a:xfrm>
          <a:prstGeom prst="rect">
            <a:avLst/>
          </a:prstGeom>
          <a:noFill/>
          <a:ln/>
        </p:spPr>
        <p:txBody>
          <a:bodyPr wrap="square" lIns="0" tIns="0" rIns="0" bIns="0" rtlCol="0" anchor="t"/>
          <a:lstStyle/>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DAM Importación para el Consumo (dos declaraciones)</a:t>
            </a:r>
            <a:endParaRPr lang="en-US" sz="1000"/>
          </a:p>
        </p:txBody>
      </p:sp>
      <p:sp>
        <p:nvSpPr>
          <p:cNvPr id="37" name="Shape 35"/>
          <p:cNvSpPr/>
          <p:nvPr/>
        </p:nvSpPr>
        <p:spPr>
          <a:xfrm>
            <a:off x="10350734" y="1499616"/>
            <a:ext cx="512064" cy="512064"/>
          </a:xfrm>
          <a:prstGeom prst="ellipse">
            <a:avLst/>
          </a:prstGeom>
          <a:solidFill>
            <a:srgbClr val="A65E2E"/>
          </a:solidFill>
          <a:ln w="12700">
            <a:solidFill>
              <a:srgbClr val="A65E2E"/>
            </a:solidFill>
            <a:prstDash val="solid"/>
          </a:ln>
        </p:spPr>
        <p:txBody>
          <a:bodyPr/>
          <a:lstStyle/>
          <a:p>
            <a:endParaRPr lang="es-PE"/>
          </a:p>
        </p:txBody>
      </p:sp>
      <p:sp>
        <p:nvSpPr>
          <p:cNvPr id="38" name="Text 36"/>
          <p:cNvSpPr/>
          <p:nvPr/>
        </p:nvSpPr>
        <p:spPr>
          <a:xfrm>
            <a:off x="10350734" y="1499616"/>
            <a:ext cx="512064" cy="512064"/>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5</a:t>
            </a:r>
            <a:endParaRPr lang="en-US" sz="1400"/>
          </a:p>
        </p:txBody>
      </p:sp>
      <p:sp>
        <p:nvSpPr>
          <p:cNvPr id="39" name="Shape 37"/>
          <p:cNvSpPr/>
          <p:nvPr/>
        </p:nvSpPr>
        <p:spPr>
          <a:xfrm>
            <a:off x="9570476" y="2139696"/>
            <a:ext cx="2072579" cy="3401568"/>
          </a:xfrm>
          <a:prstGeom prst="roundRect">
            <a:avLst>
              <a:gd name="adj" fmla="val 2647"/>
            </a:avLst>
          </a:prstGeom>
          <a:solidFill>
            <a:srgbClr val="F1F6F9"/>
          </a:solidFill>
          <a:ln w="12700">
            <a:solidFill>
              <a:srgbClr val="C9D8E2"/>
            </a:solidFill>
            <a:prstDash val="solid"/>
          </a:ln>
        </p:spPr>
        <p:txBody>
          <a:bodyPr/>
          <a:lstStyle/>
          <a:p>
            <a:endParaRPr lang="es-PE"/>
          </a:p>
        </p:txBody>
      </p:sp>
      <p:sp>
        <p:nvSpPr>
          <p:cNvPr id="40" name="Text 38"/>
          <p:cNvSpPr/>
          <p:nvPr/>
        </p:nvSpPr>
        <p:spPr>
          <a:xfrm>
            <a:off x="9698492" y="2286000"/>
            <a:ext cx="1816547" cy="237744"/>
          </a:xfrm>
          <a:prstGeom prst="rect">
            <a:avLst/>
          </a:prstGeom>
          <a:noFill/>
          <a:ln/>
        </p:spPr>
        <p:txBody>
          <a:bodyPr wrap="square" lIns="0" tIns="0" rIns="0" bIns="0" rtlCol="0" anchor="ctr"/>
          <a:lstStyle/>
          <a:p>
            <a:pPr marL="0" indent="0" algn="ctr">
              <a:buNone/>
            </a:pPr>
            <a:r>
              <a:rPr lang="en-US" sz="1100" b="1">
                <a:solidFill>
                  <a:srgbClr val="A65E2E"/>
                </a:solidFill>
                <a:latin typeface="Cambria" pitchFamily="34" charset="0"/>
                <a:ea typeface="Cambria" pitchFamily="34" charset="-122"/>
                <a:cs typeface="Cambria" pitchFamily="34" charset="-120"/>
              </a:rPr>
              <a:t>29.08.2026</a:t>
            </a:r>
            <a:endParaRPr lang="en-US" sz="1100"/>
          </a:p>
        </p:txBody>
      </p:sp>
      <p:sp>
        <p:nvSpPr>
          <p:cNvPr id="41" name="Text 39"/>
          <p:cNvSpPr/>
          <p:nvPr/>
        </p:nvSpPr>
        <p:spPr>
          <a:xfrm>
            <a:off x="9698492" y="2560320"/>
            <a:ext cx="1816547" cy="713232"/>
          </a:xfrm>
          <a:prstGeom prst="rect">
            <a:avLst/>
          </a:prstGeom>
          <a:noFill/>
          <a:ln/>
        </p:spPr>
        <p:txBody>
          <a:bodyPr wrap="square" lIns="0" tIns="0" rIns="0" bIns="0" rtlCol="0" anchor="t"/>
          <a:lstStyle/>
          <a:p>
            <a:pPr marL="0" indent="0" algn="ctr">
              <a:lnSpc>
                <a:spcPts val="1500"/>
              </a:lnSpc>
              <a:buNone/>
            </a:pPr>
            <a:r>
              <a:rPr lang="en-US" sz="1250" b="1">
                <a:solidFill>
                  <a:srgbClr val="12212F"/>
                </a:solidFill>
                <a:latin typeface="Century Schoolbook" pitchFamily="34" charset="0"/>
                <a:ea typeface="Century Schoolbook" pitchFamily="34" charset="-122"/>
                <a:cs typeface="Century Schoolbook" pitchFamily="34" charset="-120"/>
              </a:rPr>
              <a:t>Cancelación del Warrant</a:t>
            </a:r>
            <a:endParaRPr lang="en-US" sz="1250"/>
          </a:p>
        </p:txBody>
      </p:sp>
      <p:sp>
        <p:nvSpPr>
          <p:cNvPr id="42" name="Text 40"/>
          <p:cNvSpPr/>
          <p:nvPr/>
        </p:nvSpPr>
        <p:spPr>
          <a:xfrm>
            <a:off x="9698492" y="3328416"/>
            <a:ext cx="1816547" cy="804672"/>
          </a:xfrm>
          <a:prstGeom prst="rect">
            <a:avLst/>
          </a:prstGeom>
          <a:noFill/>
          <a:ln/>
        </p:spPr>
        <p:txBody>
          <a:bodyPr wrap="square" lIns="0" tIns="0" rIns="0" bIns="0" rtlCol="0" anchor="t"/>
          <a:lstStyle/>
          <a:p>
            <a:pPr marL="0" indent="0" algn="l">
              <a:lnSpc>
                <a:spcPts val="1300"/>
              </a:lnSpc>
              <a:buNone/>
            </a:pPr>
            <a:r>
              <a:rPr lang="en-US" sz="1050">
                <a:solidFill>
                  <a:srgbClr val="12212F"/>
                </a:solidFill>
                <a:latin typeface="Cambria" pitchFamily="34" charset="0"/>
                <a:ea typeface="Cambria" pitchFamily="34" charset="-122"/>
                <a:cs typeface="Cambria" pitchFamily="34" charset="-120"/>
              </a:rPr>
              <a:t>Se paga el préstamo con intereses y las 400 unidades recuperan su libre disposición.</a:t>
            </a:r>
            <a:endParaRPr lang="en-US" sz="1050"/>
          </a:p>
        </p:txBody>
      </p:sp>
      <p:sp>
        <p:nvSpPr>
          <p:cNvPr id="43" name="Text 41"/>
          <p:cNvSpPr/>
          <p:nvPr/>
        </p:nvSpPr>
        <p:spPr>
          <a:xfrm>
            <a:off x="9698492" y="4187952"/>
            <a:ext cx="1816547" cy="201168"/>
          </a:xfrm>
          <a:prstGeom prst="rect">
            <a:avLst/>
          </a:prstGeom>
          <a:noFill/>
          <a:ln/>
        </p:spPr>
        <p:txBody>
          <a:bodyPr wrap="square" lIns="0" tIns="0" rIns="0" bIns="0" rtlCol="0" anchor="ctr"/>
          <a:lstStyle/>
          <a:p>
            <a:pPr marL="0" indent="0">
              <a:buNone/>
            </a:pPr>
            <a:r>
              <a:rPr lang="en-US" sz="850" b="1" kern="0" spc="100">
                <a:solidFill>
                  <a:srgbClr val="44586A"/>
                </a:solidFill>
                <a:latin typeface="Cambria" pitchFamily="34" charset="0"/>
                <a:ea typeface="Cambria" pitchFamily="34" charset="-122"/>
                <a:cs typeface="Cambria" pitchFamily="34" charset="-120"/>
              </a:rPr>
              <a:t>DOCUMENTOS</a:t>
            </a:r>
            <a:endParaRPr lang="en-US" sz="850"/>
          </a:p>
        </p:txBody>
      </p:sp>
      <p:sp>
        <p:nvSpPr>
          <p:cNvPr id="44" name="Text 42"/>
          <p:cNvSpPr/>
          <p:nvPr/>
        </p:nvSpPr>
        <p:spPr>
          <a:xfrm>
            <a:off x="9698492" y="4425696"/>
            <a:ext cx="1816547" cy="1371600"/>
          </a:xfrm>
          <a:prstGeom prst="rect">
            <a:avLst/>
          </a:prstGeom>
          <a:noFill/>
          <a:ln/>
        </p:spPr>
        <p:txBody>
          <a:bodyPr wrap="square" lIns="0" tIns="0" rIns="0" bIns="0" rtlCol="0" anchor="t"/>
          <a:lstStyle/>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Constancia de cancelación</a:t>
            </a:r>
            <a:endParaRPr lang="en-US" sz="1000"/>
          </a:p>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Devolución del Warrant y del Certificado de Depósito</a:t>
            </a:r>
            <a:endParaRPr lang="en-US" sz="1000"/>
          </a:p>
        </p:txBody>
      </p:sp>
      <p:sp>
        <p:nvSpPr>
          <p:cNvPr id="45" name="Text 43"/>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El Certificado de Depósito y el Warrant se emiten siempre juntos, con el mismo número correlativo y a la orden del banco.</a:t>
            </a:r>
            <a:endParaRPr lang="en-US" sz="950"/>
          </a:p>
        </p:txBody>
      </p:sp>
      <p:sp>
        <p:nvSpPr>
          <p:cNvPr id="46" name="Text 44"/>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ANDERSON QUISPE</a:t>
            </a:r>
            <a:endParaRPr lang="en-US" sz="850"/>
          </a:p>
        </p:txBody>
      </p:sp>
      <p:sp>
        <p:nvSpPr>
          <p:cNvPr id="47" name="Text 45"/>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17</a:t>
            </a:r>
            <a:endParaRPr lang="en-US" sz="9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A65E2E"/>
                </a:solidFill>
                <a:latin typeface="Cambria" pitchFamily="34" charset="0"/>
                <a:ea typeface="Cambria" pitchFamily="34" charset="-122"/>
                <a:cs typeface="Cambria" pitchFamily="34" charset="-120"/>
              </a:rPr>
              <a:t>CASO 2</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Resumen financiero de la operación</a:t>
            </a:r>
            <a:endParaRPr lang="en-US" sz="300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1417320">
                  <a:extLst>
                    <a:ext uri="{9D8B030D-6E8A-4147-A177-3AD203B41FA5}">
                      <a16:colId xmlns:a16="http://schemas.microsoft.com/office/drawing/2014/main" val="20000"/>
                    </a:ext>
                  </a:extLst>
                </a:gridCol>
                <a:gridCol w="4099255">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457200">
                <a:tc>
                  <a:txBody>
                    <a:bodyPr/>
                    <a:lstStyle/>
                    <a:p>
                      <a:pPr marL="0" indent="0" algn="l">
                        <a:buNone/>
                      </a:pPr>
                      <a:r>
                        <a:rPr lang="en-US" sz="1200" b="1">
                          <a:solidFill>
                            <a:srgbClr val="FFFFFF"/>
                          </a:solidFill>
                          <a:latin typeface="Century Schoolbook" pitchFamily="34" charset="0"/>
                          <a:ea typeface="Century Schoolbook" pitchFamily="34" charset="-122"/>
                          <a:cs typeface="Century Schoolbook" pitchFamily="34" charset="-120"/>
                        </a:rPr>
                        <a:t>Fecha</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tc>
                  <a:txBody>
                    <a:bodyPr/>
                    <a:lstStyle/>
                    <a:p>
                      <a:pPr marL="0" indent="0" algn="l">
                        <a:buNone/>
                      </a:pPr>
                      <a:r>
                        <a:rPr lang="en-US" sz="1200" b="1">
                          <a:solidFill>
                            <a:srgbClr val="FFFFFF"/>
                          </a:solidFill>
                          <a:latin typeface="Century Schoolbook" pitchFamily="34" charset="0"/>
                          <a:ea typeface="Century Schoolbook" pitchFamily="34" charset="-122"/>
                          <a:cs typeface="Century Schoolbook" pitchFamily="34" charset="-120"/>
                        </a:rPr>
                        <a:t>Evento</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tc>
                  <a:txBody>
                    <a:bodyPr/>
                    <a:lstStyle/>
                    <a:p>
                      <a:pPr marL="0" indent="0" algn="ctr">
                        <a:buNone/>
                      </a:pPr>
                      <a:r>
                        <a:rPr lang="en-US" sz="1200" b="1">
                          <a:solidFill>
                            <a:srgbClr val="FFFFFF"/>
                          </a:solidFill>
                          <a:latin typeface="Century Schoolbook" pitchFamily="34" charset="0"/>
                          <a:ea typeface="Century Schoolbook" pitchFamily="34" charset="-122"/>
                          <a:cs typeface="Century Schoolbook" pitchFamily="34" charset="-120"/>
                        </a:rPr>
                        <a:t>Unidades</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tc>
                  <a:txBody>
                    <a:bodyPr/>
                    <a:lstStyle/>
                    <a:p>
                      <a:pPr marL="0" indent="0" algn="r">
                        <a:buNone/>
                      </a:pPr>
                      <a:r>
                        <a:rPr lang="en-US" sz="1200" b="1">
                          <a:solidFill>
                            <a:srgbClr val="FFFFFF"/>
                          </a:solidFill>
                          <a:latin typeface="Century Schoolbook" pitchFamily="34" charset="0"/>
                          <a:ea typeface="Century Schoolbook" pitchFamily="34" charset="-122"/>
                          <a:cs typeface="Century Schoolbook" pitchFamily="34" charset="-120"/>
                        </a:rPr>
                        <a:t>Movimiento US$</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tc>
                  <a:txBody>
                    <a:bodyPr/>
                    <a:lstStyle/>
                    <a:p>
                      <a:pPr marL="0" indent="0" algn="ctr">
                        <a:buNone/>
                      </a:pPr>
                      <a:r>
                        <a:rPr lang="en-US" sz="1200" b="1">
                          <a:solidFill>
                            <a:srgbClr val="FFFFFF"/>
                          </a:solidFill>
                          <a:latin typeface="Century Schoolbook" pitchFamily="34" charset="0"/>
                          <a:ea typeface="Century Schoolbook" pitchFamily="34" charset="-122"/>
                          <a:cs typeface="Century Schoolbook" pitchFamily="34" charset="-120"/>
                        </a:rPr>
                        <a:t>Saldo en depósito</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57200">
                <a:tc>
                  <a:txBody>
                    <a:bodyPr/>
                    <a:lstStyle/>
                    <a:p>
                      <a:pPr marL="0" indent="0" algn="l">
                        <a:buNone/>
                      </a:pPr>
                      <a:r>
                        <a:rPr lang="en-US" sz="1200">
                          <a:solidFill>
                            <a:srgbClr val="12212F"/>
                          </a:solidFill>
                          <a:latin typeface="Cambria" pitchFamily="34" charset="0"/>
                          <a:ea typeface="Cambria" pitchFamily="34" charset="-122"/>
                          <a:cs typeface="Cambria" pitchFamily="34" charset="-120"/>
                        </a:rPr>
                        <a:t>07.08.2026</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a:solidFill>
                            <a:srgbClr val="12212F"/>
                          </a:solidFill>
                          <a:latin typeface="Cambria" pitchFamily="34" charset="0"/>
                          <a:ea typeface="Cambria" pitchFamily="34" charset="-122"/>
                          <a:cs typeface="Cambria" pitchFamily="34" charset="-120"/>
                        </a:rPr>
                        <a:t>Ingreso a Depósito Aduanero</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200" b="1">
                          <a:solidFill>
                            <a:srgbClr val="12212F"/>
                          </a:solidFill>
                          <a:latin typeface="Cambria" pitchFamily="34" charset="0"/>
                          <a:ea typeface="Cambria" pitchFamily="34" charset="-122"/>
                          <a:cs typeface="Cambria" pitchFamily="34" charset="-120"/>
                        </a:rPr>
                        <a:t>2,600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a:solidFill>
                            <a:srgbClr val="12212F"/>
                          </a:solidFill>
                          <a:latin typeface="Cambria" pitchFamily="34" charset="0"/>
                          <a:ea typeface="Cambria" pitchFamily="34" charset="-122"/>
                          <a:cs typeface="Cambria" pitchFamily="34" charset="-120"/>
                        </a:rPr>
                        <a:t>—</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200" b="1">
                          <a:solidFill>
                            <a:srgbClr val="12212F"/>
                          </a:solidFill>
                          <a:latin typeface="Cambria" pitchFamily="34" charset="0"/>
                          <a:ea typeface="Cambria" pitchFamily="34" charset="-122"/>
                          <a:cs typeface="Cambria" pitchFamily="34" charset="-120"/>
                        </a:rPr>
                        <a:t>2,600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200">
                          <a:solidFill>
                            <a:srgbClr val="12212F"/>
                          </a:solidFill>
                          <a:latin typeface="Cambria" pitchFamily="34" charset="0"/>
                          <a:ea typeface="Cambria" pitchFamily="34" charset="-122"/>
                          <a:cs typeface="Cambria" pitchFamily="34" charset="-120"/>
                        </a:rPr>
                        <a:t>14.08.2026</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l">
                        <a:buNone/>
                      </a:pPr>
                      <a:r>
                        <a:rPr lang="en-US" sz="1200">
                          <a:solidFill>
                            <a:srgbClr val="12212F"/>
                          </a:solidFill>
                          <a:latin typeface="Cambria" pitchFamily="34" charset="0"/>
                          <a:ea typeface="Cambria" pitchFamily="34" charset="-122"/>
                          <a:cs typeface="Cambria" pitchFamily="34" charset="-120"/>
                        </a:rPr>
                        <a:t>Warrant: 400 unidades en prenda</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ctr">
                        <a:buNone/>
                      </a:pPr>
                      <a:r>
                        <a:rPr lang="en-US" sz="1200">
                          <a:solidFill>
                            <a:srgbClr val="12212F"/>
                          </a:solidFill>
                          <a:latin typeface="Cambria" pitchFamily="34" charset="0"/>
                          <a:ea typeface="Cambria" pitchFamily="34" charset="-122"/>
                          <a:cs typeface="Cambria" pitchFamily="34" charset="-120"/>
                        </a:rPr>
                        <a:t>400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r">
                        <a:buNone/>
                      </a:pPr>
                      <a:r>
                        <a:rPr lang="en-US" sz="1200" b="1">
                          <a:solidFill>
                            <a:srgbClr val="A65E2E"/>
                          </a:solidFill>
                          <a:latin typeface="Cambria" pitchFamily="34" charset="0"/>
                          <a:ea typeface="Cambria" pitchFamily="34" charset="-122"/>
                          <a:cs typeface="Cambria" pitchFamily="34" charset="-120"/>
                        </a:rPr>
                        <a:t>+ 45,000.00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ctr">
                        <a:buNone/>
                      </a:pPr>
                      <a:r>
                        <a:rPr lang="en-US" sz="1200">
                          <a:solidFill>
                            <a:srgbClr val="12212F"/>
                          </a:solidFill>
                          <a:latin typeface="Cambria" pitchFamily="34" charset="0"/>
                          <a:ea typeface="Cambria" pitchFamily="34" charset="-122"/>
                          <a:cs typeface="Cambria" pitchFamily="34" charset="-120"/>
                        </a:rPr>
                        <a:t>2,600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extLst>
                  <a:ext uri="{0D108BD9-81ED-4DB2-BD59-A6C34878D82A}">
                    <a16:rowId xmlns:a16="http://schemas.microsoft.com/office/drawing/2014/main" val="10002"/>
                  </a:ext>
                </a:extLst>
              </a:tr>
              <a:tr h="457200">
                <a:tc>
                  <a:txBody>
                    <a:bodyPr/>
                    <a:lstStyle/>
                    <a:p>
                      <a:pPr marL="0" indent="0" algn="l">
                        <a:buNone/>
                      </a:pPr>
                      <a:r>
                        <a:rPr lang="en-US" sz="1200">
                          <a:solidFill>
                            <a:srgbClr val="12212F"/>
                          </a:solidFill>
                          <a:latin typeface="Cambria" pitchFamily="34" charset="0"/>
                          <a:ea typeface="Cambria" pitchFamily="34" charset="-122"/>
                          <a:cs typeface="Cambria" pitchFamily="34" charset="-120"/>
                        </a:rPr>
                        <a:t>21.08.2026</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a:solidFill>
                            <a:srgbClr val="12212F"/>
                          </a:solidFill>
                          <a:latin typeface="Cambria" pitchFamily="34" charset="0"/>
                          <a:ea typeface="Cambria" pitchFamily="34" charset="-122"/>
                          <a:cs typeface="Cambria" pitchFamily="34" charset="-120"/>
                        </a:rPr>
                        <a:t>1.ª nacionalización parcial</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200" b="1">
                          <a:solidFill>
                            <a:srgbClr val="12212F"/>
                          </a:solidFill>
                          <a:latin typeface="Cambria" pitchFamily="34" charset="0"/>
                          <a:ea typeface="Cambria" pitchFamily="34" charset="-122"/>
                          <a:cs typeface="Cambria" pitchFamily="34" charset="-120"/>
                        </a:rPr>
                        <a:t>600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b="1">
                          <a:solidFill>
                            <a:srgbClr val="12212F"/>
                          </a:solidFill>
                          <a:latin typeface="Cambria" pitchFamily="34" charset="0"/>
                          <a:ea typeface="Cambria" pitchFamily="34" charset="-122"/>
                          <a:cs typeface="Cambria" pitchFamily="34" charset="-120"/>
                        </a:rPr>
                        <a:t>− 39,600.00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200" b="1">
                          <a:solidFill>
                            <a:srgbClr val="12212F"/>
                          </a:solidFill>
                          <a:latin typeface="Cambria" pitchFamily="34" charset="0"/>
                          <a:ea typeface="Cambria" pitchFamily="34" charset="-122"/>
                          <a:cs typeface="Cambria" pitchFamily="34" charset="-120"/>
                        </a:rPr>
                        <a:t>2,000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200">
                          <a:solidFill>
                            <a:srgbClr val="12212F"/>
                          </a:solidFill>
                          <a:latin typeface="Cambria" pitchFamily="34" charset="0"/>
                          <a:ea typeface="Cambria" pitchFamily="34" charset="-122"/>
                          <a:cs typeface="Cambria" pitchFamily="34" charset="-120"/>
                        </a:rPr>
                        <a:t>28.08.2026</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l">
                        <a:buNone/>
                      </a:pPr>
                      <a:r>
                        <a:rPr lang="en-US" sz="1200">
                          <a:solidFill>
                            <a:srgbClr val="12212F"/>
                          </a:solidFill>
                          <a:latin typeface="Cambria" pitchFamily="34" charset="0"/>
                          <a:ea typeface="Cambria" pitchFamily="34" charset="-122"/>
                          <a:cs typeface="Cambria" pitchFamily="34" charset="-120"/>
                        </a:rPr>
                        <a:t>2.ª nacionalización parcial</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ctr">
                        <a:buNone/>
                      </a:pPr>
                      <a:r>
                        <a:rPr lang="en-US" sz="1200" b="1">
                          <a:solidFill>
                            <a:srgbClr val="12212F"/>
                          </a:solidFill>
                          <a:latin typeface="Cambria" pitchFamily="34" charset="0"/>
                          <a:ea typeface="Cambria" pitchFamily="34" charset="-122"/>
                          <a:cs typeface="Cambria" pitchFamily="34" charset="-120"/>
                        </a:rPr>
                        <a:t>500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r">
                        <a:buNone/>
                      </a:pPr>
                      <a:r>
                        <a:rPr lang="en-US" sz="1200" b="1">
                          <a:solidFill>
                            <a:srgbClr val="12212F"/>
                          </a:solidFill>
                          <a:latin typeface="Cambria" pitchFamily="34" charset="0"/>
                          <a:ea typeface="Cambria" pitchFamily="34" charset="-122"/>
                          <a:cs typeface="Cambria" pitchFamily="34" charset="-120"/>
                        </a:rPr>
                        <a:t>− 33,000.00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ctr">
                        <a:buNone/>
                      </a:pPr>
                      <a:r>
                        <a:rPr lang="en-US" sz="1200" b="1">
                          <a:solidFill>
                            <a:srgbClr val="12212F"/>
                          </a:solidFill>
                          <a:latin typeface="Cambria" pitchFamily="34" charset="0"/>
                          <a:ea typeface="Cambria" pitchFamily="34" charset="-122"/>
                          <a:cs typeface="Cambria" pitchFamily="34" charset="-120"/>
                        </a:rPr>
                        <a:t>1,500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extLst>
                  <a:ext uri="{0D108BD9-81ED-4DB2-BD59-A6C34878D82A}">
                    <a16:rowId xmlns:a16="http://schemas.microsoft.com/office/drawing/2014/main" val="10004"/>
                  </a:ext>
                </a:extLst>
              </a:tr>
              <a:tr h="457200">
                <a:tc>
                  <a:txBody>
                    <a:bodyPr/>
                    <a:lstStyle/>
                    <a:p>
                      <a:pPr marL="0" indent="0" algn="l">
                        <a:buNone/>
                      </a:pPr>
                      <a:r>
                        <a:rPr lang="en-US" sz="1200">
                          <a:solidFill>
                            <a:srgbClr val="12212F"/>
                          </a:solidFill>
                          <a:latin typeface="Cambria" pitchFamily="34" charset="0"/>
                          <a:ea typeface="Cambria" pitchFamily="34" charset="-122"/>
                          <a:cs typeface="Cambria" pitchFamily="34" charset="-120"/>
                        </a:rPr>
                        <a:t>29.08.2026</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00">
                          <a:solidFill>
                            <a:srgbClr val="12212F"/>
                          </a:solidFill>
                          <a:latin typeface="Cambria" pitchFamily="34" charset="0"/>
                          <a:ea typeface="Cambria" pitchFamily="34" charset="-122"/>
                          <a:cs typeface="Cambria" pitchFamily="34" charset="-120"/>
                        </a:rPr>
                        <a:t>Cancelación del Warrant</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200">
                          <a:solidFill>
                            <a:srgbClr val="12212F"/>
                          </a:solidFill>
                          <a:latin typeface="Cambria" pitchFamily="34" charset="0"/>
                          <a:ea typeface="Cambria" pitchFamily="34" charset="-122"/>
                          <a:cs typeface="Cambria" pitchFamily="34" charset="-120"/>
                        </a:rPr>
                        <a:t>400 liberadas</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00" b="1">
                          <a:solidFill>
                            <a:srgbClr val="A63A50"/>
                          </a:solidFill>
                          <a:latin typeface="Cambria" pitchFamily="34" charset="0"/>
                          <a:ea typeface="Cambria" pitchFamily="34" charset="-122"/>
                          <a:cs typeface="Cambria" pitchFamily="34" charset="-120"/>
                        </a:rPr>
                        <a:t>− 45,225.00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ctr">
                        <a:buNone/>
                      </a:pPr>
                      <a:r>
                        <a:rPr lang="en-US" sz="1200">
                          <a:solidFill>
                            <a:srgbClr val="12212F"/>
                          </a:solidFill>
                          <a:latin typeface="Cambria" pitchFamily="34" charset="0"/>
                          <a:ea typeface="Cambria" pitchFamily="34" charset="-122"/>
                          <a:cs typeface="Cambria" pitchFamily="34" charset="-120"/>
                        </a:rPr>
                        <a:t>1,500</a:t>
                      </a:r>
                      <a:endParaRPr lang="en-US" sz="120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48640" y="4572000"/>
            <a:ext cx="5440680" cy="1417320"/>
          </a:xfrm>
          <a:prstGeom prst="roundRect">
            <a:avLst>
              <a:gd name="adj" fmla="val 3871"/>
            </a:avLst>
          </a:prstGeom>
          <a:solidFill>
            <a:srgbClr val="F1F6F9"/>
          </a:solidFill>
          <a:ln w="12700">
            <a:solidFill>
              <a:srgbClr val="C9D8E2"/>
            </a:solidFill>
            <a:prstDash val="solid"/>
          </a:ln>
        </p:spPr>
        <p:txBody>
          <a:bodyPr/>
          <a:lstStyle/>
          <a:p>
            <a:endParaRPr lang="es-PE"/>
          </a:p>
        </p:txBody>
      </p:sp>
      <p:sp>
        <p:nvSpPr>
          <p:cNvPr id="6" name="Text 3"/>
          <p:cNvSpPr/>
          <p:nvPr/>
        </p:nvSpPr>
        <p:spPr>
          <a:xfrm>
            <a:off x="822960" y="4736592"/>
            <a:ext cx="4892040" cy="256032"/>
          </a:xfrm>
          <a:prstGeom prst="rect">
            <a:avLst/>
          </a:prstGeom>
          <a:noFill/>
          <a:ln/>
        </p:spPr>
        <p:txBody>
          <a:bodyPr wrap="square" lIns="0" tIns="0" rIns="0" bIns="0" rtlCol="0" anchor="ctr"/>
          <a:lstStyle/>
          <a:p>
            <a:pPr marL="0" indent="0">
              <a:buNone/>
            </a:pPr>
            <a:r>
              <a:rPr lang="en-US" sz="950" b="1" kern="0" spc="110">
                <a:solidFill>
                  <a:srgbClr val="44586A"/>
                </a:solidFill>
                <a:latin typeface="Cambria" pitchFamily="34" charset="0"/>
                <a:ea typeface="Cambria" pitchFamily="34" charset="-122"/>
                <a:cs typeface="Cambria" pitchFamily="34" charset="-120"/>
              </a:rPr>
              <a:t>LO QUE RESUELVE EL WARRANT</a:t>
            </a:r>
            <a:endParaRPr lang="en-US" sz="950"/>
          </a:p>
        </p:txBody>
      </p:sp>
      <p:sp>
        <p:nvSpPr>
          <p:cNvPr id="7" name="Text 4"/>
          <p:cNvSpPr/>
          <p:nvPr/>
        </p:nvSpPr>
        <p:spPr>
          <a:xfrm>
            <a:off x="822960" y="5010912"/>
            <a:ext cx="4892040" cy="868680"/>
          </a:xfrm>
          <a:prstGeom prst="rect">
            <a:avLst/>
          </a:prstGeom>
          <a:noFill/>
          <a:ln/>
        </p:spPr>
        <p:txBody>
          <a:bodyPr wrap="square" lIns="0" tIns="0" rIns="0" bIns="0" rtlCol="0" anchor="ctr"/>
          <a:lstStyle/>
          <a:p>
            <a:pPr marL="0" indent="0">
              <a:lnSpc>
                <a:spcPts val="1500"/>
              </a:lnSpc>
              <a:buNone/>
            </a:pPr>
            <a:r>
              <a:rPr lang="en-US" sz="1200">
                <a:solidFill>
                  <a:srgbClr val="12212F"/>
                </a:solidFill>
                <a:latin typeface="Cambria" pitchFamily="34" charset="0"/>
                <a:ea typeface="Cambria" pitchFamily="34" charset="-122"/>
                <a:cs typeface="Cambria" pitchFamily="34" charset="-120"/>
              </a:rPr>
              <a:t>El préstamo de US$ 45,000.00 cubre los US$ 39,600.00 de tributos del primer lote y los gastos financieros y de almacenaje. Sin él, la empresa no habría podido iniciar la venta.</a:t>
            </a:r>
            <a:endParaRPr lang="en-US" sz="1200"/>
          </a:p>
        </p:txBody>
      </p:sp>
      <p:sp>
        <p:nvSpPr>
          <p:cNvPr id="8" name="Shape 5"/>
          <p:cNvSpPr/>
          <p:nvPr/>
        </p:nvSpPr>
        <p:spPr>
          <a:xfrm>
            <a:off x="6355080" y="4572000"/>
            <a:ext cx="5285232" cy="1417320"/>
          </a:xfrm>
          <a:prstGeom prst="roundRect">
            <a:avLst>
              <a:gd name="adj" fmla="val 3871"/>
            </a:avLst>
          </a:prstGeom>
          <a:solidFill>
            <a:srgbClr val="FFFFFF"/>
          </a:solidFill>
          <a:ln w="12700">
            <a:solidFill>
              <a:srgbClr val="C9D8E2"/>
            </a:solidFill>
            <a:prstDash val="solid"/>
          </a:ln>
        </p:spPr>
        <p:txBody>
          <a:bodyPr/>
          <a:lstStyle/>
          <a:p>
            <a:endParaRPr lang="es-PE"/>
          </a:p>
        </p:txBody>
      </p:sp>
      <p:sp>
        <p:nvSpPr>
          <p:cNvPr id="9" name="Text 6"/>
          <p:cNvSpPr/>
          <p:nvPr/>
        </p:nvSpPr>
        <p:spPr>
          <a:xfrm>
            <a:off x="6629400" y="4736592"/>
            <a:ext cx="4754880" cy="256032"/>
          </a:xfrm>
          <a:prstGeom prst="rect">
            <a:avLst/>
          </a:prstGeom>
          <a:noFill/>
          <a:ln/>
        </p:spPr>
        <p:txBody>
          <a:bodyPr wrap="square" lIns="0" tIns="0" rIns="0" bIns="0" rtlCol="0" anchor="ctr"/>
          <a:lstStyle/>
          <a:p>
            <a:pPr marL="0" indent="0">
              <a:buNone/>
            </a:pPr>
            <a:r>
              <a:rPr lang="en-US" sz="950" b="1" kern="0" spc="110">
                <a:solidFill>
                  <a:srgbClr val="44586A"/>
                </a:solidFill>
                <a:latin typeface="Cambria" pitchFamily="34" charset="0"/>
                <a:ea typeface="Cambria" pitchFamily="34" charset="-122"/>
                <a:cs typeface="Cambria" pitchFamily="34" charset="-120"/>
              </a:rPr>
              <a:t>LO QUE QUEDA PENDIENTE</a:t>
            </a:r>
            <a:endParaRPr lang="en-US" sz="950"/>
          </a:p>
        </p:txBody>
      </p:sp>
      <p:sp>
        <p:nvSpPr>
          <p:cNvPr id="10" name="Text 7"/>
          <p:cNvSpPr/>
          <p:nvPr/>
        </p:nvSpPr>
        <p:spPr>
          <a:xfrm>
            <a:off x="6629400" y="5010912"/>
            <a:ext cx="4754880" cy="868680"/>
          </a:xfrm>
          <a:prstGeom prst="rect">
            <a:avLst/>
          </a:prstGeom>
          <a:noFill/>
          <a:ln/>
        </p:spPr>
        <p:txBody>
          <a:bodyPr wrap="square" lIns="0" tIns="0" rIns="0" bIns="0" rtlCol="0" anchor="ctr"/>
          <a:lstStyle/>
          <a:p>
            <a:pPr marL="0" indent="0">
              <a:lnSpc>
                <a:spcPts val="1500"/>
              </a:lnSpc>
              <a:buNone/>
            </a:pPr>
            <a:r>
              <a:rPr lang="en-US" sz="1200">
                <a:solidFill>
                  <a:srgbClr val="12212F"/>
                </a:solidFill>
                <a:latin typeface="Cambria" pitchFamily="34" charset="0"/>
                <a:ea typeface="Cambria" pitchFamily="34" charset="-122"/>
                <a:cs typeface="Cambria" pitchFamily="34" charset="-120"/>
              </a:rPr>
              <a:t>1,500 unidades siguen en depósito. Pueden nacionalizarse por lotes hasta el 07.08.2027. Después, la Aduana puede rematar, adjudicar o disponer su destrucción.</a:t>
            </a:r>
            <a:endParaRPr lang="en-US" sz="1200"/>
          </a:p>
        </p:txBody>
      </p:sp>
      <p:sp>
        <p:nvSpPr>
          <p:cNvPr id="11" name="Text 8"/>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Se pagaron US$ 72,600.00 de tributos por 1,100 unidades. Quedan US$ 98,998.22 suspendidos por las 1,500 restantes.</a:t>
            </a:r>
            <a:endParaRPr lang="en-US" sz="950"/>
          </a:p>
        </p:txBody>
      </p:sp>
      <p:sp>
        <p:nvSpPr>
          <p:cNvPr id="12" name="Text 9"/>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ANDERSON QUISPE</a:t>
            </a:r>
            <a:endParaRPr lang="en-US" sz="850"/>
          </a:p>
        </p:txBody>
      </p:sp>
      <p:sp>
        <p:nvSpPr>
          <p:cNvPr id="13" name="Text 10"/>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18</a:t>
            </a:r>
            <a:endParaRPr lang="en-US" sz="95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A65E2E"/>
                </a:solidFill>
                <a:latin typeface="Cambria" pitchFamily="34" charset="0"/>
                <a:ea typeface="Cambria" pitchFamily="34" charset="-122"/>
                <a:cs typeface="Cambria" pitchFamily="34" charset="-120"/>
              </a:rPr>
              <a:t>CASO 2</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Tres advertencias que conviene tener presentes</a:t>
            </a:r>
            <a:endParaRPr lang="en-US" sz="3000"/>
          </a:p>
        </p:txBody>
      </p:sp>
      <p:sp>
        <p:nvSpPr>
          <p:cNvPr id="4" name="Shape 2"/>
          <p:cNvSpPr/>
          <p:nvPr/>
        </p:nvSpPr>
        <p:spPr>
          <a:xfrm>
            <a:off x="548640" y="1554480"/>
            <a:ext cx="11094415" cy="1298448"/>
          </a:xfrm>
          <a:prstGeom prst="roundRect">
            <a:avLst>
              <a:gd name="adj" fmla="val 4225"/>
            </a:avLst>
          </a:prstGeom>
          <a:solidFill>
            <a:srgbClr val="F1F6F9"/>
          </a:solidFill>
          <a:ln w="12700">
            <a:solidFill>
              <a:srgbClr val="C9D8E2"/>
            </a:solidFill>
            <a:prstDash val="solid"/>
          </a:ln>
        </p:spPr>
        <p:txBody>
          <a:bodyPr/>
          <a:lstStyle/>
          <a:p>
            <a:endParaRPr lang="es-PE"/>
          </a:p>
        </p:txBody>
      </p:sp>
      <p:sp>
        <p:nvSpPr>
          <p:cNvPr id="5" name="Shape 3"/>
          <p:cNvSpPr/>
          <p:nvPr/>
        </p:nvSpPr>
        <p:spPr>
          <a:xfrm>
            <a:off x="864108" y="1741932"/>
            <a:ext cx="502920" cy="502920"/>
          </a:xfrm>
          <a:prstGeom prst="ellipse">
            <a:avLst/>
          </a:prstGeom>
          <a:solidFill>
            <a:srgbClr val="A65E2E"/>
          </a:solidFill>
          <a:ln w="12700">
            <a:solidFill>
              <a:srgbClr val="A65E2E"/>
            </a:solidFill>
            <a:prstDash val="solid"/>
          </a:ln>
        </p:spPr>
        <p:txBody>
          <a:bodyPr/>
          <a:lstStyle/>
          <a:p>
            <a:endParaRPr lang="es-PE"/>
          </a:p>
        </p:txBody>
      </p:sp>
      <p:sp>
        <p:nvSpPr>
          <p:cNvPr id="6" name="Text 4"/>
          <p:cNvSpPr/>
          <p:nvPr/>
        </p:nvSpPr>
        <p:spPr>
          <a:xfrm>
            <a:off x="864108" y="1741932"/>
            <a:ext cx="502920" cy="502920"/>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1</a:t>
            </a:r>
            <a:endParaRPr lang="en-US" sz="1400"/>
          </a:p>
        </p:txBody>
      </p:sp>
      <p:sp>
        <p:nvSpPr>
          <p:cNvPr id="7" name="Text 5"/>
          <p:cNvSpPr/>
          <p:nvPr/>
        </p:nvSpPr>
        <p:spPr>
          <a:xfrm>
            <a:off x="1600200" y="1737360"/>
            <a:ext cx="9601200" cy="365760"/>
          </a:xfrm>
          <a:prstGeom prst="rect">
            <a:avLst/>
          </a:prstGeom>
          <a:noFill/>
          <a:ln/>
        </p:spPr>
        <p:txBody>
          <a:bodyPr wrap="square" lIns="0" tIns="0" rIns="0" bIns="0" rtlCol="0" anchor="ctr"/>
          <a:lstStyle/>
          <a:p>
            <a:pPr marL="0" indent="0">
              <a:buNone/>
            </a:pPr>
            <a:r>
              <a:rPr lang="en-US" sz="1550" b="1">
                <a:solidFill>
                  <a:srgbClr val="A65E2E"/>
                </a:solidFill>
                <a:latin typeface="Century Schoolbook" pitchFamily="34" charset="0"/>
                <a:ea typeface="Century Schoolbook" pitchFamily="34" charset="-122"/>
                <a:cs typeface="Century Schoolbook" pitchFamily="34" charset="-120"/>
              </a:rPr>
              <a:t>El remate no siempre cancela toda la deuda</a:t>
            </a:r>
            <a:endParaRPr lang="en-US" sz="1550"/>
          </a:p>
        </p:txBody>
      </p:sp>
      <p:sp>
        <p:nvSpPr>
          <p:cNvPr id="8" name="Text 6"/>
          <p:cNvSpPr/>
          <p:nvPr/>
        </p:nvSpPr>
        <p:spPr>
          <a:xfrm>
            <a:off x="1600200" y="2103120"/>
            <a:ext cx="9692640" cy="658368"/>
          </a:xfrm>
          <a:prstGeom prst="rect">
            <a:avLst/>
          </a:prstGeom>
          <a:noFill/>
          <a:ln/>
        </p:spPr>
        <p:txBody>
          <a:bodyPr wrap="square" lIns="0" tIns="0" rIns="0" bIns="0" rtlCol="0" anchor="ctr"/>
          <a:lstStyle/>
          <a:p>
            <a:pPr marL="0" indent="0">
              <a:lnSpc>
                <a:spcPts val="1500"/>
              </a:lnSpc>
              <a:buNone/>
            </a:pPr>
            <a:r>
              <a:rPr lang="en-US" sz="1200">
                <a:solidFill>
                  <a:srgbClr val="12212F"/>
                </a:solidFill>
                <a:latin typeface="Cambria" pitchFamily="34" charset="0"/>
                <a:ea typeface="Cambria" pitchFamily="34" charset="-122"/>
                <a:cs typeface="Cambria" pitchFamily="34" charset="-120"/>
              </a:rPr>
              <a:t>Si el importador no paga, el banco puede rematar la mercancía prendada. Pero si el producto del remate no cubre el monto adeudado (intereses, almacenaje, gastos judiciales), el importador sigue debiendo la diferencia. Ejecutar la prenda no extingue automáticamente la obligación.</a:t>
            </a:r>
            <a:endParaRPr lang="en-US" sz="1200"/>
          </a:p>
        </p:txBody>
      </p:sp>
      <p:sp>
        <p:nvSpPr>
          <p:cNvPr id="9" name="Shape 7"/>
          <p:cNvSpPr/>
          <p:nvPr/>
        </p:nvSpPr>
        <p:spPr>
          <a:xfrm>
            <a:off x="548640" y="3017520"/>
            <a:ext cx="11094415" cy="1298448"/>
          </a:xfrm>
          <a:prstGeom prst="roundRect">
            <a:avLst>
              <a:gd name="adj" fmla="val 4225"/>
            </a:avLst>
          </a:prstGeom>
          <a:solidFill>
            <a:srgbClr val="FFFFFF"/>
          </a:solidFill>
          <a:ln w="12700">
            <a:solidFill>
              <a:srgbClr val="C9D8E2"/>
            </a:solidFill>
            <a:prstDash val="solid"/>
          </a:ln>
        </p:spPr>
        <p:txBody>
          <a:bodyPr/>
          <a:lstStyle/>
          <a:p>
            <a:endParaRPr lang="es-PE"/>
          </a:p>
        </p:txBody>
      </p:sp>
      <p:sp>
        <p:nvSpPr>
          <p:cNvPr id="10" name="Shape 8"/>
          <p:cNvSpPr/>
          <p:nvPr/>
        </p:nvSpPr>
        <p:spPr>
          <a:xfrm>
            <a:off x="864108" y="3204972"/>
            <a:ext cx="502920" cy="502920"/>
          </a:xfrm>
          <a:prstGeom prst="ellipse">
            <a:avLst/>
          </a:prstGeom>
          <a:solidFill>
            <a:srgbClr val="A65E2E"/>
          </a:solidFill>
          <a:ln w="12700">
            <a:solidFill>
              <a:srgbClr val="A65E2E"/>
            </a:solidFill>
            <a:prstDash val="solid"/>
          </a:ln>
        </p:spPr>
        <p:txBody>
          <a:bodyPr/>
          <a:lstStyle/>
          <a:p>
            <a:endParaRPr lang="es-PE"/>
          </a:p>
        </p:txBody>
      </p:sp>
      <p:sp>
        <p:nvSpPr>
          <p:cNvPr id="11" name="Text 9"/>
          <p:cNvSpPr/>
          <p:nvPr/>
        </p:nvSpPr>
        <p:spPr>
          <a:xfrm>
            <a:off x="864108" y="3204972"/>
            <a:ext cx="502920" cy="502920"/>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2</a:t>
            </a:r>
            <a:endParaRPr lang="en-US" sz="1400"/>
          </a:p>
        </p:txBody>
      </p:sp>
      <p:sp>
        <p:nvSpPr>
          <p:cNvPr id="12" name="Text 10"/>
          <p:cNvSpPr/>
          <p:nvPr/>
        </p:nvSpPr>
        <p:spPr>
          <a:xfrm>
            <a:off x="1600200" y="3200400"/>
            <a:ext cx="9601200" cy="365760"/>
          </a:xfrm>
          <a:prstGeom prst="rect">
            <a:avLst/>
          </a:prstGeom>
          <a:noFill/>
          <a:ln/>
        </p:spPr>
        <p:txBody>
          <a:bodyPr wrap="square" lIns="0" tIns="0" rIns="0" bIns="0" rtlCol="0" anchor="ctr"/>
          <a:lstStyle/>
          <a:p>
            <a:pPr marL="0" indent="0">
              <a:buNone/>
            </a:pPr>
            <a:r>
              <a:rPr lang="en-US" sz="1550" b="1">
                <a:solidFill>
                  <a:srgbClr val="A65E2E"/>
                </a:solidFill>
                <a:latin typeface="Century Schoolbook" pitchFamily="34" charset="0"/>
                <a:ea typeface="Century Schoolbook" pitchFamily="34" charset="-122"/>
                <a:cs typeface="Century Schoolbook" pitchFamily="34" charset="-120"/>
              </a:rPr>
              <a:t>El seguro no sustituye a la obligación bancaria</a:t>
            </a:r>
            <a:endParaRPr lang="en-US" sz="1550"/>
          </a:p>
        </p:txBody>
      </p:sp>
      <p:sp>
        <p:nvSpPr>
          <p:cNvPr id="13" name="Text 11"/>
          <p:cNvSpPr/>
          <p:nvPr/>
        </p:nvSpPr>
        <p:spPr>
          <a:xfrm>
            <a:off x="1600200" y="3566160"/>
            <a:ext cx="9692640" cy="658368"/>
          </a:xfrm>
          <a:prstGeom prst="rect">
            <a:avLst/>
          </a:prstGeom>
          <a:noFill/>
          <a:ln/>
        </p:spPr>
        <p:txBody>
          <a:bodyPr wrap="square" lIns="0" tIns="0" rIns="0" bIns="0" rtlCol="0" anchor="ctr"/>
          <a:lstStyle/>
          <a:p>
            <a:pPr marL="0" indent="0">
              <a:lnSpc>
                <a:spcPts val="1500"/>
              </a:lnSpc>
              <a:buNone/>
            </a:pPr>
            <a:r>
              <a:rPr lang="en-US" sz="1200">
                <a:solidFill>
                  <a:srgbClr val="12212F"/>
                </a:solidFill>
                <a:latin typeface="Cambria" pitchFamily="34" charset="0"/>
                <a:ea typeface="Cambria" pitchFamily="34" charset="-122"/>
                <a:cs typeface="Cambria" pitchFamily="34" charset="-120"/>
              </a:rPr>
              <a:t>Que la mercancía esté asegurada no cancela la deuda con el banco: son mecanismos independientes. El seguro cubre el siniestro sobre la mercancía. La obligación crediticia subsiste y debe atenderse por separado.</a:t>
            </a:r>
            <a:endParaRPr lang="en-US" sz="1200"/>
          </a:p>
        </p:txBody>
      </p:sp>
      <p:sp>
        <p:nvSpPr>
          <p:cNvPr id="14" name="Shape 12"/>
          <p:cNvSpPr/>
          <p:nvPr/>
        </p:nvSpPr>
        <p:spPr>
          <a:xfrm>
            <a:off x="548640" y="4480560"/>
            <a:ext cx="11094415" cy="1298448"/>
          </a:xfrm>
          <a:prstGeom prst="roundRect">
            <a:avLst>
              <a:gd name="adj" fmla="val 4225"/>
            </a:avLst>
          </a:prstGeom>
          <a:solidFill>
            <a:srgbClr val="F1F6F9"/>
          </a:solidFill>
          <a:ln w="12700">
            <a:solidFill>
              <a:srgbClr val="C9D8E2"/>
            </a:solidFill>
            <a:prstDash val="solid"/>
          </a:ln>
        </p:spPr>
        <p:txBody>
          <a:bodyPr/>
          <a:lstStyle/>
          <a:p>
            <a:endParaRPr lang="es-PE"/>
          </a:p>
        </p:txBody>
      </p:sp>
      <p:sp>
        <p:nvSpPr>
          <p:cNvPr id="15" name="Shape 13"/>
          <p:cNvSpPr/>
          <p:nvPr/>
        </p:nvSpPr>
        <p:spPr>
          <a:xfrm>
            <a:off x="864108" y="4668012"/>
            <a:ext cx="502920" cy="502920"/>
          </a:xfrm>
          <a:prstGeom prst="ellipse">
            <a:avLst/>
          </a:prstGeom>
          <a:solidFill>
            <a:srgbClr val="A65E2E"/>
          </a:solidFill>
          <a:ln w="12700">
            <a:solidFill>
              <a:srgbClr val="A65E2E"/>
            </a:solidFill>
            <a:prstDash val="solid"/>
          </a:ln>
        </p:spPr>
        <p:txBody>
          <a:bodyPr/>
          <a:lstStyle/>
          <a:p>
            <a:endParaRPr lang="es-PE"/>
          </a:p>
        </p:txBody>
      </p:sp>
      <p:sp>
        <p:nvSpPr>
          <p:cNvPr id="16" name="Text 14"/>
          <p:cNvSpPr/>
          <p:nvPr/>
        </p:nvSpPr>
        <p:spPr>
          <a:xfrm>
            <a:off x="864108" y="4668012"/>
            <a:ext cx="502920" cy="502920"/>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3</a:t>
            </a:r>
            <a:endParaRPr lang="en-US" sz="1400"/>
          </a:p>
        </p:txBody>
      </p:sp>
      <p:sp>
        <p:nvSpPr>
          <p:cNvPr id="17" name="Text 15"/>
          <p:cNvSpPr/>
          <p:nvPr/>
        </p:nvSpPr>
        <p:spPr>
          <a:xfrm>
            <a:off x="1600200" y="4663440"/>
            <a:ext cx="9601200" cy="365760"/>
          </a:xfrm>
          <a:prstGeom prst="rect">
            <a:avLst/>
          </a:prstGeom>
          <a:noFill/>
          <a:ln/>
        </p:spPr>
        <p:txBody>
          <a:bodyPr wrap="square" lIns="0" tIns="0" rIns="0" bIns="0" rtlCol="0" anchor="ctr"/>
          <a:lstStyle/>
          <a:p>
            <a:pPr marL="0" indent="0">
              <a:buNone/>
            </a:pPr>
            <a:r>
              <a:rPr lang="en-US" sz="1550" b="1">
                <a:solidFill>
                  <a:srgbClr val="A65E2E"/>
                </a:solidFill>
                <a:latin typeface="Century Schoolbook" pitchFamily="34" charset="0"/>
                <a:ea typeface="Century Schoolbook" pitchFamily="34" charset="-122"/>
                <a:cs typeface="Century Schoolbook" pitchFamily="34" charset="-120"/>
              </a:rPr>
              <a:t>El Warrant no reemplaza el pago de tributos</a:t>
            </a:r>
            <a:endParaRPr lang="en-US" sz="1550"/>
          </a:p>
        </p:txBody>
      </p:sp>
      <p:sp>
        <p:nvSpPr>
          <p:cNvPr id="18" name="Text 16"/>
          <p:cNvSpPr/>
          <p:nvPr/>
        </p:nvSpPr>
        <p:spPr>
          <a:xfrm>
            <a:off x="1600200" y="5029200"/>
            <a:ext cx="9692640" cy="658368"/>
          </a:xfrm>
          <a:prstGeom prst="rect">
            <a:avLst/>
          </a:prstGeom>
          <a:noFill/>
          <a:ln/>
        </p:spPr>
        <p:txBody>
          <a:bodyPr wrap="square" lIns="0" tIns="0" rIns="0" bIns="0" rtlCol="0" anchor="ctr"/>
          <a:lstStyle/>
          <a:p>
            <a:pPr marL="0" indent="0">
              <a:lnSpc>
                <a:spcPts val="1500"/>
              </a:lnSpc>
              <a:buNone/>
            </a:pPr>
            <a:r>
              <a:rPr lang="en-US" sz="1200">
                <a:solidFill>
                  <a:srgbClr val="12212F"/>
                </a:solidFill>
                <a:latin typeface="Cambria" pitchFamily="34" charset="0"/>
                <a:ea typeface="Cambria" pitchFamily="34" charset="-122"/>
                <a:cs typeface="Cambria" pitchFamily="34" charset="-120"/>
              </a:rPr>
              <a:t>El Warrant solo financia al importador. Los derechos arancelarios y demás impuestos siguen suspendidos y se liquidan y pagan en cada Declaración de Importación para el Consumo que se numere por los despachos parciales.</a:t>
            </a:r>
            <a:endParaRPr lang="en-US" sz="1200"/>
          </a:p>
        </p:txBody>
      </p:sp>
      <p:sp>
        <p:nvSpPr>
          <p:cNvPr id="19" name="Shape 17"/>
          <p:cNvSpPr/>
          <p:nvPr/>
        </p:nvSpPr>
        <p:spPr>
          <a:xfrm>
            <a:off x="548640" y="5943600"/>
            <a:ext cx="91440" cy="91440"/>
          </a:xfrm>
          <a:prstGeom prst="roundRect">
            <a:avLst>
              <a:gd name="adj" fmla="val 60000"/>
            </a:avLst>
          </a:prstGeom>
          <a:solidFill>
            <a:srgbClr val="FFFFFF"/>
          </a:solidFill>
          <a:ln w="12700">
            <a:solidFill>
              <a:srgbClr val="FFFFFF"/>
            </a:solidFill>
            <a:prstDash val="solid"/>
          </a:ln>
        </p:spPr>
        <p:txBody>
          <a:bodyPr/>
          <a:lstStyle/>
          <a:p>
            <a:endParaRPr lang="es-PE"/>
          </a:p>
        </p:txBody>
      </p:sp>
      <p:sp>
        <p:nvSpPr>
          <p:cNvPr id="20" name="Text 18"/>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Caso 2 · Depósito Aduanero con Warrant</a:t>
            </a:r>
            <a:endParaRPr lang="en-US" sz="950"/>
          </a:p>
        </p:txBody>
      </p:sp>
      <p:sp>
        <p:nvSpPr>
          <p:cNvPr id="21" name="Text 19"/>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ANDERSON QUISPE</a:t>
            </a:r>
            <a:endParaRPr lang="en-US" sz="850"/>
          </a:p>
        </p:txBody>
      </p:sp>
      <p:sp>
        <p:nvSpPr>
          <p:cNvPr id="22" name="Text 20"/>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19</a:t>
            </a:r>
            <a:endParaRPr lang="en-US" sz="9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A65E2E"/>
                </a:solidFill>
                <a:latin typeface="Cambria" pitchFamily="34" charset="0"/>
                <a:ea typeface="Cambria" pitchFamily="34" charset="-122"/>
                <a:cs typeface="Cambria" pitchFamily="34" charset="-120"/>
              </a:rPr>
              <a:t>CASO 2</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Conclusión</a:t>
            </a:r>
            <a:endParaRPr lang="en-US" sz="3000"/>
          </a:p>
        </p:txBody>
      </p:sp>
      <p:sp>
        <p:nvSpPr>
          <p:cNvPr id="4" name="Shape 2"/>
          <p:cNvSpPr/>
          <p:nvPr/>
        </p:nvSpPr>
        <p:spPr>
          <a:xfrm>
            <a:off x="548640" y="1554480"/>
            <a:ext cx="3566160" cy="1828800"/>
          </a:xfrm>
          <a:prstGeom prst="roundRect">
            <a:avLst>
              <a:gd name="adj" fmla="val 3000"/>
            </a:avLst>
          </a:prstGeom>
          <a:solidFill>
            <a:srgbClr val="F1F6F9"/>
          </a:solidFill>
          <a:ln w="12700">
            <a:solidFill>
              <a:srgbClr val="C9D8E2"/>
            </a:solidFill>
            <a:prstDash val="solid"/>
          </a:ln>
        </p:spPr>
        <p:txBody>
          <a:bodyPr/>
          <a:lstStyle/>
          <a:p>
            <a:endParaRPr lang="es-PE"/>
          </a:p>
        </p:txBody>
      </p:sp>
      <p:sp>
        <p:nvSpPr>
          <p:cNvPr id="5" name="Text 3"/>
          <p:cNvSpPr/>
          <p:nvPr/>
        </p:nvSpPr>
        <p:spPr>
          <a:xfrm>
            <a:off x="804672" y="1755648"/>
            <a:ext cx="3063240" cy="256032"/>
          </a:xfrm>
          <a:prstGeom prst="rect">
            <a:avLst/>
          </a:prstGeom>
          <a:noFill/>
          <a:ln/>
        </p:spPr>
        <p:txBody>
          <a:bodyPr wrap="square" lIns="0" tIns="0" rIns="0" bIns="0" rtlCol="0" anchor="ctr"/>
          <a:lstStyle/>
          <a:p>
            <a:pPr marL="0" indent="0">
              <a:buNone/>
            </a:pPr>
            <a:r>
              <a:rPr lang="en-US" sz="900" b="1" kern="0" spc="100">
                <a:solidFill>
                  <a:srgbClr val="44586A"/>
                </a:solidFill>
                <a:latin typeface="Cambria" pitchFamily="34" charset="0"/>
                <a:ea typeface="Cambria" pitchFamily="34" charset="-122"/>
                <a:cs typeface="Cambria" pitchFamily="34" charset="-120"/>
              </a:rPr>
              <a:t>TRIBUTOS NO PAGADOS AL INGRESO</a:t>
            </a:r>
            <a:endParaRPr lang="en-US" sz="900"/>
          </a:p>
        </p:txBody>
      </p:sp>
      <p:sp>
        <p:nvSpPr>
          <p:cNvPr id="6" name="Text 4"/>
          <p:cNvSpPr/>
          <p:nvPr/>
        </p:nvSpPr>
        <p:spPr>
          <a:xfrm>
            <a:off x="804672" y="2029968"/>
            <a:ext cx="3108960" cy="548640"/>
          </a:xfrm>
          <a:prstGeom prst="rect">
            <a:avLst/>
          </a:prstGeom>
          <a:noFill/>
          <a:ln/>
        </p:spPr>
        <p:txBody>
          <a:bodyPr wrap="square" lIns="0" tIns="0" rIns="0" bIns="0" rtlCol="0" anchor="ctr"/>
          <a:lstStyle/>
          <a:p>
            <a:pPr marL="0" indent="0">
              <a:buNone/>
            </a:pPr>
            <a:r>
              <a:rPr lang="en-US" sz="2300" b="1">
                <a:solidFill>
                  <a:srgbClr val="A65E2E"/>
                </a:solidFill>
                <a:latin typeface="Century Schoolbook" pitchFamily="34" charset="0"/>
                <a:ea typeface="Century Schoolbook" pitchFamily="34" charset="-122"/>
                <a:cs typeface="Century Schoolbook" pitchFamily="34" charset="-120"/>
              </a:rPr>
              <a:t>US$ 171,598.22</a:t>
            </a:r>
            <a:endParaRPr lang="en-US" sz="2300"/>
          </a:p>
        </p:txBody>
      </p:sp>
      <p:sp>
        <p:nvSpPr>
          <p:cNvPr id="7" name="Text 5"/>
          <p:cNvSpPr/>
          <p:nvPr/>
        </p:nvSpPr>
        <p:spPr>
          <a:xfrm>
            <a:off x="804672" y="2606040"/>
            <a:ext cx="3108960" cy="640080"/>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Diferidos por hasta 12 meses.</a:t>
            </a:r>
            <a:endParaRPr lang="en-US" sz="1150"/>
          </a:p>
        </p:txBody>
      </p:sp>
      <p:sp>
        <p:nvSpPr>
          <p:cNvPr id="8" name="Shape 6"/>
          <p:cNvSpPr/>
          <p:nvPr/>
        </p:nvSpPr>
        <p:spPr>
          <a:xfrm>
            <a:off x="4315968" y="1554480"/>
            <a:ext cx="3566160" cy="1828800"/>
          </a:xfrm>
          <a:prstGeom prst="roundRect">
            <a:avLst>
              <a:gd name="adj" fmla="val 3000"/>
            </a:avLst>
          </a:prstGeom>
          <a:solidFill>
            <a:srgbClr val="FFFFFF"/>
          </a:solidFill>
          <a:ln w="12700">
            <a:solidFill>
              <a:srgbClr val="C9D8E2"/>
            </a:solidFill>
            <a:prstDash val="solid"/>
          </a:ln>
        </p:spPr>
        <p:txBody>
          <a:bodyPr/>
          <a:lstStyle/>
          <a:p>
            <a:endParaRPr lang="es-PE"/>
          </a:p>
        </p:txBody>
      </p:sp>
      <p:sp>
        <p:nvSpPr>
          <p:cNvPr id="9" name="Text 7"/>
          <p:cNvSpPr/>
          <p:nvPr/>
        </p:nvSpPr>
        <p:spPr>
          <a:xfrm>
            <a:off x="4572000" y="1755648"/>
            <a:ext cx="3063240" cy="256032"/>
          </a:xfrm>
          <a:prstGeom prst="rect">
            <a:avLst/>
          </a:prstGeom>
          <a:noFill/>
          <a:ln/>
        </p:spPr>
        <p:txBody>
          <a:bodyPr wrap="square" lIns="0" tIns="0" rIns="0" bIns="0" rtlCol="0" anchor="ctr"/>
          <a:lstStyle/>
          <a:p>
            <a:pPr marL="0" indent="0">
              <a:buNone/>
            </a:pPr>
            <a:r>
              <a:rPr lang="en-US" sz="900" b="1" kern="0" spc="100">
                <a:solidFill>
                  <a:srgbClr val="44586A"/>
                </a:solidFill>
                <a:latin typeface="Cambria" pitchFamily="34" charset="0"/>
                <a:ea typeface="Cambria" pitchFamily="34" charset="-122"/>
                <a:cs typeface="Cambria" pitchFamily="34" charset="-120"/>
              </a:rPr>
              <a:t>CAPITAL DE TRABAJO OBTENIDO</a:t>
            </a:r>
            <a:endParaRPr lang="en-US" sz="900"/>
          </a:p>
        </p:txBody>
      </p:sp>
      <p:sp>
        <p:nvSpPr>
          <p:cNvPr id="10" name="Text 8"/>
          <p:cNvSpPr/>
          <p:nvPr/>
        </p:nvSpPr>
        <p:spPr>
          <a:xfrm>
            <a:off x="4572000" y="2029968"/>
            <a:ext cx="3108960" cy="548640"/>
          </a:xfrm>
          <a:prstGeom prst="rect">
            <a:avLst/>
          </a:prstGeom>
          <a:noFill/>
          <a:ln/>
        </p:spPr>
        <p:txBody>
          <a:bodyPr wrap="square" lIns="0" tIns="0" rIns="0" bIns="0" rtlCol="0" anchor="ctr"/>
          <a:lstStyle/>
          <a:p>
            <a:pPr marL="0" indent="0">
              <a:buNone/>
            </a:pPr>
            <a:r>
              <a:rPr lang="en-US" sz="2300" b="1">
                <a:solidFill>
                  <a:srgbClr val="0B3C5D"/>
                </a:solidFill>
                <a:latin typeface="Century Schoolbook" pitchFamily="34" charset="0"/>
                <a:ea typeface="Century Schoolbook" pitchFamily="34" charset="-122"/>
                <a:cs typeface="Century Schoolbook" pitchFamily="34" charset="-120"/>
              </a:rPr>
              <a:t>US$ 45,000.00</a:t>
            </a:r>
            <a:endParaRPr lang="en-US" sz="2300"/>
          </a:p>
        </p:txBody>
      </p:sp>
      <p:sp>
        <p:nvSpPr>
          <p:cNvPr id="11" name="Text 9"/>
          <p:cNvSpPr/>
          <p:nvPr/>
        </p:nvSpPr>
        <p:spPr>
          <a:xfrm>
            <a:off x="4572000" y="2606040"/>
            <a:ext cx="3108960" cy="640080"/>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Con 400 de sus propias unidades en prenda.</a:t>
            </a:r>
            <a:endParaRPr lang="en-US" sz="1150"/>
          </a:p>
        </p:txBody>
      </p:sp>
      <p:sp>
        <p:nvSpPr>
          <p:cNvPr id="12" name="Shape 10"/>
          <p:cNvSpPr/>
          <p:nvPr/>
        </p:nvSpPr>
        <p:spPr>
          <a:xfrm>
            <a:off x="8074152" y="1554480"/>
            <a:ext cx="3566160" cy="1828800"/>
          </a:xfrm>
          <a:prstGeom prst="roundRect">
            <a:avLst>
              <a:gd name="adj" fmla="val 3000"/>
            </a:avLst>
          </a:prstGeom>
          <a:solidFill>
            <a:srgbClr val="F1F6F9"/>
          </a:solidFill>
          <a:ln w="12700">
            <a:solidFill>
              <a:srgbClr val="C9D8E2"/>
            </a:solidFill>
            <a:prstDash val="solid"/>
          </a:ln>
        </p:spPr>
        <p:txBody>
          <a:bodyPr/>
          <a:lstStyle/>
          <a:p>
            <a:endParaRPr lang="es-PE"/>
          </a:p>
        </p:txBody>
      </p:sp>
      <p:sp>
        <p:nvSpPr>
          <p:cNvPr id="13" name="Text 11"/>
          <p:cNvSpPr/>
          <p:nvPr/>
        </p:nvSpPr>
        <p:spPr>
          <a:xfrm>
            <a:off x="8330184" y="1755648"/>
            <a:ext cx="3063240" cy="256032"/>
          </a:xfrm>
          <a:prstGeom prst="rect">
            <a:avLst/>
          </a:prstGeom>
          <a:noFill/>
          <a:ln/>
        </p:spPr>
        <p:txBody>
          <a:bodyPr wrap="square" lIns="0" tIns="0" rIns="0" bIns="0" rtlCol="0" anchor="ctr"/>
          <a:lstStyle/>
          <a:p>
            <a:pPr marL="0" indent="0">
              <a:buNone/>
            </a:pPr>
            <a:r>
              <a:rPr lang="en-US" sz="900" b="1" kern="0" spc="100">
                <a:solidFill>
                  <a:srgbClr val="44586A"/>
                </a:solidFill>
                <a:latin typeface="Cambria" pitchFamily="34" charset="0"/>
                <a:ea typeface="Cambria" pitchFamily="34" charset="-122"/>
                <a:cs typeface="Cambria" pitchFamily="34" charset="-120"/>
              </a:rPr>
              <a:t>COSTO FINANCIERO REAL</a:t>
            </a:r>
            <a:endParaRPr lang="en-US" sz="900"/>
          </a:p>
        </p:txBody>
      </p:sp>
      <p:sp>
        <p:nvSpPr>
          <p:cNvPr id="14" name="Text 12"/>
          <p:cNvSpPr/>
          <p:nvPr/>
        </p:nvSpPr>
        <p:spPr>
          <a:xfrm>
            <a:off x="8330184" y="2029968"/>
            <a:ext cx="3108960" cy="548640"/>
          </a:xfrm>
          <a:prstGeom prst="rect">
            <a:avLst/>
          </a:prstGeom>
          <a:noFill/>
          <a:ln/>
        </p:spPr>
        <p:txBody>
          <a:bodyPr wrap="square" lIns="0" tIns="0" rIns="0" bIns="0" rtlCol="0" anchor="ctr"/>
          <a:lstStyle/>
          <a:p>
            <a:pPr marL="0" indent="0">
              <a:buNone/>
            </a:pPr>
            <a:r>
              <a:rPr lang="en-US" sz="2300" b="1">
                <a:solidFill>
                  <a:srgbClr val="A63A50"/>
                </a:solidFill>
                <a:latin typeface="Century Schoolbook" pitchFamily="34" charset="0"/>
                <a:ea typeface="Century Schoolbook" pitchFamily="34" charset="-122"/>
                <a:cs typeface="Century Schoolbook" pitchFamily="34" charset="-120"/>
              </a:rPr>
              <a:t>US$ 225.00</a:t>
            </a:r>
            <a:endParaRPr lang="en-US" sz="2300"/>
          </a:p>
        </p:txBody>
      </p:sp>
      <p:sp>
        <p:nvSpPr>
          <p:cNvPr id="15" name="Text 13"/>
          <p:cNvSpPr/>
          <p:nvPr/>
        </p:nvSpPr>
        <p:spPr>
          <a:xfrm>
            <a:off x="8330184" y="2606040"/>
            <a:ext cx="3108960" cy="640080"/>
          </a:xfrm>
          <a:prstGeom prst="rect">
            <a:avLst/>
          </a:prstGeom>
          <a:noFill/>
          <a:ln/>
        </p:spPr>
        <p:txBody>
          <a:bodyPr wrap="square" lIns="0" tIns="0" rIns="0" bIns="0" rtlCol="0" anchor="ctr"/>
          <a:lstStyle/>
          <a:p>
            <a:pPr marL="0" indent="0">
              <a:lnSpc>
                <a:spcPts val="1400"/>
              </a:lnSpc>
              <a:buNone/>
            </a:pPr>
            <a:r>
              <a:rPr lang="en-US" sz="1150">
                <a:solidFill>
                  <a:srgbClr val="12212F"/>
                </a:solidFill>
                <a:latin typeface="Cambria" pitchFamily="34" charset="0"/>
                <a:ea typeface="Cambria" pitchFamily="34" charset="-122"/>
                <a:cs typeface="Cambria" pitchFamily="34" charset="-120"/>
              </a:rPr>
              <a:t>Intereses del préstamo por 15 días.</a:t>
            </a:r>
            <a:endParaRPr lang="en-US" sz="1150"/>
          </a:p>
        </p:txBody>
      </p:sp>
      <p:sp>
        <p:nvSpPr>
          <p:cNvPr id="16" name="Shape 14"/>
          <p:cNvSpPr/>
          <p:nvPr/>
        </p:nvSpPr>
        <p:spPr>
          <a:xfrm>
            <a:off x="548640" y="3611880"/>
            <a:ext cx="11094415" cy="2377440"/>
          </a:xfrm>
          <a:prstGeom prst="roundRect">
            <a:avLst>
              <a:gd name="adj" fmla="val 2308"/>
            </a:avLst>
          </a:prstGeom>
          <a:solidFill>
            <a:srgbClr val="FFFFFF"/>
          </a:solidFill>
          <a:ln w="12700">
            <a:solidFill>
              <a:srgbClr val="C9D8E2"/>
            </a:solidFill>
            <a:prstDash val="solid"/>
          </a:ln>
        </p:spPr>
        <p:txBody>
          <a:bodyPr/>
          <a:lstStyle/>
          <a:p>
            <a:endParaRPr lang="es-PE"/>
          </a:p>
        </p:txBody>
      </p:sp>
      <p:sp>
        <p:nvSpPr>
          <p:cNvPr id="17" name="Text 15"/>
          <p:cNvSpPr/>
          <p:nvPr/>
        </p:nvSpPr>
        <p:spPr>
          <a:xfrm>
            <a:off x="914400" y="3886200"/>
            <a:ext cx="10362895" cy="1874520"/>
          </a:xfrm>
          <a:prstGeom prst="rect">
            <a:avLst/>
          </a:prstGeom>
          <a:noFill/>
          <a:ln/>
        </p:spPr>
        <p:txBody>
          <a:bodyPr wrap="square" lIns="0" tIns="0" rIns="0" bIns="0" rtlCol="0" anchor="ctr"/>
          <a:lstStyle/>
          <a:p>
            <a:pPr marL="0" indent="0">
              <a:lnSpc>
                <a:spcPts val="1900"/>
              </a:lnSpc>
              <a:buNone/>
            </a:pPr>
            <a:r>
              <a:rPr lang="en-US" sz="1350" b="1">
                <a:solidFill>
                  <a:srgbClr val="12212F"/>
                </a:solidFill>
                <a:latin typeface="Cambria" pitchFamily="34" charset="0"/>
                <a:ea typeface="Cambria" pitchFamily="34" charset="-122"/>
                <a:cs typeface="Cambria" pitchFamily="34" charset="-120"/>
              </a:rPr>
              <a:t>El Depósito resuelve el tiempo. El Warrant resuelve la caja.</a:t>
            </a:r>
            <a:endParaRPr lang="en-US" sz="1350"/>
          </a:p>
          <a:p>
            <a:pPr marL="0" indent="0">
              <a:lnSpc>
                <a:spcPts val="1900"/>
              </a:lnSpc>
              <a:buNone/>
            </a:pPr>
            <a:r>
              <a:rPr lang="en-US" sz="1350">
                <a:solidFill>
                  <a:srgbClr val="12212F"/>
                </a:solidFill>
                <a:latin typeface="Cambria" pitchFamily="34" charset="0"/>
                <a:ea typeface="Cambria" pitchFamily="34" charset="-122"/>
                <a:cs typeface="Cambria" pitchFamily="34" charset="-120"/>
              </a:rPr>
              <a:t>Combinados, permiten a la empresa traer un lote grande sin pagar los tributos de golpe, obtener liquidez dejando en prenda una fracción de su propia mercancía, y nacionalizar por lotes conforme la venta genera ingresos.</a:t>
            </a:r>
            <a:endParaRPr lang="en-US" sz="1350"/>
          </a:p>
          <a:p>
            <a:pPr marL="0" indent="0">
              <a:lnSpc>
                <a:spcPts val="1900"/>
              </a:lnSpc>
              <a:buNone/>
            </a:pPr>
            <a:r>
              <a:rPr lang="en-US" sz="600">
                <a:solidFill>
                  <a:srgbClr val="12212F"/>
                </a:solidFill>
                <a:latin typeface="Cambria" pitchFamily="34" charset="0"/>
                <a:ea typeface="Cambria" pitchFamily="34" charset="-122"/>
                <a:cs typeface="Cambria" pitchFamily="34" charset="-120"/>
              </a:rPr>
              <a:t> </a:t>
            </a:r>
            <a:endParaRPr lang="en-US" sz="1350"/>
          </a:p>
          <a:p>
            <a:pPr marL="0" indent="0">
              <a:lnSpc>
                <a:spcPts val="1900"/>
              </a:lnSpc>
              <a:buNone/>
            </a:pPr>
            <a:r>
              <a:rPr lang="en-US" sz="1350">
                <a:solidFill>
                  <a:srgbClr val="12212F"/>
                </a:solidFill>
                <a:latin typeface="Cambria" pitchFamily="34" charset="0"/>
                <a:ea typeface="Cambria" pitchFamily="34" charset="-122"/>
                <a:cs typeface="Cambria" pitchFamily="34" charset="-120"/>
              </a:rPr>
              <a:t>Lo que no cambia: el tributo. Los US$ 171,598.22 se pagarán íntegramente conforme se retire la mercancía. El régimen reparte el desembolso en el tiempo. El Warrant pone el puente financiero para dar el primer paso.</a:t>
            </a:r>
            <a:endParaRPr lang="en-US" sz="1350"/>
          </a:p>
        </p:txBody>
      </p:sp>
      <p:sp>
        <p:nvSpPr>
          <p:cNvPr id="18" name="Text 16"/>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Caso 2 · Depósito Aduanero con Warrant</a:t>
            </a:r>
            <a:endParaRPr lang="en-US" sz="950"/>
          </a:p>
        </p:txBody>
      </p:sp>
      <p:sp>
        <p:nvSpPr>
          <p:cNvPr id="19" name="Text 17"/>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ANDERSON QUISPE</a:t>
            </a:r>
            <a:endParaRPr lang="en-US" sz="850"/>
          </a:p>
        </p:txBody>
      </p:sp>
      <p:sp>
        <p:nvSpPr>
          <p:cNvPr id="20" name="Text 18"/>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20</a:t>
            </a:r>
            <a:endParaRPr lang="en-US" sz="95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4EDF3"/>
        </a:solidFill>
        <a:effectLst/>
      </p:bgPr>
    </p:bg>
    <p:spTree>
      <p:nvGrpSpPr>
        <p:cNvPr id="1" name=""/>
        <p:cNvGrpSpPr/>
        <p:nvPr/>
      </p:nvGrpSpPr>
      <p:grpSpPr>
        <a:xfrm>
          <a:off x="0" y="0"/>
          <a:ext cx="0" cy="0"/>
          <a:chOff x="0" y="0"/>
          <a:chExt cx="0" cy="0"/>
        </a:xfrm>
      </p:grpSpPr>
      <p:sp>
        <p:nvSpPr>
          <p:cNvPr id="2" name="Shape 0"/>
          <p:cNvSpPr/>
          <p:nvPr/>
        </p:nvSpPr>
        <p:spPr>
          <a:xfrm>
            <a:off x="548640" y="1600200"/>
            <a:ext cx="1554480" cy="1554480"/>
          </a:xfrm>
          <a:prstGeom prst="ellipse">
            <a:avLst/>
          </a:prstGeom>
          <a:solidFill>
            <a:srgbClr val="7A3B69"/>
          </a:solidFill>
          <a:ln w="12700">
            <a:solidFill>
              <a:srgbClr val="7A3B69"/>
            </a:solidFill>
            <a:prstDash val="solid"/>
          </a:ln>
        </p:spPr>
        <p:txBody>
          <a:bodyPr/>
          <a:lstStyle/>
          <a:p>
            <a:endParaRPr lang="es-PE"/>
          </a:p>
        </p:txBody>
      </p:sp>
      <p:sp>
        <p:nvSpPr>
          <p:cNvPr id="3" name="Text 1"/>
          <p:cNvSpPr/>
          <p:nvPr/>
        </p:nvSpPr>
        <p:spPr>
          <a:xfrm>
            <a:off x="548640" y="1600200"/>
            <a:ext cx="1554480" cy="1554480"/>
          </a:xfrm>
          <a:prstGeom prst="rect">
            <a:avLst/>
          </a:prstGeom>
          <a:noFill/>
          <a:ln/>
        </p:spPr>
        <p:txBody>
          <a:bodyPr wrap="square" lIns="0" tIns="0" rIns="0" bIns="0" rtlCol="0" anchor="ctr"/>
          <a:lstStyle/>
          <a:p>
            <a:pPr marL="0" indent="0" algn="ctr">
              <a:buNone/>
            </a:pPr>
            <a:r>
              <a:rPr lang="en-US" sz="1800" b="1">
                <a:solidFill>
                  <a:srgbClr val="FFFFFF"/>
                </a:solidFill>
                <a:latin typeface="Century Schoolbook" pitchFamily="34" charset="0"/>
                <a:ea typeface="Century Schoolbook" pitchFamily="34" charset="-122"/>
                <a:cs typeface="Century Schoolbook" pitchFamily="34" charset="-120"/>
              </a:rPr>
              <a:t>3</a:t>
            </a:r>
            <a:endParaRPr lang="en-US" sz="1800"/>
          </a:p>
        </p:txBody>
      </p:sp>
      <p:sp>
        <p:nvSpPr>
          <p:cNvPr id="4" name="Text 2"/>
          <p:cNvSpPr/>
          <p:nvPr/>
        </p:nvSpPr>
        <p:spPr>
          <a:xfrm>
            <a:off x="2468880" y="1783080"/>
            <a:ext cx="8686800" cy="329184"/>
          </a:xfrm>
          <a:prstGeom prst="rect">
            <a:avLst/>
          </a:prstGeom>
          <a:noFill/>
          <a:ln/>
        </p:spPr>
        <p:txBody>
          <a:bodyPr wrap="square" lIns="0" tIns="0" rIns="0" bIns="0" rtlCol="0" anchor="ctr"/>
          <a:lstStyle/>
          <a:p>
            <a:pPr marL="0" indent="0">
              <a:buNone/>
            </a:pPr>
            <a:r>
              <a:rPr lang="en-US" sz="1400" b="1" kern="0" spc="240">
                <a:solidFill>
                  <a:srgbClr val="7A3B69"/>
                </a:solidFill>
                <a:latin typeface="Cambria" pitchFamily="34" charset="0"/>
                <a:ea typeface="Cambria" pitchFamily="34" charset="-122"/>
                <a:cs typeface="Cambria" pitchFamily="34" charset="-120"/>
              </a:rPr>
              <a:t>CASO 3</a:t>
            </a:r>
            <a:endParaRPr lang="en-US" sz="1400"/>
          </a:p>
        </p:txBody>
      </p:sp>
      <p:sp>
        <p:nvSpPr>
          <p:cNvPr id="5" name="Text 3"/>
          <p:cNvSpPr/>
          <p:nvPr/>
        </p:nvSpPr>
        <p:spPr>
          <a:xfrm>
            <a:off x="2468880" y="2103120"/>
            <a:ext cx="8778240" cy="868680"/>
          </a:xfrm>
          <a:prstGeom prst="rect">
            <a:avLst/>
          </a:prstGeom>
          <a:noFill/>
          <a:ln/>
        </p:spPr>
        <p:txBody>
          <a:bodyPr wrap="square" lIns="0" tIns="0" rIns="0" bIns="0" rtlCol="0" anchor="ctr"/>
          <a:lstStyle/>
          <a:p>
            <a:pPr marL="0" indent="0">
              <a:buNone/>
            </a:pPr>
            <a:r>
              <a:rPr lang="en-US" sz="3400" b="1">
                <a:solidFill>
                  <a:srgbClr val="12212F"/>
                </a:solidFill>
                <a:latin typeface="Century Schoolbook" pitchFamily="34" charset="0"/>
                <a:ea typeface="Century Schoolbook" pitchFamily="34" charset="-122"/>
                <a:cs typeface="Century Schoolbook" pitchFamily="34" charset="-120"/>
              </a:rPr>
              <a:t>Exportación Temporal para Perfeccionamiento Pasivo</a:t>
            </a:r>
            <a:endParaRPr lang="en-US" sz="3400"/>
          </a:p>
        </p:txBody>
      </p:sp>
      <p:sp>
        <p:nvSpPr>
          <p:cNvPr id="6" name="Text 4"/>
          <p:cNvSpPr/>
          <p:nvPr/>
        </p:nvSpPr>
        <p:spPr>
          <a:xfrm>
            <a:off x="2468880" y="2926080"/>
            <a:ext cx="8595360" cy="457200"/>
          </a:xfrm>
          <a:prstGeom prst="rect">
            <a:avLst/>
          </a:prstGeom>
          <a:noFill/>
          <a:ln/>
        </p:spPr>
        <p:txBody>
          <a:bodyPr wrap="square" lIns="0" tIns="0" rIns="0" bIns="0" rtlCol="0" anchor="ctr"/>
          <a:lstStyle/>
          <a:p>
            <a:pPr marL="0" indent="0">
              <a:buNone/>
            </a:pPr>
            <a:r>
              <a:rPr lang="en-US" sz="1600">
                <a:solidFill>
                  <a:srgbClr val="44586A"/>
                </a:solidFill>
                <a:latin typeface="Cambria" pitchFamily="34" charset="0"/>
                <a:ea typeface="Cambria" pitchFamily="34" charset="-122"/>
                <a:cs typeface="Cambria" pitchFamily="34" charset="-120"/>
              </a:rPr>
              <a:t>Tributar solo sobre el valor agregado obtenido en el extranjero</a:t>
            </a:r>
            <a:endParaRPr lang="en-US" sz="1600"/>
          </a:p>
        </p:txBody>
      </p:sp>
      <p:sp>
        <p:nvSpPr>
          <p:cNvPr id="7" name="Shape 5"/>
          <p:cNvSpPr/>
          <p:nvPr/>
        </p:nvSpPr>
        <p:spPr>
          <a:xfrm>
            <a:off x="548640" y="3977640"/>
            <a:ext cx="11094415" cy="1051560"/>
          </a:xfrm>
          <a:prstGeom prst="roundRect">
            <a:avLst>
              <a:gd name="adj" fmla="val 5217"/>
            </a:avLst>
          </a:prstGeom>
          <a:solidFill>
            <a:srgbClr val="FFFFFF"/>
          </a:solidFill>
          <a:ln w="12700">
            <a:solidFill>
              <a:srgbClr val="C9D8E2"/>
            </a:solidFill>
            <a:prstDash val="solid"/>
          </a:ln>
        </p:spPr>
        <p:txBody>
          <a:bodyPr/>
          <a:lstStyle/>
          <a:p>
            <a:endParaRPr lang="es-PE"/>
          </a:p>
        </p:txBody>
      </p:sp>
      <p:sp>
        <p:nvSpPr>
          <p:cNvPr id="8" name="Text 6"/>
          <p:cNvSpPr/>
          <p:nvPr/>
        </p:nvSpPr>
        <p:spPr>
          <a:xfrm>
            <a:off x="868680" y="4160520"/>
            <a:ext cx="3657600" cy="237744"/>
          </a:xfrm>
          <a:prstGeom prst="rect">
            <a:avLst/>
          </a:prstGeom>
          <a:noFill/>
          <a:ln/>
        </p:spPr>
        <p:txBody>
          <a:bodyPr wrap="square" lIns="0" tIns="0" rIns="0" bIns="0" rtlCol="0" anchor="ctr"/>
          <a:lstStyle/>
          <a:p>
            <a:pPr marL="0" indent="0">
              <a:buNone/>
            </a:pPr>
            <a:r>
              <a:rPr lang="en-US" sz="950" b="1" kern="0" spc="120">
                <a:solidFill>
                  <a:srgbClr val="44586A"/>
                </a:solidFill>
                <a:latin typeface="Cambria" pitchFamily="34" charset="0"/>
                <a:ea typeface="Cambria" pitchFamily="34" charset="-122"/>
                <a:cs typeface="Cambria" pitchFamily="34" charset="-120"/>
              </a:rPr>
              <a:t>EMPRESA DEL CASO</a:t>
            </a:r>
            <a:endParaRPr lang="en-US" sz="950"/>
          </a:p>
        </p:txBody>
      </p:sp>
      <p:sp>
        <p:nvSpPr>
          <p:cNvPr id="9" name="Text 7"/>
          <p:cNvSpPr/>
          <p:nvPr/>
        </p:nvSpPr>
        <p:spPr>
          <a:xfrm>
            <a:off x="868680" y="4407408"/>
            <a:ext cx="10424160" cy="411480"/>
          </a:xfrm>
          <a:prstGeom prst="rect">
            <a:avLst/>
          </a:prstGeom>
          <a:noFill/>
          <a:ln/>
        </p:spPr>
        <p:txBody>
          <a:bodyPr wrap="square" lIns="0" tIns="0" rIns="0" bIns="0" rtlCol="0" anchor="ctr"/>
          <a:lstStyle/>
          <a:p>
            <a:pPr marL="0" indent="0">
              <a:buNone/>
            </a:pPr>
            <a:r>
              <a:rPr lang="en-US" sz="1800" b="1">
                <a:solidFill>
                  <a:srgbClr val="7A3B69"/>
                </a:solidFill>
                <a:latin typeface="Century Schoolbook" pitchFamily="34" charset="0"/>
                <a:ea typeface="Century Schoolbook" pitchFamily="34" charset="-122"/>
                <a:cs typeface="Century Schoolbook" pitchFamily="34" charset="-120"/>
              </a:rPr>
              <a:t>Joyas del Inca S.A.C.  ·  RUC 20604478291</a:t>
            </a:r>
            <a:endParaRPr lang="en-US" sz="1800"/>
          </a:p>
        </p:txBody>
      </p:sp>
      <p:sp>
        <p:nvSpPr>
          <p:cNvPr id="10" name="Text 8"/>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Tarea 4 · Regímenes Aduaneros Especiales</a:t>
            </a:r>
            <a:endParaRPr lang="en-US" sz="950"/>
          </a:p>
        </p:txBody>
      </p:sp>
      <p:sp>
        <p:nvSpPr>
          <p:cNvPr id="11" name="Text 9"/>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NICOLÁS CASTRO</a:t>
            </a:r>
            <a:endParaRPr lang="en-US" sz="850"/>
          </a:p>
        </p:txBody>
      </p:sp>
      <p:sp>
        <p:nvSpPr>
          <p:cNvPr id="12" name="Text 10"/>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21</a:t>
            </a:r>
            <a:endParaRPr lang="en-US" sz="95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7A3B69"/>
                </a:solidFill>
                <a:latin typeface="Cambria" pitchFamily="34" charset="0"/>
                <a:ea typeface="Cambria" pitchFamily="34" charset="-122"/>
                <a:cs typeface="Cambria" pitchFamily="34" charset="-120"/>
              </a:rPr>
              <a:t>CASO 3</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Perfeccionamiento, activo y pasivo</a:t>
            </a:r>
            <a:endParaRPr lang="en-US" sz="3000"/>
          </a:p>
        </p:txBody>
      </p:sp>
      <p:sp>
        <p:nvSpPr>
          <p:cNvPr id="4" name="Shape 2"/>
          <p:cNvSpPr/>
          <p:nvPr/>
        </p:nvSpPr>
        <p:spPr>
          <a:xfrm>
            <a:off x="548640" y="1508760"/>
            <a:ext cx="11094415" cy="1051560"/>
          </a:xfrm>
          <a:prstGeom prst="roundRect">
            <a:avLst>
              <a:gd name="adj" fmla="val 5217"/>
            </a:avLst>
          </a:prstGeom>
          <a:solidFill>
            <a:srgbClr val="E4EDF3"/>
          </a:solidFill>
          <a:ln w="12700">
            <a:solidFill>
              <a:srgbClr val="C9D8E2"/>
            </a:solidFill>
            <a:prstDash val="solid"/>
          </a:ln>
        </p:spPr>
        <p:txBody>
          <a:bodyPr/>
          <a:lstStyle/>
          <a:p>
            <a:endParaRPr lang="es-PE"/>
          </a:p>
        </p:txBody>
      </p:sp>
      <p:sp>
        <p:nvSpPr>
          <p:cNvPr id="5" name="Text 3"/>
          <p:cNvSpPr/>
          <p:nvPr/>
        </p:nvSpPr>
        <p:spPr>
          <a:xfrm>
            <a:off x="914400" y="1700784"/>
            <a:ext cx="10362895" cy="713232"/>
          </a:xfrm>
          <a:prstGeom prst="rect">
            <a:avLst/>
          </a:prstGeom>
          <a:noFill/>
          <a:ln/>
        </p:spPr>
        <p:txBody>
          <a:bodyPr wrap="square" lIns="0" tIns="0" rIns="0" bIns="0" rtlCol="0" anchor="ctr"/>
          <a:lstStyle/>
          <a:p>
            <a:pPr marL="0" indent="0">
              <a:lnSpc>
                <a:spcPts val="1800"/>
              </a:lnSpc>
              <a:buNone/>
            </a:pPr>
            <a:r>
              <a:rPr lang="en-US" sz="1400">
                <a:solidFill>
                  <a:srgbClr val="12212F"/>
                </a:solidFill>
                <a:latin typeface="Cambria" pitchFamily="34" charset="0"/>
                <a:ea typeface="Cambria" pitchFamily="34" charset="-122"/>
                <a:cs typeface="Cambria" pitchFamily="34" charset="-120"/>
              </a:rPr>
              <a:t>Perfeccionar es otorgar valor agregado a una materia prima o insumo mediante un proceso de manufactura o transformación. La reparación no constituye perfeccionamiento, aunque pueda tener fines comerciales.</a:t>
            </a:r>
            <a:endParaRPr lang="en-US" sz="1400"/>
          </a:p>
        </p:txBody>
      </p:sp>
      <p:sp>
        <p:nvSpPr>
          <p:cNvPr id="6" name="Shape 4"/>
          <p:cNvSpPr/>
          <p:nvPr/>
        </p:nvSpPr>
        <p:spPr>
          <a:xfrm>
            <a:off x="548640" y="2743200"/>
            <a:ext cx="5440680" cy="1691640"/>
          </a:xfrm>
          <a:prstGeom prst="roundRect">
            <a:avLst>
              <a:gd name="adj" fmla="val 3243"/>
            </a:avLst>
          </a:prstGeom>
          <a:solidFill>
            <a:srgbClr val="F1F6F9"/>
          </a:solidFill>
          <a:ln w="12700">
            <a:solidFill>
              <a:srgbClr val="C9D8E2"/>
            </a:solidFill>
            <a:prstDash val="solid"/>
          </a:ln>
        </p:spPr>
        <p:txBody>
          <a:bodyPr/>
          <a:lstStyle/>
          <a:p>
            <a:endParaRPr lang="es-PE"/>
          </a:p>
        </p:txBody>
      </p:sp>
      <p:sp>
        <p:nvSpPr>
          <p:cNvPr id="7" name="Text 5"/>
          <p:cNvSpPr/>
          <p:nvPr/>
        </p:nvSpPr>
        <p:spPr>
          <a:xfrm>
            <a:off x="822960" y="2926080"/>
            <a:ext cx="4892040" cy="274320"/>
          </a:xfrm>
          <a:prstGeom prst="rect">
            <a:avLst/>
          </a:prstGeom>
          <a:noFill/>
          <a:ln/>
        </p:spPr>
        <p:txBody>
          <a:bodyPr wrap="square" lIns="0" tIns="0" rIns="0" bIns="0" rtlCol="0" anchor="ctr"/>
          <a:lstStyle/>
          <a:p>
            <a:pPr marL="0" indent="0">
              <a:buNone/>
            </a:pPr>
            <a:r>
              <a:rPr lang="en-US" sz="1300" b="1">
                <a:solidFill>
                  <a:srgbClr val="0B3C5D"/>
                </a:solidFill>
                <a:latin typeface="Century Schoolbook" pitchFamily="34" charset="0"/>
                <a:ea typeface="Century Schoolbook" pitchFamily="34" charset="-122"/>
                <a:cs typeface="Century Schoolbook" pitchFamily="34" charset="-120"/>
              </a:rPr>
              <a:t>PERFECCIONAMIENTO ACTIVO</a:t>
            </a:r>
            <a:endParaRPr lang="en-US" sz="1300"/>
          </a:p>
        </p:txBody>
      </p:sp>
      <p:sp>
        <p:nvSpPr>
          <p:cNvPr id="8" name="Text 6"/>
          <p:cNvSpPr/>
          <p:nvPr/>
        </p:nvSpPr>
        <p:spPr>
          <a:xfrm>
            <a:off x="822960" y="3236976"/>
            <a:ext cx="4937760" cy="1051560"/>
          </a:xfrm>
          <a:prstGeom prst="rect">
            <a:avLst/>
          </a:prstGeom>
          <a:noFill/>
          <a:ln/>
        </p:spPr>
        <p:txBody>
          <a:bodyPr wrap="square" lIns="0" tIns="0" rIns="0" bIns="0" rtlCol="0" anchor="ctr"/>
          <a:lstStyle/>
          <a:p>
            <a:pPr marL="0" indent="0">
              <a:lnSpc>
                <a:spcPts val="1500"/>
              </a:lnSpc>
              <a:buNone/>
            </a:pPr>
            <a:r>
              <a:rPr lang="en-US" sz="1200">
                <a:solidFill>
                  <a:srgbClr val="12212F"/>
                </a:solidFill>
                <a:latin typeface="Cambria" pitchFamily="34" charset="0"/>
                <a:ea typeface="Cambria" pitchFamily="34" charset="-122"/>
                <a:cs typeface="Cambria" pitchFamily="34" charset="-120"/>
              </a:rPr>
              <a:t>El insumo extranjero entra al Perú, se transforma aquí y el producto final se exporta. Ejemplo: se importa tela de China, se confeccionan polos y camisas, y se exportan.</a:t>
            </a:r>
            <a:endParaRPr lang="en-US" sz="1200"/>
          </a:p>
        </p:txBody>
      </p:sp>
      <p:sp>
        <p:nvSpPr>
          <p:cNvPr id="9" name="Shape 7"/>
          <p:cNvSpPr/>
          <p:nvPr/>
        </p:nvSpPr>
        <p:spPr>
          <a:xfrm>
            <a:off x="6190488" y="2743200"/>
            <a:ext cx="5440680" cy="1691640"/>
          </a:xfrm>
          <a:prstGeom prst="roundRect">
            <a:avLst>
              <a:gd name="adj" fmla="val 3243"/>
            </a:avLst>
          </a:prstGeom>
          <a:solidFill>
            <a:srgbClr val="FFFFFF"/>
          </a:solidFill>
          <a:ln w="12700">
            <a:solidFill>
              <a:srgbClr val="7A3B69"/>
            </a:solidFill>
            <a:prstDash val="solid"/>
          </a:ln>
        </p:spPr>
        <p:txBody>
          <a:bodyPr/>
          <a:lstStyle/>
          <a:p>
            <a:endParaRPr lang="es-PE"/>
          </a:p>
        </p:txBody>
      </p:sp>
      <p:sp>
        <p:nvSpPr>
          <p:cNvPr id="10" name="Text 8"/>
          <p:cNvSpPr/>
          <p:nvPr/>
        </p:nvSpPr>
        <p:spPr>
          <a:xfrm>
            <a:off x="6464808" y="2926080"/>
            <a:ext cx="4892040" cy="274320"/>
          </a:xfrm>
          <a:prstGeom prst="rect">
            <a:avLst/>
          </a:prstGeom>
          <a:noFill/>
          <a:ln/>
        </p:spPr>
        <p:txBody>
          <a:bodyPr wrap="square" lIns="0" tIns="0" rIns="0" bIns="0" rtlCol="0" anchor="ctr"/>
          <a:lstStyle/>
          <a:p>
            <a:pPr marL="0" indent="0">
              <a:buNone/>
            </a:pPr>
            <a:r>
              <a:rPr lang="en-US" sz="1300" b="1">
                <a:solidFill>
                  <a:srgbClr val="7A3B69"/>
                </a:solidFill>
                <a:latin typeface="Century Schoolbook" pitchFamily="34" charset="0"/>
                <a:ea typeface="Century Schoolbook" pitchFamily="34" charset="-122"/>
                <a:cs typeface="Century Schoolbook" pitchFamily="34" charset="-120"/>
              </a:rPr>
              <a:t>PERFECCIONAMIENTO PASIVO</a:t>
            </a:r>
            <a:endParaRPr lang="en-US" sz="1300"/>
          </a:p>
        </p:txBody>
      </p:sp>
      <p:sp>
        <p:nvSpPr>
          <p:cNvPr id="11" name="Text 9"/>
          <p:cNvSpPr/>
          <p:nvPr/>
        </p:nvSpPr>
        <p:spPr>
          <a:xfrm>
            <a:off x="6464808" y="3236976"/>
            <a:ext cx="4937760" cy="1051560"/>
          </a:xfrm>
          <a:prstGeom prst="rect">
            <a:avLst/>
          </a:prstGeom>
          <a:noFill/>
          <a:ln/>
        </p:spPr>
        <p:txBody>
          <a:bodyPr wrap="square" lIns="0" tIns="0" rIns="0" bIns="0" rtlCol="0" anchor="ctr"/>
          <a:lstStyle/>
          <a:p>
            <a:pPr marL="0" indent="0">
              <a:lnSpc>
                <a:spcPts val="1500"/>
              </a:lnSpc>
              <a:buNone/>
            </a:pPr>
            <a:r>
              <a:rPr lang="en-US" sz="1200">
                <a:solidFill>
                  <a:srgbClr val="12212F"/>
                </a:solidFill>
                <a:latin typeface="Cambria" pitchFamily="34" charset="0"/>
                <a:ea typeface="Cambria" pitchFamily="34" charset="-122"/>
                <a:cs typeface="Cambria" pitchFamily="34" charset="-120"/>
              </a:rPr>
              <a:t>El insumo nacional sale del Perú, se transforma en el extranjero y retorna como producto terminado. Es el régimen de este caso: plata peruana transformada en joyería en Italia.</a:t>
            </a:r>
            <a:endParaRPr lang="en-US" sz="1200"/>
          </a:p>
        </p:txBody>
      </p:sp>
      <p:sp>
        <p:nvSpPr>
          <p:cNvPr id="12" name="Shape 10"/>
          <p:cNvSpPr/>
          <p:nvPr/>
        </p:nvSpPr>
        <p:spPr>
          <a:xfrm>
            <a:off x="548640" y="4617720"/>
            <a:ext cx="11094415" cy="1371600"/>
          </a:xfrm>
          <a:prstGeom prst="roundRect">
            <a:avLst>
              <a:gd name="adj" fmla="val 4000"/>
            </a:avLst>
          </a:prstGeom>
          <a:solidFill>
            <a:srgbClr val="F1F6F9"/>
          </a:solidFill>
          <a:ln w="12700">
            <a:solidFill>
              <a:srgbClr val="C9D8E2"/>
            </a:solidFill>
            <a:prstDash val="solid"/>
          </a:ln>
        </p:spPr>
        <p:txBody>
          <a:bodyPr/>
          <a:lstStyle/>
          <a:p>
            <a:endParaRPr lang="es-PE"/>
          </a:p>
        </p:txBody>
      </p:sp>
      <p:sp>
        <p:nvSpPr>
          <p:cNvPr id="13" name="Text 11"/>
          <p:cNvSpPr/>
          <p:nvPr/>
        </p:nvSpPr>
        <p:spPr>
          <a:xfrm>
            <a:off x="868680" y="4800600"/>
            <a:ext cx="5486400" cy="256032"/>
          </a:xfrm>
          <a:prstGeom prst="rect">
            <a:avLst/>
          </a:prstGeom>
          <a:noFill/>
          <a:ln/>
        </p:spPr>
        <p:txBody>
          <a:bodyPr wrap="square" lIns="0" tIns="0" rIns="0" bIns="0" rtlCol="0" anchor="ctr"/>
          <a:lstStyle/>
          <a:p>
            <a:pPr marL="0" indent="0">
              <a:buNone/>
            </a:pPr>
            <a:r>
              <a:rPr lang="en-US" sz="950" b="1" kern="0" spc="110">
                <a:solidFill>
                  <a:srgbClr val="44586A"/>
                </a:solidFill>
                <a:latin typeface="Cambria" pitchFamily="34" charset="0"/>
                <a:ea typeface="Cambria" pitchFamily="34" charset="-122"/>
                <a:cs typeface="Cambria" pitchFamily="34" charset="-120"/>
              </a:rPr>
              <a:t>PRODUCTO COMPENSADOR</a:t>
            </a:r>
            <a:endParaRPr lang="en-US" sz="950"/>
          </a:p>
        </p:txBody>
      </p:sp>
      <p:sp>
        <p:nvSpPr>
          <p:cNvPr id="14" name="Text 12"/>
          <p:cNvSpPr/>
          <p:nvPr/>
        </p:nvSpPr>
        <p:spPr>
          <a:xfrm>
            <a:off x="868680" y="5074920"/>
            <a:ext cx="10454335" cy="822960"/>
          </a:xfrm>
          <a:prstGeom prst="rect">
            <a:avLst/>
          </a:prstGeom>
          <a:noFill/>
          <a:ln/>
        </p:spPr>
        <p:txBody>
          <a:bodyPr wrap="square" lIns="0" tIns="0" rIns="0" bIns="0" rtlCol="0" anchor="ctr"/>
          <a:lstStyle/>
          <a:p>
            <a:pPr marL="0" indent="0">
              <a:lnSpc>
                <a:spcPts val="1600"/>
              </a:lnSpc>
              <a:buNone/>
            </a:pPr>
            <a:r>
              <a:rPr lang="en-US" sz="1250">
                <a:solidFill>
                  <a:srgbClr val="12212F"/>
                </a:solidFill>
                <a:latin typeface="Cambria" pitchFamily="34" charset="0"/>
                <a:ea typeface="Cambria" pitchFamily="34" charset="-122"/>
                <a:cs typeface="Cambria" pitchFamily="34" charset="-120"/>
              </a:rPr>
              <a:t>Es el nombre que recibe el resultado del proceso de perfeccionamiento. Se llama así precisamente porque no es el mismo bien que salió: cambia su denominación, cambian sus características y cambia su partida arancelaria. En este caso, la plata en bruto sale bajo la partida 7106.91.00.00 y retorna como joyería bajo la 7113.11.00.00.</a:t>
            </a:r>
            <a:endParaRPr lang="en-US" sz="1250"/>
          </a:p>
        </p:txBody>
      </p:sp>
      <p:sp>
        <p:nvSpPr>
          <p:cNvPr id="15" name="Text 13"/>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El cambio de partida arancelaria es la prueba objetiva de que hubo perfeccionamiento y no una simple reparación.</a:t>
            </a:r>
            <a:endParaRPr lang="en-US" sz="950"/>
          </a:p>
        </p:txBody>
      </p:sp>
      <p:sp>
        <p:nvSpPr>
          <p:cNvPr id="16" name="Text 14"/>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NICOLÁS CASTRO</a:t>
            </a:r>
            <a:endParaRPr lang="en-US" sz="850"/>
          </a:p>
        </p:txBody>
      </p:sp>
      <p:sp>
        <p:nvSpPr>
          <p:cNvPr id="17" name="Text 15"/>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22</a:t>
            </a:r>
            <a:endParaRPr lang="en-US" sz="95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7A3B69"/>
                </a:solidFill>
                <a:latin typeface="Cambria" pitchFamily="34" charset="0"/>
                <a:ea typeface="Cambria" pitchFamily="34" charset="-122"/>
                <a:cs typeface="Cambria" pitchFamily="34" charset="-120"/>
              </a:rPr>
              <a:t>CASO 3</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Planteamiento del caso</a:t>
            </a:r>
            <a:endParaRPr lang="en-US" sz="300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657600">
                  <a:extLst>
                    <a:ext uri="{9D8B030D-6E8A-4147-A177-3AD203B41FA5}">
                      <a16:colId xmlns:a16="http://schemas.microsoft.com/office/drawing/2014/main" val="20000"/>
                    </a:ext>
                  </a:extLst>
                </a:gridCol>
                <a:gridCol w="7436815">
                  <a:extLst>
                    <a:ext uri="{9D8B030D-6E8A-4147-A177-3AD203B41FA5}">
                      <a16:colId xmlns:a16="http://schemas.microsoft.com/office/drawing/2014/main" val="20001"/>
                    </a:ext>
                  </a:extLst>
                </a:gridCol>
              </a:tblGrid>
              <a:tr h="402336">
                <a:tc>
                  <a:txBody>
                    <a:bodyPr/>
                    <a:lstStyle/>
                    <a:p>
                      <a:pPr marL="0" indent="0" algn="l">
                        <a:buNone/>
                      </a:pPr>
                      <a:r>
                        <a:rPr lang="en-US" sz="1200" b="1">
                          <a:solidFill>
                            <a:srgbClr val="FFFFFF"/>
                          </a:solidFill>
                          <a:latin typeface="Century Schoolbook" pitchFamily="34" charset="0"/>
                          <a:ea typeface="Century Schoolbook" pitchFamily="34" charset="-122"/>
                          <a:cs typeface="Century Schoolbook" pitchFamily="34" charset="-120"/>
                        </a:rPr>
                        <a:t>Concepto</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tc>
                  <a:txBody>
                    <a:bodyPr/>
                    <a:lstStyle/>
                    <a:p>
                      <a:pPr marL="0" indent="0" algn="l">
                        <a:buNone/>
                      </a:pPr>
                      <a:r>
                        <a:rPr lang="en-US" sz="1200" b="1">
                          <a:solidFill>
                            <a:srgbClr val="FFFFFF"/>
                          </a:solidFill>
                          <a:latin typeface="Century Schoolbook" pitchFamily="34" charset="0"/>
                          <a:ea typeface="Century Schoolbook" pitchFamily="34" charset="-122"/>
                          <a:cs typeface="Century Schoolbook" pitchFamily="34" charset="-120"/>
                        </a:rPr>
                        <a:t>Detalle</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Empresa peruana</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b="1">
                          <a:solidFill>
                            <a:srgbClr val="12212F"/>
                          </a:solidFill>
                          <a:latin typeface="Cambria" pitchFamily="34" charset="0"/>
                          <a:ea typeface="Cambria" pitchFamily="34" charset="-122"/>
                          <a:cs typeface="Cambria" pitchFamily="34" charset="-120"/>
                        </a:rPr>
                        <a:t>Joyas del Inca S.A.C.  ·  RUC 20604478291</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Materia prima nacional exportada</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50 kg de plata en bruto, Ley 950, partida 7106.91.00.00</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extLst>
                  <a:ext uri="{0D108BD9-81ED-4DB2-BD59-A6C34878D82A}">
                    <a16:rowId xmlns:a16="http://schemas.microsoft.com/office/drawing/2014/main" val="10002"/>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Valor de la materia prima</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a:solidFill>
                            <a:srgbClr val="44586A"/>
                          </a:solidFill>
                          <a:latin typeface="Cambria" pitchFamily="34" charset="0"/>
                          <a:ea typeface="Cambria" pitchFamily="34" charset="-122"/>
                          <a:cs typeface="Cambria" pitchFamily="34" charset="-120"/>
                        </a:rPr>
                        <a:t>US$ 45,000.00   (no forma parte de la base imponible al retorno)</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Taller en el extranjero</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Argenteria Valenza S.r.l., Valenza, Italia</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extLst>
                  <a:ext uri="{0D108BD9-81ED-4DB2-BD59-A6C34878D82A}">
                    <a16:rowId xmlns:a16="http://schemas.microsoft.com/office/drawing/2014/main" val="10004"/>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Proceso de perfeccionamiento</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Fundición, diseño y engaste artesanal de la plata en piezas de joyería fina</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Producto compensador</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l">
                        <a:buNone/>
                      </a:pPr>
                      <a:r>
                        <a:rPr lang="en-US" sz="1250" b="1">
                          <a:solidFill>
                            <a:srgbClr val="12212F"/>
                          </a:solidFill>
                          <a:latin typeface="Cambria" pitchFamily="34" charset="0"/>
                          <a:ea typeface="Cambria" pitchFamily="34" charset="-122"/>
                          <a:cs typeface="Cambria" pitchFamily="34" charset="-120"/>
                        </a:rPr>
                        <a:t>8,000 piezas de joyería de plata, partida 7113.11.00.00</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extLst>
                  <a:ext uri="{0D108BD9-81ED-4DB2-BD59-A6C34878D82A}">
                    <a16:rowId xmlns:a16="http://schemas.microsoft.com/office/drawing/2014/main" val="10006"/>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Valor agregado facturado por el taller</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b="1">
                          <a:solidFill>
                            <a:srgbClr val="7A3B69"/>
                          </a:solidFill>
                          <a:latin typeface="Cambria" pitchFamily="34" charset="0"/>
                          <a:ea typeface="Cambria" pitchFamily="34" charset="-122"/>
                          <a:cs typeface="Cambria" pitchFamily="34" charset="-120"/>
                        </a:rPr>
                        <a:t>US$ 38,000.00</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Fletes y seguros</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Ida: US$ 600.00 + US$ 150.00   ·   Retorno: US$ 900.00 + US$ 220.00</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extLst>
                  <a:ext uri="{0D108BD9-81ED-4DB2-BD59-A6C34878D82A}">
                    <a16:rowId xmlns:a16="http://schemas.microsoft.com/office/drawing/2014/main" val="10008"/>
                  </a:ext>
                </a:extLst>
              </a:tr>
              <a:tr h="402336">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Salida / retorno</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b="1">
                          <a:solidFill>
                            <a:srgbClr val="12212F"/>
                          </a:solidFill>
                          <a:latin typeface="Cambria" pitchFamily="34" charset="0"/>
                          <a:ea typeface="Cambria" pitchFamily="34" charset="-122"/>
                          <a:cs typeface="Cambria" pitchFamily="34" charset="-120"/>
                        </a:rPr>
                        <a:t>05 de agosto de 2026  →  27 de agosto de 2026   (plazo: 12 meses)</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5" name="Shape 2"/>
          <p:cNvSpPr/>
          <p:nvPr/>
        </p:nvSpPr>
        <p:spPr>
          <a:xfrm>
            <a:off x="548640" y="4617720"/>
            <a:ext cx="11094415" cy="1371600"/>
          </a:xfrm>
          <a:prstGeom prst="roundRect">
            <a:avLst>
              <a:gd name="adj" fmla="val 4000"/>
            </a:avLst>
          </a:prstGeom>
          <a:solidFill>
            <a:srgbClr val="E4EDF3"/>
          </a:solidFill>
          <a:ln w="12700">
            <a:solidFill>
              <a:srgbClr val="C9D8E2"/>
            </a:solidFill>
            <a:prstDash val="solid"/>
          </a:ln>
        </p:spPr>
        <p:txBody>
          <a:bodyPr/>
          <a:lstStyle/>
          <a:p>
            <a:endParaRPr lang="es-PE"/>
          </a:p>
        </p:txBody>
      </p:sp>
      <p:sp>
        <p:nvSpPr>
          <p:cNvPr id="6" name="Text 3"/>
          <p:cNvSpPr/>
          <p:nvPr/>
        </p:nvSpPr>
        <p:spPr>
          <a:xfrm>
            <a:off x="868680" y="4800600"/>
            <a:ext cx="5486400" cy="256032"/>
          </a:xfrm>
          <a:prstGeom prst="rect">
            <a:avLst/>
          </a:prstGeom>
          <a:noFill/>
          <a:ln/>
        </p:spPr>
        <p:txBody>
          <a:bodyPr wrap="square" lIns="0" tIns="0" rIns="0" bIns="0" rtlCol="0" anchor="ctr"/>
          <a:lstStyle/>
          <a:p>
            <a:pPr marL="0" indent="0">
              <a:buNone/>
            </a:pPr>
            <a:r>
              <a:rPr lang="en-US" sz="950" b="1" kern="0" spc="110">
                <a:solidFill>
                  <a:srgbClr val="44586A"/>
                </a:solidFill>
                <a:latin typeface="Cambria" pitchFamily="34" charset="0"/>
                <a:ea typeface="Cambria" pitchFamily="34" charset="-122"/>
                <a:cs typeface="Cambria" pitchFamily="34" charset="-120"/>
              </a:rPr>
              <a:t>LA ESTRATEGIA</a:t>
            </a:r>
            <a:endParaRPr lang="en-US" sz="950"/>
          </a:p>
        </p:txBody>
      </p:sp>
      <p:sp>
        <p:nvSpPr>
          <p:cNvPr id="7" name="Text 4"/>
          <p:cNvSpPr/>
          <p:nvPr/>
        </p:nvSpPr>
        <p:spPr>
          <a:xfrm>
            <a:off x="868680" y="5074920"/>
            <a:ext cx="10454335" cy="777240"/>
          </a:xfrm>
          <a:prstGeom prst="rect">
            <a:avLst/>
          </a:prstGeom>
          <a:noFill/>
          <a:ln/>
        </p:spPr>
        <p:txBody>
          <a:bodyPr wrap="square" lIns="0" tIns="0" rIns="0" bIns="0" rtlCol="0" anchor="ctr"/>
          <a:lstStyle/>
          <a:p>
            <a:pPr marL="0" indent="0">
              <a:lnSpc>
                <a:spcPts val="1700"/>
              </a:lnSpc>
              <a:buNone/>
            </a:pPr>
            <a:r>
              <a:rPr lang="en-US" sz="1300">
                <a:solidFill>
                  <a:srgbClr val="12212F"/>
                </a:solidFill>
                <a:latin typeface="Cambria" pitchFamily="34" charset="0"/>
                <a:ea typeface="Cambria" pitchFamily="34" charset="-122"/>
                <a:cs typeface="Cambria" pitchFamily="34" charset="-120"/>
              </a:rPr>
              <a:t>La empresa combina su fortaleza local (acceso a plata peruana de calidad) con el oficio artesanal italiano en joyería, sin pagar tributos sobre el valor total de las piezas terminadas: solo sobre lo que Italia efectivamente agrega.</a:t>
            </a:r>
            <a:endParaRPr lang="en-US" sz="1300"/>
          </a:p>
        </p:txBody>
      </p:sp>
      <p:sp>
        <p:nvSpPr>
          <p:cNvPr id="8" name="Text 5"/>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La plata que sale es peruana: no tendría sentido tributar de nuevo por ella al regresar.</a:t>
            </a:r>
            <a:endParaRPr lang="en-US" sz="950"/>
          </a:p>
        </p:txBody>
      </p:sp>
      <p:sp>
        <p:nvSpPr>
          <p:cNvPr id="9" name="Text 6"/>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NICOLÁS CASTRO</a:t>
            </a:r>
            <a:endParaRPr lang="en-US" sz="850"/>
          </a:p>
        </p:txBody>
      </p:sp>
      <p:sp>
        <p:nvSpPr>
          <p:cNvPr id="10" name="Text 7"/>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23</a:t>
            </a:r>
            <a:endParaRPr lang="en-US" sz="95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7A3B69"/>
                </a:solidFill>
                <a:latin typeface="Cambria" pitchFamily="34" charset="0"/>
                <a:ea typeface="Cambria" pitchFamily="34" charset="-122"/>
                <a:cs typeface="Cambria" pitchFamily="34" charset="-120"/>
              </a:rPr>
              <a:t>CASO 3</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Línea de tiempo y documentación por etapa</a:t>
            </a:r>
            <a:endParaRPr lang="en-US" sz="3000"/>
          </a:p>
        </p:txBody>
      </p:sp>
      <p:sp>
        <p:nvSpPr>
          <p:cNvPr id="4" name="Shape 2"/>
          <p:cNvSpPr/>
          <p:nvPr/>
        </p:nvSpPr>
        <p:spPr>
          <a:xfrm>
            <a:off x="1584930" y="1741932"/>
            <a:ext cx="9021836" cy="27432"/>
          </a:xfrm>
          <a:prstGeom prst="rect">
            <a:avLst/>
          </a:prstGeom>
          <a:solidFill>
            <a:srgbClr val="C9D8E2"/>
          </a:solidFill>
          <a:ln w="12700">
            <a:solidFill>
              <a:srgbClr val="C9D8E2"/>
            </a:solidFill>
            <a:prstDash val="solid"/>
          </a:ln>
        </p:spPr>
        <p:txBody>
          <a:bodyPr/>
          <a:lstStyle/>
          <a:p>
            <a:endParaRPr lang="es-PE"/>
          </a:p>
        </p:txBody>
      </p:sp>
      <p:sp>
        <p:nvSpPr>
          <p:cNvPr id="5" name="Shape 3"/>
          <p:cNvSpPr/>
          <p:nvPr/>
        </p:nvSpPr>
        <p:spPr>
          <a:xfrm>
            <a:off x="1328898" y="1499616"/>
            <a:ext cx="512064" cy="512064"/>
          </a:xfrm>
          <a:prstGeom prst="ellipse">
            <a:avLst/>
          </a:prstGeom>
          <a:solidFill>
            <a:srgbClr val="7A3B69"/>
          </a:solidFill>
          <a:ln w="12700">
            <a:solidFill>
              <a:srgbClr val="7A3B69"/>
            </a:solidFill>
            <a:prstDash val="solid"/>
          </a:ln>
        </p:spPr>
        <p:txBody>
          <a:bodyPr/>
          <a:lstStyle/>
          <a:p>
            <a:endParaRPr lang="es-PE"/>
          </a:p>
        </p:txBody>
      </p:sp>
      <p:sp>
        <p:nvSpPr>
          <p:cNvPr id="6" name="Text 4"/>
          <p:cNvSpPr/>
          <p:nvPr/>
        </p:nvSpPr>
        <p:spPr>
          <a:xfrm>
            <a:off x="1328898" y="1499616"/>
            <a:ext cx="512064" cy="512064"/>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1</a:t>
            </a:r>
            <a:endParaRPr lang="en-US" sz="1400"/>
          </a:p>
        </p:txBody>
      </p:sp>
      <p:sp>
        <p:nvSpPr>
          <p:cNvPr id="7" name="Shape 5"/>
          <p:cNvSpPr/>
          <p:nvPr/>
        </p:nvSpPr>
        <p:spPr>
          <a:xfrm>
            <a:off x="548640" y="2139696"/>
            <a:ext cx="2072579" cy="3401568"/>
          </a:xfrm>
          <a:prstGeom prst="roundRect">
            <a:avLst>
              <a:gd name="adj" fmla="val 2647"/>
            </a:avLst>
          </a:prstGeom>
          <a:solidFill>
            <a:srgbClr val="F1F6F9"/>
          </a:solidFill>
          <a:ln w="12700">
            <a:solidFill>
              <a:srgbClr val="C9D8E2"/>
            </a:solidFill>
            <a:prstDash val="solid"/>
          </a:ln>
        </p:spPr>
        <p:txBody>
          <a:bodyPr/>
          <a:lstStyle/>
          <a:p>
            <a:endParaRPr lang="es-PE"/>
          </a:p>
        </p:txBody>
      </p:sp>
      <p:sp>
        <p:nvSpPr>
          <p:cNvPr id="8" name="Text 6"/>
          <p:cNvSpPr/>
          <p:nvPr/>
        </p:nvSpPr>
        <p:spPr>
          <a:xfrm>
            <a:off x="676656" y="2286000"/>
            <a:ext cx="1816547" cy="237744"/>
          </a:xfrm>
          <a:prstGeom prst="rect">
            <a:avLst/>
          </a:prstGeom>
          <a:noFill/>
          <a:ln/>
        </p:spPr>
        <p:txBody>
          <a:bodyPr wrap="square" lIns="0" tIns="0" rIns="0" bIns="0" rtlCol="0" anchor="ctr"/>
          <a:lstStyle/>
          <a:p>
            <a:pPr marL="0" indent="0" algn="ctr">
              <a:buNone/>
            </a:pPr>
            <a:r>
              <a:rPr lang="en-US" sz="1100" b="1">
                <a:solidFill>
                  <a:srgbClr val="7A3B69"/>
                </a:solidFill>
                <a:latin typeface="Cambria" pitchFamily="34" charset="0"/>
                <a:ea typeface="Cambria" pitchFamily="34" charset="-122"/>
                <a:cs typeface="Cambria" pitchFamily="34" charset="-120"/>
              </a:rPr>
              <a:t>04.08.2026</a:t>
            </a:r>
            <a:endParaRPr lang="en-US" sz="1100"/>
          </a:p>
        </p:txBody>
      </p:sp>
      <p:sp>
        <p:nvSpPr>
          <p:cNvPr id="9" name="Text 7"/>
          <p:cNvSpPr/>
          <p:nvPr/>
        </p:nvSpPr>
        <p:spPr>
          <a:xfrm>
            <a:off x="676656" y="2560320"/>
            <a:ext cx="1816547" cy="713232"/>
          </a:xfrm>
          <a:prstGeom prst="rect">
            <a:avLst/>
          </a:prstGeom>
          <a:noFill/>
          <a:ln/>
        </p:spPr>
        <p:txBody>
          <a:bodyPr wrap="square" lIns="0" tIns="0" rIns="0" bIns="0" rtlCol="0" anchor="t"/>
          <a:lstStyle/>
          <a:p>
            <a:pPr marL="0" indent="0" algn="ctr">
              <a:lnSpc>
                <a:spcPts val="1500"/>
              </a:lnSpc>
              <a:buNone/>
            </a:pPr>
            <a:r>
              <a:rPr lang="en-US" sz="1250" b="1">
                <a:solidFill>
                  <a:srgbClr val="12212F"/>
                </a:solidFill>
                <a:latin typeface="Century Schoolbook" pitchFamily="34" charset="0"/>
                <a:ea typeface="Century Schoolbook" pitchFamily="34" charset="-122"/>
                <a:cs typeface="Century Schoolbook" pitchFamily="34" charset="-120"/>
              </a:rPr>
              <a:t>Preparación de la salida</a:t>
            </a:r>
            <a:endParaRPr lang="en-US" sz="1250"/>
          </a:p>
        </p:txBody>
      </p:sp>
      <p:sp>
        <p:nvSpPr>
          <p:cNvPr id="10" name="Text 8"/>
          <p:cNvSpPr/>
          <p:nvPr/>
        </p:nvSpPr>
        <p:spPr>
          <a:xfrm>
            <a:off x="676656" y="3328416"/>
            <a:ext cx="1816547" cy="804672"/>
          </a:xfrm>
          <a:prstGeom prst="rect">
            <a:avLst/>
          </a:prstGeom>
          <a:noFill/>
          <a:ln/>
        </p:spPr>
        <p:txBody>
          <a:bodyPr wrap="square" lIns="0" tIns="0" rIns="0" bIns="0" rtlCol="0" anchor="t"/>
          <a:lstStyle/>
          <a:p>
            <a:pPr marL="0" indent="0" algn="l">
              <a:lnSpc>
                <a:spcPts val="1300"/>
              </a:lnSpc>
              <a:buNone/>
            </a:pPr>
            <a:r>
              <a:rPr lang="en-US" sz="1050">
                <a:solidFill>
                  <a:srgbClr val="12212F"/>
                </a:solidFill>
                <a:latin typeface="Cambria" pitchFamily="34" charset="0"/>
                <a:ea typeface="Cambria" pitchFamily="34" charset="-122"/>
                <a:cs typeface="Cambria" pitchFamily="34" charset="-120"/>
              </a:rPr>
              <a:t>Se documenta el valor de los 50 kg de plata en bruto que saldrán del país.</a:t>
            </a:r>
            <a:endParaRPr lang="en-US" sz="1050"/>
          </a:p>
        </p:txBody>
      </p:sp>
      <p:sp>
        <p:nvSpPr>
          <p:cNvPr id="11" name="Text 9"/>
          <p:cNvSpPr/>
          <p:nvPr/>
        </p:nvSpPr>
        <p:spPr>
          <a:xfrm>
            <a:off x="676656" y="4187952"/>
            <a:ext cx="1816547" cy="201168"/>
          </a:xfrm>
          <a:prstGeom prst="rect">
            <a:avLst/>
          </a:prstGeom>
          <a:noFill/>
          <a:ln/>
        </p:spPr>
        <p:txBody>
          <a:bodyPr wrap="square" lIns="0" tIns="0" rIns="0" bIns="0" rtlCol="0" anchor="ctr"/>
          <a:lstStyle/>
          <a:p>
            <a:pPr marL="0" indent="0">
              <a:buNone/>
            </a:pPr>
            <a:r>
              <a:rPr lang="en-US" sz="850" b="1" kern="0" spc="100">
                <a:solidFill>
                  <a:srgbClr val="44586A"/>
                </a:solidFill>
                <a:latin typeface="Cambria" pitchFamily="34" charset="0"/>
                <a:ea typeface="Cambria" pitchFamily="34" charset="-122"/>
                <a:cs typeface="Cambria" pitchFamily="34" charset="-120"/>
              </a:rPr>
              <a:t>DOCUMENTOS</a:t>
            </a:r>
            <a:endParaRPr lang="en-US" sz="850"/>
          </a:p>
        </p:txBody>
      </p:sp>
      <p:sp>
        <p:nvSpPr>
          <p:cNvPr id="12" name="Text 10"/>
          <p:cNvSpPr/>
          <p:nvPr/>
        </p:nvSpPr>
        <p:spPr>
          <a:xfrm>
            <a:off x="676656" y="4425696"/>
            <a:ext cx="1816547" cy="1371600"/>
          </a:xfrm>
          <a:prstGeom prst="rect">
            <a:avLst/>
          </a:prstGeom>
          <a:noFill/>
          <a:ln/>
        </p:spPr>
        <p:txBody>
          <a:bodyPr wrap="square" lIns="0" tIns="0" rIns="0" bIns="0" rtlCol="0" anchor="t"/>
          <a:lstStyle/>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Factura de exportación temporal</a:t>
            </a:r>
            <a:endParaRPr lang="en-US" sz="1000"/>
          </a:p>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Packing List</a:t>
            </a:r>
            <a:endParaRPr lang="en-US" sz="1000"/>
          </a:p>
        </p:txBody>
      </p:sp>
      <p:sp>
        <p:nvSpPr>
          <p:cNvPr id="13" name="Shape 11"/>
          <p:cNvSpPr/>
          <p:nvPr/>
        </p:nvSpPr>
        <p:spPr>
          <a:xfrm>
            <a:off x="3584357" y="1499616"/>
            <a:ext cx="512064" cy="512064"/>
          </a:xfrm>
          <a:prstGeom prst="ellipse">
            <a:avLst/>
          </a:prstGeom>
          <a:solidFill>
            <a:srgbClr val="7A3B69"/>
          </a:solidFill>
          <a:ln w="12700">
            <a:solidFill>
              <a:srgbClr val="7A3B69"/>
            </a:solidFill>
            <a:prstDash val="solid"/>
          </a:ln>
        </p:spPr>
        <p:txBody>
          <a:bodyPr/>
          <a:lstStyle/>
          <a:p>
            <a:endParaRPr lang="es-PE"/>
          </a:p>
        </p:txBody>
      </p:sp>
      <p:sp>
        <p:nvSpPr>
          <p:cNvPr id="14" name="Text 12"/>
          <p:cNvSpPr/>
          <p:nvPr/>
        </p:nvSpPr>
        <p:spPr>
          <a:xfrm>
            <a:off x="3584357" y="1499616"/>
            <a:ext cx="512064" cy="512064"/>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2</a:t>
            </a:r>
            <a:endParaRPr lang="en-US" sz="1400"/>
          </a:p>
        </p:txBody>
      </p:sp>
      <p:sp>
        <p:nvSpPr>
          <p:cNvPr id="15" name="Shape 13"/>
          <p:cNvSpPr/>
          <p:nvPr/>
        </p:nvSpPr>
        <p:spPr>
          <a:xfrm>
            <a:off x="2804099" y="2139696"/>
            <a:ext cx="2072579" cy="3401568"/>
          </a:xfrm>
          <a:prstGeom prst="roundRect">
            <a:avLst>
              <a:gd name="adj" fmla="val 2647"/>
            </a:avLst>
          </a:prstGeom>
          <a:solidFill>
            <a:srgbClr val="FFFFFF"/>
          </a:solidFill>
          <a:ln w="12700">
            <a:solidFill>
              <a:srgbClr val="C9D8E2"/>
            </a:solidFill>
            <a:prstDash val="solid"/>
          </a:ln>
        </p:spPr>
        <p:txBody>
          <a:bodyPr/>
          <a:lstStyle/>
          <a:p>
            <a:endParaRPr lang="es-PE"/>
          </a:p>
        </p:txBody>
      </p:sp>
      <p:sp>
        <p:nvSpPr>
          <p:cNvPr id="16" name="Text 14"/>
          <p:cNvSpPr/>
          <p:nvPr/>
        </p:nvSpPr>
        <p:spPr>
          <a:xfrm>
            <a:off x="2932115" y="2286000"/>
            <a:ext cx="1816547" cy="237744"/>
          </a:xfrm>
          <a:prstGeom prst="rect">
            <a:avLst/>
          </a:prstGeom>
          <a:noFill/>
          <a:ln/>
        </p:spPr>
        <p:txBody>
          <a:bodyPr wrap="square" lIns="0" tIns="0" rIns="0" bIns="0" rtlCol="0" anchor="ctr"/>
          <a:lstStyle/>
          <a:p>
            <a:pPr marL="0" indent="0" algn="ctr">
              <a:buNone/>
            </a:pPr>
            <a:r>
              <a:rPr lang="en-US" sz="1100" b="1">
                <a:solidFill>
                  <a:srgbClr val="7A3B69"/>
                </a:solidFill>
                <a:latin typeface="Cambria" pitchFamily="34" charset="0"/>
                <a:ea typeface="Cambria" pitchFamily="34" charset="-122"/>
                <a:cs typeface="Cambria" pitchFamily="34" charset="-120"/>
              </a:rPr>
              <a:t>05.08.2026</a:t>
            </a:r>
            <a:endParaRPr lang="en-US" sz="1100"/>
          </a:p>
        </p:txBody>
      </p:sp>
      <p:sp>
        <p:nvSpPr>
          <p:cNvPr id="17" name="Text 15"/>
          <p:cNvSpPr/>
          <p:nvPr/>
        </p:nvSpPr>
        <p:spPr>
          <a:xfrm>
            <a:off x="2932115" y="2560320"/>
            <a:ext cx="1816547" cy="713232"/>
          </a:xfrm>
          <a:prstGeom prst="rect">
            <a:avLst/>
          </a:prstGeom>
          <a:noFill/>
          <a:ln/>
        </p:spPr>
        <p:txBody>
          <a:bodyPr wrap="square" lIns="0" tIns="0" rIns="0" bIns="0" rtlCol="0" anchor="t"/>
          <a:lstStyle/>
          <a:p>
            <a:pPr marL="0" indent="0" algn="ctr">
              <a:lnSpc>
                <a:spcPts val="1500"/>
              </a:lnSpc>
              <a:buNone/>
            </a:pPr>
            <a:r>
              <a:rPr lang="en-US" sz="1250" b="1">
                <a:solidFill>
                  <a:srgbClr val="12212F"/>
                </a:solidFill>
                <a:latin typeface="Century Schoolbook" pitchFamily="34" charset="0"/>
                <a:ea typeface="Century Schoolbook" pitchFamily="34" charset="-122"/>
                <a:cs typeface="Century Schoolbook" pitchFamily="34" charset="-120"/>
              </a:rPr>
              <a:t>Exportación Temporal</a:t>
            </a:r>
            <a:endParaRPr lang="en-US" sz="1250"/>
          </a:p>
        </p:txBody>
      </p:sp>
      <p:sp>
        <p:nvSpPr>
          <p:cNvPr id="18" name="Text 16"/>
          <p:cNvSpPr/>
          <p:nvPr/>
        </p:nvSpPr>
        <p:spPr>
          <a:xfrm>
            <a:off x="2932115" y="3328416"/>
            <a:ext cx="1816547" cy="804672"/>
          </a:xfrm>
          <a:prstGeom prst="rect">
            <a:avLst/>
          </a:prstGeom>
          <a:noFill/>
          <a:ln/>
        </p:spPr>
        <p:txBody>
          <a:bodyPr wrap="square" lIns="0" tIns="0" rIns="0" bIns="0" rtlCol="0" anchor="t"/>
          <a:lstStyle/>
          <a:p>
            <a:pPr marL="0" indent="0" algn="l">
              <a:lnSpc>
                <a:spcPts val="1300"/>
              </a:lnSpc>
              <a:buNone/>
            </a:pPr>
            <a:r>
              <a:rPr lang="en-US" sz="1050">
                <a:solidFill>
                  <a:srgbClr val="12212F"/>
                </a:solidFill>
                <a:latin typeface="Cambria" pitchFamily="34" charset="0"/>
                <a:ea typeface="Cambria" pitchFamily="34" charset="-122"/>
                <a:cs typeface="Cambria" pitchFamily="34" charset="-120"/>
              </a:rPr>
              <a:t>Sale la materia prima nacional. Se abre el expediente y arranca el plazo de 12 meses.</a:t>
            </a:r>
            <a:endParaRPr lang="en-US" sz="1050"/>
          </a:p>
        </p:txBody>
      </p:sp>
      <p:sp>
        <p:nvSpPr>
          <p:cNvPr id="19" name="Text 17"/>
          <p:cNvSpPr/>
          <p:nvPr/>
        </p:nvSpPr>
        <p:spPr>
          <a:xfrm>
            <a:off x="2932115" y="4187952"/>
            <a:ext cx="1816547" cy="201168"/>
          </a:xfrm>
          <a:prstGeom prst="rect">
            <a:avLst/>
          </a:prstGeom>
          <a:noFill/>
          <a:ln/>
        </p:spPr>
        <p:txBody>
          <a:bodyPr wrap="square" lIns="0" tIns="0" rIns="0" bIns="0" rtlCol="0" anchor="ctr"/>
          <a:lstStyle/>
          <a:p>
            <a:pPr marL="0" indent="0">
              <a:buNone/>
            </a:pPr>
            <a:r>
              <a:rPr lang="en-US" sz="850" b="1" kern="0" spc="100">
                <a:solidFill>
                  <a:srgbClr val="44586A"/>
                </a:solidFill>
                <a:latin typeface="Cambria" pitchFamily="34" charset="0"/>
                <a:ea typeface="Cambria" pitchFamily="34" charset="-122"/>
                <a:cs typeface="Cambria" pitchFamily="34" charset="-120"/>
              </a:rPr>
              <a:t>DOCUMENTOS</a:t>
            </a:r>
            <a:endParaRPr lang="en-US" sz="850"/>
          </a:p>
        </p:txBody>
      </p:sp>
      <p:sp>
        <p:nvSpPr>
          <p:cNvPr id="20" name="Text 18"/>
          <p:cNvSpPr/>
          <p:nvPr/>
        </p:nvSpPr>
        <p:spPr>
          <a:xfrm>
            <a:off x="2932115" y="4425696"/>
            <a:ext cx="1816547" cy="1371600"/>
          </a:xfrm>
          <a:prstGeom prst="rect">
            <a:avLst/>
          </a:prstGeom>
          <a:noFill/>
          <a:ln/>
        </p:spPr>
        <p:txBody>
          <a:bodyPr wrap="square" lIns="0" tIns="0" rIns="0" bIns="0" rtlCol="0" anchor="t"/>
          <a:lstStyle/>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DAM de Exportación Temporal</a:t>
            </a:r>
            <a:endParaRPr lang="en-US" sz="1000"/>
          </a:p>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Guía aérea de ida</a:t>
            </a:r>
            <a:endParaRPr lang="en-US" sz="1000"/>
          </a:p>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Seguro del tramo de ida</a:t>
            </a:r>
            <a:endParaRPr lang="en-US" sz="1000"/>
          </a:p>
        </p:txBody>
      </p:sp>
      <p:sp>
        <p:nvSpPr>
          <p:cNvPr id="21" name="Shape 19"/>
          <p:cNvSpPr/>
          <p:nvPr/>
        </p:nvSpPr>
        <p:spPr>
          <a:xfrm>
            <a:off x="5839816" y="1499616"/>
            <a:ext cx="512064" cy="512064"/>
          </a:xfrm>
          <a:prstGeom prst="ellipse">
            <a:avLst/>
          </a:prstGeom>
          <a:solidFill>
            <a:srgbClr val="7A3B69"/>
          </a:solidFill>
          <a:ln w="12700">
            <a:solidFill>
              <a:srgbClr val="7A3B69"/>
            </a:solidFill>
            <a:prstDash val="solid"/>
          </a:ln>
        </p:spPr>
        <p:txBody>
          <a:bodyPr/>
          <a:lstStyle/>
          <a:p>
            <a:endParaRPr lang="es-PE"/>
          </a:p>
        </p:txBody>
      </p:sp>
      <p:sp>
        <p:nvSpPr>
          <p:cNvPr id="22" name="Text 20"/>
          <p:cNvSpPr/>
          <p:nvPr/>
        </p:nvSpPr>
        <p:spPr>
          <a:xfrm>
            <a:off x="5839816" y="1499616"/>
            <a:ext cx="512064" cy="512064"/>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3</a:t>
            </a:r>
            <a:endParaRPr lang="en-US" sz="1400"/>
          </a:p>
        </p:txBody>
      </p:sp>
      <p:sp>
        <p:nvSpPr>
          <p:cNvPr id="23" name="Shape 21"/>
          <p:cNvSpPr/>
          <p:nvPr/>
        </p:nvSpPr>
        <p:spPr>
          <a:xfrm>
            <a:off x="5059558" y="2139696"/>
            <a:ext cx="2072579" cy="3401568"/>
          </a:xfrm>
          <a:prstGeom prst="roundRect">
            <a:avLst>
              <a:gd name="adj" fmla="val 2647"/>
            </a:avLst>
          </a:prstGeom>
          <a:solidFill>
            <a:srgbClr val="F1F6F9"/>
          </a:solidFill>
          <a:ln w="12700">
            <a:solidFill>
              <a:srgbClr val="C9D8E2"/>
            </a:solidFill>
            <a:prstDash val="solid"/>
          </a:ln>
        </p:spPr>
        <p:txBody>
          <a:bodyPr/>
          <a:lstStyle/>
          <a:p>
            <a:endParaRPr lang="es-PE"/>
          </a:p>
        </p:txBody>
      </p:sp>
      <p:sp>
        <p:nvSpPr>
          <p:cNvPr id="24" name="Text 22"/>
          <p:cNvSpPr/>
          <p:nvPr/>
        </p:nvSpPr>
        <p:spPr>
          <a:xfrm>
            <a:off x="5187574" y="2286000"/>
            <a:ext cx="1816547" cy="237744"/>
          </a:xfrm>
          <a:prstGeom prst="rect">
            <a:avLst/>
          </a:prstGeom>
          <a:noFill/>
          <a:ln/>
        </p:spPr>
        <p:txBody>
          <a:bodyPr wrap="square" lIns="0" tIns="0" rIns="0" bIns="0" rtlCol="0" anchor="ctr"/>
          <a:lstStyle/>
          <a:p>
            <a:pPr marL="0" indent="0" algn="ctr">
              <a:buNone/>
            </a:pPr>
            <a:r>
              <a:rPr lang="en-US" sz="1100" b="1">
                <a:solidFill>
                  <a:srgbClr val="7A3B69"/>
                </a:solidFill>
                <a:latin typeface="Cambria" pitchFamily="34" charset="0"/>
                <a:ea typeface="Cambria" pitchFamily="34" charset="-122"/>
                <a:cs typeface="Cambria" pitchFamily="34" charset="-120"/>
              </a:rPr>
              <a:t>agosto 2026</a:t>
            </a:r>
            <a:endParaRPr lang="en-US" sz="1100"/>
          </a:p>
        </p:txBody>
      </p:sp>
      <p:sp>
        <p:nvSpPr>
          <p:cNvPr id="25" name="Text 23"/>
          <p:cNvSpPr/>
          <p:nvPr/>
        </p:nvSpPr>
        <p:spPr>
          <a:xfrm>
            <a:off x="5187574" y="2560320"/>
            <a:ext cx="1816547" cy="713232"/>
          </a:xfrm>
          <a:prstGeom prst="rect">
            <a:avLst/>
          </a:prstGeom>
          <a:noFill/>
          <a:ln/>
        </p:spPr>
        <p:txBody>
          <a:bodyPr wrap="square" lIns="0" tIns="0" rIns="0" bIns="0" rtlCol="0" anchor="t"/>
          <a:lstStyle/>
          <a:p>
            <a:pPr marL="0" indent="0" algn="ctr">
              <a:lnSpc>
                <a:spcPts val="1500"/>
              </a:lnSpc>
              <a:buNone/>
            </a:pPr>
            <a:r>
              <a:rPr lang="en-US" sz="1250" b="1">
                <a:solidFill>
                  <a:srgbClr val="12212F"/>
                </a:solidFill>
                <a:latin typeface="Century Schoolbook" pitchFamily="34" charset="0"/>
                <a:ea typeface="Century Schoolbook" pitchFamily="34" charset="-122"/>
                <a:cs typeface="Century Schoolbook" pitchFamily="34" charset="-120"/>
              </a:rPr>
              <a:t>Perfeccionamiento en Italia</a:t>
            </a:r>
            <a:endParaRPr lang="en-US" sz="1250"/>
          </a:p>
        </p:txBody>
      </p:sp>
      <p:sp>
        <p:nvSpPr>
          <p:cNvPr id="26" name="Text 24"/>
          <p:cNvSpPr/>
          <p:nvPr/>
        </p:nvSpPr>
        <p:spPr>
          <a:xfrm>
            <a:off x="5187574" y="3328416"/>
            <a:ext cx="1816547" cy="804672"/>
          </a:xfrm>
          <a:prstGeom prst="rect">
            <a:avLst/>
          </a:prstGeom>
          <a:noFill/>
          <a:ln/>
        </p:spPr>
        <p:txBody>
          <a:bodyPr wrap="square" lIns="0" tIns="0" rIns="0" bIns="0" rtlCol="0" anchor="t"/>
          <a:lstStyle/>
          <a:p>
            <a:pPr marL="0" indent="0" algn="l">
              <a:lnSpc>
                <a:spcPts val="1300"/>
              </a:lnSpc>
              <a:buNone/>
            </a:pPr>
            <a:r>
              <a:rPr lang="en-US" sz="1050">
                <a:solidFill>
                  <a:srgbClr val="12212F"/>
                </a:solidFill>
                <a:latin typeface="Cambria" pitchFamily="34" charset="0"/>
                <a:ea typeface="Cambria" pitchFamily="34" charset="-122"/>
                <a:cs typeface="Cambria" pitchFamily="34" charset="-120"/>
              </a:rPr>
              <a:t>El taller funde, diseña y engasta la plata en 8,000 piezas de joyería.</a:t>
            </a:r>
            <a:endParaRPr lang="en-US" sz="1050"/>
          </a:p>
        </p:txBody>
      </p:sp>
      <p:sp>
        <p:nvSpPr>
          <p:cNvPr id="27" name="Text 25"/>
          <p:cNvSpPr/>
          <p:nvPr/>
        </p:nvSpPr>
        <p:spPr>
          <a:xfrm>
            <a:off x="5187574" y="4187952"/>
            <a:ext cx="1816547" cy="201168"/>
          </a:xfrm>
          <a:prstGeom prst="rect">
            <a:avLst/>
          </a:prstGeom>
          <a:noFill/>
          <a:ln/>
        </p:spPr>
        <p:txBody>
          <a:bodyPr wrap="square" lIns="0" tIns="0" rIns="0" bIns="0" rtlCol="0" anchor="ctr"/>
          <a:lstStyle/>
          <a:p>
            <a:pPr marL="0" indent="0">
              <a:buNone/>
            </a:pPr>
            <a:r>
              <a:rPr lang="en-US" sz="850" b="1" kern="0" spc="100">
                <a:solidFill>
                  <a:srgbClr val="44586A"/>
                </a:solidFill>
                <a:latin typeface="Cambria" pitchFamily="34" charset="0"/>
                <a:ea typeface="Cambria" pitchFamily="34" charset="-122"/>
                <a:cs typeface="Cambria" pitchFamily="34" charset="-120"/>
              </a:rPr>
              <a:t>DOCUMENTOS</a:t>
            </a:r>
            <a:endParaRPr lang="en-US" sz="850"/>
          </a:p>
        </p:txBody>
      </p:sp>
      <p:sp>
        <p:nvSpPr>
          <p:cNvPr id="28" name="Text 26"/>
          <p:cNvSpPr/>
          <p:nvPr/>
        </p:nvSpPr>
        <p:spPr>
          <a:xfrm>
            <a:off x="5187574" y="4425696"/>
            <a:ext cx="1816547" cy="1371600"/>
          </a:xfrm>
          <a:prstGeom prst="rect">
            <a:avLst/>
          </a:prstGeom>
          <a:noFill/>
          <a:ln/>
        </p:spPr>
        <p:txBody>
          <a:bodyPr wrap="square" lIns="0" tIns="0" rIns="0" bIns="0" rtlCol="0" anchor="t"/>
          <a:lstStyle/>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Factura del servicio de perfeccionamiento (prueba del valor agregado)</a:t>
            </a:r>
            <a:endParaRPr lang="en-US" sz="1000"/>
          </a:p>
        </p:txBody>
      </p:sp>
      <p:sp>
        <p:nvSpPr>
          <p:cNvPr id="29" name="Shape 27"/>
          <p:cNvSpPr/>
          <p:nvPr/>
        </p:nvSpPr>
        <p:spPr>
          <a:xfrm>
            <a:off x="8095275" y="1499616"/>
            <a:ext cx="512064" cy="512064"/>
          </a:xfrm>
          <a:prstGeom prst="ellipse">
            <a:avLst/>
          </a:prstGeom>
          <a:solidFill>
            <a:srgbClr val="7A3B69"/>
          </a:solidFill>
          <a:ln w="12700">
            <a:solidFill>
              <a:srgbClr val="7A3B69"/>
            </a:solidFill>
            <a:prstDash val="solid"/>
          </a:ln>
        </p:spPr>
        <p:txBody>
          <a:bodyPr/>
          <a:lstStyle/>
          <a:p>
            <a:endParaRPr lang="es-PE"/>
          </a:p>
        </p:txBody>
      </p:sp>
      <p:sp>
        <p:nvSpPr>
          <p:cNvPr id="30" name="Text 28"/>
          <p:cNvSpPr/>
          <p:nvPr/>
        </p:nvSpPr>
        <p:spPr>
          <a:xfrm>
            <a:off x="8095275" y="1499616"/>
            <a:ext cx="512064" cy="512064"/>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4</a:t>
            </a:r>
            <a:endParaRPr lang="en-US" sz="1400"/>
          </a:p>
        </p:txBody>
      </p:sp>
      <p:sp>
        <p:nvSpPr>
          <p:cNvPr id="31" name="Shape 29"/>
          <p:cNvSpPr/>
          <p:nvPr/>
        </p:nvSpPr>
        <p:spPr>
          <a:xfrm>
            <a:off x="7315017" y="2139696"/>
            <a:ext cx="2072579" cy="3401568"/>
          </a:xfrm>
          <a:prstGeom prst="roundRect">
            <a:avLst>
              <a:gd name="adj" fmla="val 2647"/>
            </a:avLst>
          </a:prstGeom>
          <a:solidFill>
            <a:srgbClr val="FFFFFF"/>
          </a:solidFill>
          <a:ln w="12700">
            <a:solidFill>
              <a:srgbClr val="C9D8E2"/>
            </a:solidFill>
            <a:prstDash val="solid"/>
          </a:ln>
        </p:spPr>
        <p:txBody>
          <a:bodyPr/>
          <a:lstStyle/>
          <a:p>
            <a:endParaRPr lang="es-PE"/>
          </a:p>
        </p:txBody>
      </p:sp>
      <p:sp>
        <p:nvSpPr>
          <p:cNvPr id="32" name="Text 30"/>
          <p:cNvSpPr/>
          <p:nvPr/>
        </p:nvSpPr>
        <p:spPr>
          <a:xfrm>
            <a:off x="7443033" y="2286000"/>
            <a:ext cx="1816547" cy="237744"/>
          </a:xfrm>
          <a:prstGeom prst="rect">
            <a:avLst/>
          </a:prstGeom>
          <a:noFill/>
          <a:ln/>
        </p:spPr>
        <p:txBody>
          <a:bodyPr wrap="square" lIns="0" tIns="0" rIns="0" bIns="0" rtlCol="0" anchor="ctr"/>
          <a:lstStyle/>
          <a:p>
            <a:pPr marL="0" indent="0" algn="ctr">
              <a:buNone/>
            </a:pPr>
            <a:r>
              <a:rPr lang="en-US" sz="1100" b="1">
                <a:solidFill>
                  <a:srgbClr val="7A3B69"/>
                </a:solidFill>
                <a:latin typeface="Cambria" pitchFamily="34" charset="0"/>
                <a:ea typeface="Cambria" pitchFamily="34" charset="-122"/>
                <a:cs typeface="Cambria" pitchFamily="34" charset="-120"/>
              </a:rPr>
              <a:t>24 → 25.08.2026</a:t>
            </a:r>
            <a:endParaRPr lang="en-US" sz="1100"/>
          </a:p>
        </p:txBody>
      </p:sp>
      <p:sp>
        <p:nvSpPr>
          <p:cNvPr id="33" name="Text 31"/>
          <p:cNvSpPr/>
          <p:nvPr/>
        </p:nvSpPr>
        <p:spPr>
          <a:xfrm>
            <a:off x="7443033" y="2560320"/>
            <a:ext cx="1816547" cy="713232"/>
          </a:xfrm>
          <a:prstGeom prst="rect">
            <a:avLst/>
          </a:prstGeom>
          <a:noFill/>
          <a:ln/>
        </p:spPr>
        <p:txBody>
          <a:bodyPr wrap="square" lIns="0" tIns="0" rIns="0" bIns="0" rtlCol="0" anchor="t"/>
          <a:lstStyle/>
          <a:p>
            <a:pPr marL="0" indent="0" algn="ctr">
              <a:lnSpc>
                <a:spcPts val="1500"/>
              </a:lnSpc>
              <a:buNone/>
            </a:pPr>
            <a:r>
              <a:rPr lang="en-US" sz="1250" b="1">
                <a:solidFill>
                  <a:srgbClr val="12212F"/>
                </a:solidFill>
                <a:latin typeface="Century Schoolbook" pitchFamily="34" charset="0"/>
                <a:ea typeface="Century Schoolbook" pitchFamily="34" charset="-122"/>
                <a:cs typeface="Century Schoolbook" pitchFamily="34" charset="-120"/>
              </a:rPr>
              <a:t>Retorno del producto compensador</a:t>
            </a:r>
            <a:endParaRPr lang="en-US" sz="1250"/>
          </a:p>
        </p:txBody>
      </p:sp>
      <p:sp>
        <p:nvSpPr>
          <p:cNvPr id="34" name="Text 32"/>
          <p:cNvSpPr/>
          <p:nvPr/>
        </p:nvSpPr>
        <p:spPr>
          <a:xfrm>
            <a:off x="7443033" y="3328416"/>
            <a:ext cx="1816547" cy="804672"/>
          </a:xfrm>
          <a:prstGeom prst="rect">
            <a:avLst/>
          </a:prstGeom>
          <a:noFill/>
          <a:ln/>
        </p:spPr>
        <p:txBody>
          <a:bodyPr wrap="square" lIns="0" tIns="0" rIns="0" bIns="0" rtlCol="0" anchor="t"/>
          <a:lstStyle/>
          <a:p>
            <a:pPr marL="0" indent="0" algn="l">
              <a:lnSpc>
                <a:spcPts val="1300"/>
              </a:lnSpc>
              <a:buNone/>
            </a:pPr>
            <a:r>
              <a:rPr lang="en-US" sz="1050">
                <a:solidFill>
                  <a:srgbClr val="12212F"/>
                </a:solidFill>
                <a:latin typeface="Cambria" pitchFamily="34" charset="0"/>
                <a:ea typeface="Cambria" pitchFamily="34" charset="-122"/>
                <a:cs typeface="Cambria" pitchFamily="34" charset="-120"/>
              </a:rPr>
              <a:t>Las piezas terminadas viajan de Italia al Perú como carga aérea valorada.</a:t>
            </a:r>
            <a:endParaRPr lang="en-US" sz="1050"/>
          </a:p>
        </p:txBody>
      </p:sp>
      <p:sp>
        <p:nvSpPr>
          <p:cNvPr id="35" name="Text 33"/>
          <p:cNvSpPr/>
          <p:nvPr/>
        </p:nvSpPr>
        <p:spPr>
          <a:xfrm>
            <a:off x="7443033" y="4187952"/>
            <a:ext cx="1816547" cy="201168"/>
          </a:xfrm>
          <a:prstGeom prst="rect">
            <a:avLst/>
          </a:prstGeom>
          <a:noFill/>
          <a:ln/>
        </p:spPr>
        <p:txBody>
          <a:bodyPr wrap="square" lIns="0" tIns="0" rIns="0" bIns="0" rtlCol="0" anchor="ctr"/>
          <a:lstStyle/>
          <a:p>
            <a:pPr marL="0" indent="0">
              <a:buNone/>
            </a:pPr>
            <a:r>
              <a:rPr lang="en-US" sz="850" b="1" kern="0" spc="100">
                <a:solidFill>
                  <a:srgbClr val="44586A"/>
                </a:solidFill>
                <a:latin typeface="Cambria" pitchFamily="34" charset="0"/>
                <a:ea typeface="Cambria" pitchFamily="34" charset="-122"/>
                <a:cs typeface="Cambria" pitchFamily="34" charset="-120"/>
              </a:rPr>
              <a:t>DOCUMENTOS</a:t>
            </a:r>
            <a:endParaRPr lang="en-US" sz="850"/>
          </a:p>
        </p:txBody>
      </p:sp>
      <p:sp>
        <p:nvSpPr>
          <p:cNvPr id="36" name="Text 34"/>
          <p:cNvSpPr/>
          <p:nvPr/>
        </p:nvSpPr>
        <p:spPr>
          <a:xfrm>
            <a:off x="7443033" y="4425696"/>
            <a:ext cx="1816547" cy="1371600"/>
          </a:xfrm>
          <a:prstGeom prst="rect">
            <a:avLst/>
          </a:prstGeom>
          <a:noFill/>
          <a:ln/>
        </p:spPr>
        <p:txBody>
          <a:bodyPr wrap="square" lIns="0" tIns="0" rIns="0" bIns="0" rtlCol="0" anchor="t"/>
          <a:lstStyle/>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Guía aérea de retorno</a:t>
            </a:r>
            <a:endParaRPr lang="en-US" sz="1000"/>
          </a:p>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Seguro del tramo de retorno</a:t>
            </a:r>
            <a:endParaRPr lang="en-US" sz="1000"/>
          </a:p>
        </p:txBody>
      </p:sp>
      <p:sp>
        <p:nvSpPr>
          <p:cNvPr id="37" name="Shape 35"/>
          <p:cNvSpPr/>
          <p:nvPr/>
        </p:nvSpPr>
        <p:spPr>
          <a:xfrm>
            <a:off x="10350734" y="1499616"/>
            <a:ext cx="512064" cy="512064"/>
          </a:xfrm>
          <a:prstGeom prst="ellipse">
            <a:avLst/>
          </a:prstGeom>
          <a:solidFill>
            <a:srgbClr val="7A3B69"/>
          </a:solidFill>
          <a:ln w="12700">
            <a:solidFill>
              <a:srgbClr val="7A3B69"/>
            </a:solidFill>
            <a:prstDash val="solid"/>
          </a:ln>
        </p:spPr>
        <p:txBody>
          <a:bodyPr/>
          <a:lstStyle/>
          <a:p>
            <a:endParaRPr lang="es-PE"/>
          </a:p>
        </p:txBody>
      </p:sp>
      <p:sp>
        <p:nvSpPr>
          <p:cNvPr id="38" name="Text 36"/>
          <p:cNvSpPr/>
          <p:nvPr/>
        </p:nvSpPr>
        <p:spPr>
          <a:xfrm>
            <a:off x="10350734" y="1499616"/>
            <a:ext cx="512064" cy="512064"/>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5</a:t>
            </a:r>
            <a:endParaRPr lang="en-US" sz="1400"/>
          </a:p>
        </p:txBody>
      </p:sp>
      <p:sp>
        <p:nvSpPr>
          <p:cNvPr id="39" name="Shape 37"/>
          <p:cNvSpPr/>
          <p:nvPr/>
        </p:nvSpPr>
        <p:spPr>
          <a:xfrm>
            <a:off x="9570476" y="2139696"/>
            <a:ext cx="2072579" cy="3401568"/>
          </a:xfrm>
          <a:prstGeom prst="roundRect">
            <a:avLst>
              <a:gd name="adj" fmla="val 2647"/>
            </a:avLst>
          </a:prstGeom>
          <a:solidFill>
            <a:srgbClr val="F1F6F9"/>
          </a:solidFill>
          <a:ln w="12700">
            <a:solidFill>
              <a:srgbClr val="C9D8E2"/>
            </a:solidFill>
            <a:prstDash val="solid"/>
          </a:ln>
        </p:spPr>
        <p:txBody>
          <a:bodyPr/>
          <a:lstStyle/>
          <a:p>
            <a:endParaRPr lang="es-PE"/>
          </a:p>
        </p:txBody>
      </p:sp>
      <p:sp>
        <p:nvSpPr>
          <p:cNvPr id="40" name="Text 38"/>
          <p:cNvSpPr/>
          <p:nvPr/>
        </p:nvSpPr>
        <p:spPr>
          <a:xfrm>
            <a:off x="9698492" y="2286000"/>
            <a:ext cx="1816547" cy="237744"/>
          </a:xfrm>
          <a:prstGeom prst="rect">
            <a:avLst/>
          </a:prstGeom>
          <a:noFill/>
          <a:ln/>
        </p:spPr>
        <p:txBody>
          <a:bodyPr wrap="square" lIns="0" tIns="0" rIns="0" bIns="0" rtlCol="0" anchor="ctr"/>
          <a:lstStyle/>
          <a:p>
            <a:pPr marL="0" indent="0" algn="ctr">
              <a:buNone/>
            </a:pPr>
            <a:r>
              <a:rPr lang="en-US" sz="1100" b="1">
                <a:solidFill>
                  <a:srgbClr val="7A3B69"/>
                </a:solidFill>
                <a:latin typeface="Cambria" pitchFamily="34" charset="0"/>
                <a:ea typeface="Cambria" pitchFamily="34" charset="-122"/>
                <a:cs typeface="Cambria" pitchFamily="34" charset="-120"/>
              </a:rPr>
              <a:t>27.08.2026</a:t>
            </a:r>
            <a:endParaRPr lang="en-US" sz="1100"/>
          </a:p>
        </p:txBody>
      </p:sp>
      <p:sp>
        <p:nvSpPr>
          <p:cNvPr id="41" name="Text 39"/>
          <p:cNvSpPr/>
          <p:nvPr/>
        </p:nvSpPr>
        <p:spPr>
          <a:xfrm>
            <a:off x="9698492" y="2560320"/>
            <a:ext cx="1816547" cy="713232"/>
          </a:xfrm>
          <a:prstGeom prst="rect">
            <a:avLst/>
          </a:prstGeom>
          <a:noFill/>
          <a:ln/>
        </p:spPr>
        <p:txBody>
          <a:bodyPr wrap="square" lIns="0" tIns="0" rIns="0" bIns="0" rtlCol="0" anchor="t"/>
          <a:lstStyle/>
          <a:p>
            <a:pPr marL="0" indent="0" algn="ctr">
              <a:lnSpc>
                <a:spcPts val="1500"/>
              </a:lnSpc>
              <a:buNone/>
            </a:pPr>
            <a:r>
              <a:rPr lang="en-US" sz="1250" b="1">
                <a:solidFill>
                  <a:srgbClr val="12212F"/>
                </a:solidFill>
                <a:latin typeface="Century Schoolbook" pitchFamily="34" charset="0"/>
                <a:ea typeface="Century Schoolbook" pitchFamily="34" charset="-122"/>
                <a:cs typeface="Century Schoolbook" pitchFamily="34" charset="-120"/>
              </a:rPr>
              <a:t>Importación para el Consumo</a:t>
            </a:r>
            <a:endParaRPr lang="en-US" sz="1250"/>
          </a:p>
        </p:txBody>
      </p:sp>
      <p:sp>
        <p:nvSpPr>
          <p:cNvPr id="42" name="Text 40"/>
          <p:cNvSpPr/>
          <p:nvPr/>
        </p:nvSpPr>
        <p:spPr>
          <a:xfrm>
            <a:off x="9698492" y="3328416"/>
            <a:ext cx="1816547" cy="804672"/>
          </a:xfrm>
          <a:prstGeom prst="rect">
            <a:avLst/>
          </a:prstGeom>
          <a:noFill/>
          <a:ln/>
        </p:spPr>
        <p:txBody>
          <a:bodyPr wrap="square" lIns="0" tIns="0" rIns="0" bIns="0" rtlCol="0" anchor="t"/>
          <a:lstStyle/>
          <a:p>
            <a:pPr marL="0" indent="0" algn="l">
              <a:lnSpc>
                <a:spcPts val="1300"/>
              </a:lnSpc>
              <a:buNone/>
            </a:pPr>
            <a:r>
              <a:rPr lang="en-US" sz="1050">
                <a:solidFill>
                  <a:srgbClr val="12212F"/>
                </a:solidFill>
                <a:latin typeface="Cambria" pitchFamily="34" charset="0"/>
                <a:ea typeface="Cambria" pitchFamily="34" charset="-122"/>
                <a:cs typeface="Cambria" pitchFamily="34" charset="-120"/>
              </a:rPr>
              <a:t>Se liquidan los tributos sobre el valor agregado, no sobre el valor total de las piezas.</a:t>
            </a:r>
            <a:endParaRPr lang="en-US" sz="1050"/>
          </a:p>
        </p:txBody>
      </p:sp>
      <p:sp>
        <p:nvSpPr>
          <p:cNvPr id="43" name="Text 41"/>
          <p:cNvSpPr/>
          <p:nvPr/>
        </p:nvSpPr>
        <p:spPr>
          <a:xfrm>
            <a:off x="9698492" y="4187952"/>
            <a:ext cx="1816547" cy="201168"/>
          </a:xfrm>
          <a:prstGeom prst="rect">
            <a:avLst/>
          </a:prstGeom>
          <a:noFill/>
          <a:ln/>
        </p:spPr>
        <p:txBody>
          <a:bodyPr wrap="square" lIns="0" tIns="0" rIns="0" bIns="0" rtlCol="0" anchor="ctr"/>
          <a:lstStyle/>
          <a:p>
            <a:pPr marL="0" indent="0">
              <a:buNone/>
            </a:pPr>
            <a:r>
              <a:rPr lang="en-US" sz="850" b="1" kern="0" spc="100">
                <a:solidFill>
                  <a:srgbClr val="44586A"/>
                </a:solidFill>
                <a:latin typeface="Cambria" pitchFamily="34" charset="0"/>
                <a:ea typeface="Cambria" pitchFamily="34" charset="-122"/>
                <a:cs typeface="Cambria" pitchFamily="34" charset="-120"/>
              </a:rPr>
              <a:t>DOCUMENTOS</a:t>
            </a:r>
            <a:endParaRPr lang="en-US" sz="850"/>
          </a:p>
        </p:txBody>
      </p:sp>
      <p:sp>
        <p:nvSpPr>
          <p:cNvPr id="44" name="Text 42"/>
          <p:cNvSpPr/>
          <p:nvPr/>
        </p:nvSpPr>
        <p:spPr>
          <a:xfrm>
            <a:off x="9698492" y="4425696"/>
            <a:ext cx="1816547" cy="1371600"/>
          </a:xfrm>
          <a:prstGeom prst="rect">
            <a:avLst/>
          </a:prstGeom>
          <a:noFill/>
          <a:ln/>
        </p:spPr>
        <p:txBody>
          <a:bodyPr wrap="square" lIns="0" tIns="0" rIns="0" bIns="0" rtlCol="0" anchor="t"/>
          <a:lstStyle/>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DAM Importación para el Consumo</a:t>
            </a:r>
            <a:endParaRPr lang="en-US" sz="1000"/>
          </a:p>
          <a:p>
            <a:pPr marL="165100" indent="-165100">
              <a:lnSpc>
                <a:spcPts val="1300"/>
              </a:lnSpc>
              <a:spcAft>
                <a:spcPts val="500"/>
              </a:spcAft>
              <a:buSzPct val="100000"/>
              <a:buChar char="•"/>
            </a:pPr>
            <a:r>
              <a:rPr lang="en-US" sz="1000">
                <a:solidFill>
                  <a:srgbClr val="12212F"/>
                </a:solidFill>
                <a:latin typeface="Cambria" pitchFamily="34" charset="0"/>
                <a:ea typeface="Cambria" pitchFamily="34" charset="-122"/>
                <a:cs typeface="Cambria" pitchFamily="34" charset="-120"/>
              </a:rPr>
              <a:t>Liquidación de tributos</a:t>
            </a:r>
            <a:endParaRPr lang="en-US" sz="1000"/>
          </a:p>
        </p:txBody>
      </p:sp>
      <p:sp>
        <p:nvSpPr>
          <p:cNvPr id="45" name="Text 43"/>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La declaración de importación referencia la declaración de exportación temporal: es lo que activa el cálculo especial del régimen.</a:t>
            </a:r>
            <a:endParaRPr lang="en-US" sz="950"/>
          </a:p>
        </p:txBody>
      </p:sp>
      <p:sp>
        <p:nvSpPr>
          <p:cNvPr id="46" name="Text 44"/>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NICOLÁS CASTRO</a:t>
            </a:r>
            <a:endParaRPr lang="en-US" sz="850"/>
          </a:p>
        </p:txBody>
      </p:sp>
      <p:sp>
        <p:nvSpPr>
          <p:cNvPr id="47" name="Text 45"/>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24</a:t>
            </a:r>
            <a:endParaRPr lang="en-US" sz="95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7A3B69"/>
                </a:solidFill>
                <a:latin typeface="Cambria" pitchFamily="34" charset="0"/>
                <a:ea typeface="Cambria" pitchFamily="34" charset="-122"/>
                <a:cs typeface="Cambria" pitchFamily="34" charset="-120"/>
              </a:rPr>
              <a:t>CASO 3</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La base imponible: qué entra y qué no</a:t>
            </a:r>
            <a:endParaRPr lang="en-US" sz="3000"/>
          </a:p>
        </p:txBody>
      </p:sp>
      <p:sp>
        <p:nvSpPr>
          <p:cNvPr id="4" name="Shape 2"/>
          <p:cNvSpPr/>
          <p:nvPr/>
        </p:nvSpPr>
        <p:spPr>
          <a:xfrm>
            <a:off x="548640" y="1508760"/>
            <a:ext cx="5440680" cy="1600200"/>
          </a:xfrm>
          <a:prstGeom prst="roundRect">
            <a:avLst>
              <a:gd name="adj" fmla="val 3429"/>
            </a:avLst>
          </a:prstGeom>
          <a:solidFill>
            <a:srgbClr val="F1F6F9"/>
          </a:solidFill>
          <a:ln w="12700">
            <a:solidFill>
              <a:srgbClr val="C9D8E2"/>
            </a:solidFill>
            <a:prstDash val="solid"/>
          </a:ln>
        </p:spPr>
        <p:txBody>
          <a:bodyPr/>
          <a:lstStyle/>
          <a:p>
            <a:endParaRPr lang="es-PE"/>
          </a:p>
        </p:txBody>
      </p:sp>
      <p:sp>
        <p:nvSpPr>
          <p:cNvPr id="5" name="Text 3"/>
          <p:cNvSpPr/>
          <p:nvPr/>
        </p:nvSpPr>
        <p:spPr>
          <a:xfrm>
            <a:off x="822960" y="1691640"/>
            <a:ext cx="4892040" cy="256032"/>
          </a:xfrm>
          <a:prstGeom prst="rect">
            <a:avLst/>
          </a:prstGeom>
          <a:noFill/>
          <a:ln/>
        </p:spPr>
        <p:txBody>
          <a:bodyPr wrap="square" lIns="0" tIns="0" rIns="0" bIns="0" rtlCol="0" anchor="ctr"/>
          <a:lstStyle/>
          <a:p>
            <a:pPr marL="0" indent="0">
              <a:buNone/>
            </a:pPr>
            <a:r>
              <a:rPr lang="en-US" sz="950" b="1" kern="0" spc="110">
                <a:solidFill>
                  <a:srgbClr val="44586A"/>
                </a:solidFill>
                <a:latin typeface="Cambria" pitchFamily="34" charset="0"/>
                <a:ea typeface="Cambria" pitchFamily="34" charset="-122"/>
                <a:cs typeface="Cambria" pitchFamily="34" charset="-120"/>
              </a:rPr>
              <a:t>NO FORMA PARTE DE LA BASE</a:t>
            </a:r>
            <a:endParaRPr lang="en-US" sz="950"/>
          </a:p>
        </p:txBody>
      </p:sp>
      <p:sp>
        <p:nvSpPr>
          <p:cNvPr id="6" name="Text 4"/>
          <p:cNvSpPr/>
          <p:nvPr/>
        </p:nvSpPr>
        <p:spPr>
          <a:xfrm>
            <a:off x="822960" y="1965960"/>
            <a:ext cx="3291840" cy="365760"/>
          </a:xfrm>
          <a:prstGeom prst="rect">
            <a:avLst/>
          </a:prstGeom>
          <a:noFill/>
          <a:ln/>
        </p:spPr>
        <p:txBody>
          <a:bodyPr wrap="square" lIns="0" tIns="0" rIns="0" bIns="0" rtlCol="0" anchor="ctr"/>
          <a:lstStyle/>
          <a:p>
            <a:pPr marL="0" indent="0">
              <a:buNone/>
            </a:pPr>
            <a:r>
              <a:rPr lang="en-US" sz="1300">
                <a:solidFill>
                  <a:srgbClr val="12212F"/>
                </a:solidFill>
                <a:latin typeface="Cambria" pitchFamily="34" charset="0"/>
                <a:ea typeface="Cambria" pitchFamily="34" charset="-122"/>
                <a:cs typeface="Cambria" pitchFamily="34" charset="-120"/>
              </a:rPr>
              <a:t>Valor de la materia prima nacional</a:t>
            </a:r>
            <a:endParaRPr lang="en-US" sz="1300"/>
          </a:p>
        </p:txBody>
      </p:sp>
      <p:sp>
        <p:nvSpPr>
          <p:cNvPr id="7" name="Text 5"/>
          <p:cNvSpPr/>
          <p:nvPr/>
        </p:nvSpPr>
        <p:spPr>
          <a:xfrm>
            <a:off x="4114800" y="1965960"/>
            <a:ext cx="1600200" cy="365760"/>
          </a:xfrm>
          <a:prstGeom prst="rect">
            <a:avLst/>
          </a:prstGeom>
          <a:noFill/>
          <a:ln/>
        </p:spPr>
        <p:txBody>
          <a:bodyPr wrap="square" lIns="0" tIns="0" rIns="0" bIns="0" rtlCol="0" anchor="ctr"/>
          <a:lstStyle/>
          <a:p>
            <a:pPr marL="0" indent="0" algn="r">
              <a:buNone/>
            </a:pPr>
            <a:r>
              <a:rPr lang="en-US" sz="1500" b="1">
                <a:solidFill>
                  <a:srgbClr val="44586A"/>
                </a:solidFill>
                <a:latin typeface="Century Schoolbook" pitchFamily="34" charset="0"/>
                <a:ea typeface="Century Schoolbook" pitchFamily="34" charset="-122"/>
                <a:cs typeface="Century Schoolbook" pitchFamily="34" charset="-120"/>
              </a:rPr>
              <a:t>US$ 45,000.00</a:t>
            </a:r>
            <a:endParaRPr lang="en-US" sz="1500"/>
          </a:p>
        </p:txBody>
      </p:sp>
      <p:sp>
        <p:nvSpPr>
          <p:cNvPr id="8" name="Text 6"/>
          <p:cNvSpPr/>
          <p:nvPr/>
        </p:nvSpPr>
        <p:spPr>
          <a:xfrm>
            <a:off x="822960" y="2377440"/>
            <a:ext cx="4892040" cy="594360"/>
          </a:xfrm>
          <a:prstGeom prst="rect">
            <a:avLst/>
          </a:prstGeom>
          <a:noFill/>
          <a:ln/>
        </p:spPr>
        <p:txBody>
          <a:bodyPr wrap="square" lIns="0" tIns="0" rIns="0" bIns="0" rtlCol="0" anchor="ctr"/>
          <a:lstStyle/>
          <a:p>
            <a:pPr marL="0" indent="0">
              <a:lnSpc>
                <a:spcPts val="1400"/>
              </a:lnSpc>
              <a:buNone/>
            </a:pPr>
            <a:r>
              <a:rPr lang="en-US" sz="1150" i="1">
                <a:solidFill>
                  <a:srgbClr val="44586A"/>
                </a:solidFill>
                <a:latin typeface="Cambria" pitchFamily="34" charset="0"/>
                <a:ea typeface="Cambria" pitchFamily="34" charset="-122"/>
                <a:cs typeface="Cambria" pitchFamily="34" charset="-120"/>
              </a:rPr>
              <a:t>La plata es peruana y sale bajo exportación temporal: no se tributa de nuevo por ella al retornar.</a:t>
            </a:r>
            <a:endParaRPr lang="en-US" sz="1150"/>
          </a:p>
        </p:txBody>
      </p:sp>
      <p:sp>
        <p:nvSpPr>
          <p:cNvPr id="9" name="Shape 7"/>
          <p:cNvSpPr/>
          <p:nvPr/>
        </p:nvSpPr>
        <p:spPr>
          <a:xfrm>
            <a:off x="548640" y="3310128"/>
            <a:ext cx="5440680" cy="2697480"/>
          </a:xfrm>
          <a:prstGeom prst="roundRect">
            <a:avLst>
              <a:gd name="adj" fmla="val 2034"/>
            </a:avLst>
          </a:prstGeom>
          <a:solidFill>
            <a:srgbClr val="FFFFFF"/>
          </a:solidFill>
          <a:ln w="12700">
            <a:solidFill>
              <a:srgbClr val="7A3B69"/>
            </a:solidFill>
            <a:prstDash val="solid"/>
          </a:ln>
        </p:spPr>
        <p:txBody>
          <a:bodyPr/>
          <a:lstStyle/>
          <a:p>
            <a:endParaRPr lang="es-PE"/>
          </a:p>
        </p:txBody>
      </p:sp>
      <p:sp>
        <p:nvSpPr>
          <p:cNvPr id="10" name="Text 8"/>
          <p:cNvSpPr/>
          <p:nvPr/>
        </p:nvSpPr>
        <p:spPr>
          <a:xfrm>
            <a:off x="822960" y="3493008"/>
            <a:ext cx="4892040" cy="256032"/>
          </a:xfrm>
          <a:prstGeom prst="rect">
            <a:avLst/>
          </a:prstGeom>
          <a:noFill/>
          <a:ln/>
        </p:spPr>
        <p:txBody>
          <a:bodyPr wrap="square" lIns="0" tIns="0" rIns="0" bIns="0" rtlCol="0" anchor="ctr"/>
          <a:lstStyle/>
          <a:p>
            <a:pPr marL="0" indent="0">
              <a:buNone/>
            </a:pPr>
            <a:r>
              <a:rPr lang="en-US" sz="950" b="1" kern="0" spc="110">
                <a:solidFill>
                  <a:srgbClr val="7A3B69"/>
                </a:solidFill>
                <a:latin typeface="Cambria" pitchFamily="34" charset="0"/>
                <a:ea typeface="Cambria" pitchFamily="34" charset="-122"/>
                <a:cs typeface="Cambria" pitchFamily="34" charset="-120"/>
              </a:rPr>
              <a:t>SÍ FORMA PARTE DE LA BASE</a:t>
            </a:r>
            <a:endParaRPr lang="en-US" sz="950"/>
          </a:p>
        </p:txBody>
      </p:sp>
      <p:sp>
        <p:nvSpPr>
          <p:cNvPr id="11" name="Text 9"/>
          <p:cNvSpPr/>
          <p:nvPr/>
        </p:nvSpPr>
        <p:spPr>
          <a:xfrm>
            <a:off x="822960" y="3794760"/>
            <a:ext cx="3657600" cy="384048"/>
          </a:xfrm>
          <a:prstGeom prst="rect">
            <a:avLst/>
          </a:prstGeom>
          <a:noFill/>
          <a:ln/>
        </p:spPr>
        <p:txBody>
          <a:bodyPr wrap="square" lIns="0" tIns="0" rIns="0" bIns="0" rtlCol="0" anchor="ctr"/>
          <a:lstStyle/>
          <a:p>
            <a:pPr marL="0" indent="0">
              <a:buNone/>
            </a:pPr>
            <a:r>
              <a:rPr lang="en-US" sz="1200">
                <a:solidFill>
                  <a:srgbClr val="12212F"/>
                </a:solidFill>
                <a:latin typeface="Cambria" pitchFamily="34" charset="0"/>
                <a:ea typeface="Cambria" pitchFamily="34" charset="-122"/>
                <a:cs typeface="Cambria" pitchFamily="34" charset="-120"/>
              </a:rPr>
              <a:t>Valor del servicio de perfeccionamiento</a:t>
            </a:r>
            <a:endParaRPr lang="en-US" sz="1200"/>
          </a:p>
        </p:txBody>
      </p:sp>
      <p:sp>
        <p:nvSpPr>
          <p:cNvPr id="12" name="Text 10"/>
          <p:cNvSpPr/>
          <p:nvPr/>
        </p:nvSpPr>
        <p:spPr>
          <a:xfrm>
            <a:off x="4480560" y="3794760"/>
            <a:ext cx="1234440" cy="384048"/>
          </a:xfrm>
          <a:prstGeom prst="rect">
            <a:avLst/>
          </a:prstGeom>
          <a:noFill/>
          <a:ln/>
        </p:spPr>
        <p:txBody>
          <a:bodyPr wrap="square" lIns="0" tIns="0" rIns="0" bIns="0" rtlCol="0" anchor="ctr"/>
          <a:lstStyle/>
          <a:p>
            <a:pPr marL="0" indent="0" algn="r">
              <a:buNone/>
            </a:pPr>
            <a:r>
              <a:rPr lang="en-US" sz="1250" b="1">
                <a:solidFill>
                  <a:srgbClr val="12212F"/>
                </a:solidFill>
                <a:latin typeface="Cambria" pitchFamily="34" charset="0"/>
                <a:ea typeface="Cambria" pitchFamily="34" charset="-122"/>
                <a:cs typeface="Cambria" pitchFamily="34" charset="-120"/>
              </a:rPr>
              <a:t>38,000.00</a:t>
            </a:r>
            <a:endParaRPr lang="en-US" sz="1250"/>
          </a:p>
        </p:txBody>
      </p:sp>
      <p:sp>
        <p:nvSpPr>
          <p:cNvPr id="13" name="Text 11"/>
          <p:cNvSpPr/>
          <p:nvPr/>
        </p:nvSpPr>
        <p:spPr>
          <a:xfrm>
            <a:off x="822960" y="4233672"/>
            <a:ext cx="3657600" cy="384048"/>
          </a:xfrm>
          <a:prstGeom prst="rect">
            <a:avLst/>
          </a:prstGeom>
          <a:noFill/>
          <a:ln/>
        </p:spPr>
        <p:txBody>
          <a:bodyPr wrap="square" lIns="0" tIns="0" rIns="0" bIns="0" rtlCol="0" anchor="ctr"/>
          <a:lstStyle/>
          <a:p>
            <a:pPr marL="0" indent="0">
              <a:buNone/>
            </a:pPr>
            <a:r>
              <a:rPr lang="en-US" sz="1200">
                <a:solidFill>
                  <a:srgbClr val="12212F"/>
                </a:solidFill>
                <a:latin typeface="Cambria" pitchFamily="34" charset="0"/>
                <a:ea typeface="Cambria" pitchFamily="34" charset="-122"/>
                <a:cs typeface="Cambria" pitchFamily="34" charset="-120"/>
              </a:rPr>
              <a:t>(+) Flete de ida  US$ 600.00 + retorno US$ 900.00</a:t>
            </a:r>
            <a:endParaRPr lang="en-US" sz="1200"/>
          </a:p>
        </p:txBody>
      </p:sp>
      <p:sp>
        <p:nvSpPr>
          <p:cNvPr id="14" name="Text 12"/>
          <p:cNvSpPr/>
          <p:nvPr/>
        </p:nvSpPr>
        <p:spPr>
          <a:xfrm>
            <a:off x="4480560" y="4233672"/>
            <a:ext cx="1234440" cy="384048"/>
          </a:xfrm>
          <a:prstGeom prst="rect">
            <a:avLst/>
          </a:prstGeom>
          <a:noFill/>
          <a:ln/>
        </p:spPr>
        <p:txBody>
          <a:bodyPr wrap="square" lIns="0" tIns="0" rIns="0" bIns="0" rtlCol="0" anchor="ctr"/>
          <a:lstStyle/>
          <a:p>
            <a:pPr marL="0" indent="0" algn="r">
              <a:buNone/>
            </a:pPr>
            <a:r>
              <a:rPr lang="en-US" sz="1250" b="1">
                <a:solidFill>
                  <a:srgbClr val="12212F"/>
                </a:solidFill>
                <a:latin typeface="Cambria" pitchFamily="34" charset="0"/>
                <a:ea typeface="Cambria" pitchFamily="34" charset="-122"/>
                <a:cs typeface="Cambria" pitchFamily="34" charset="-120"/>
              </a:rPr>
              <a:t>1,500.00</a:t>
            </a:r>
            <a:endParaRPr lang="en-US" sz="1250"/>
          </a:p>
        </p:txBody>
      </p:sp>
      <p:sp>
        <p:nvSpPr>
          <p:cNvPr id="15" name="Text 13"/>
          <p:cNvSpPr/>
          <p:nvPr/>
        </p:nvSpPr>
        <p:spPr>
          <a:xfrm>
            <a:off x="822960" y="4672584"/>
            <a:ext cx="3657600" cy="384048"/>
          </a:xfrm>
          <a:prstGeom prst="rect">
            <a:avLst/>
          </a:prstGeom>
          <a:noFill/>
          <a:ln/>
        </p:spPr>
        <p:txBody>
          <a:bodyPr wrap="square" lIns="0" tIns="0" rIns="0" bIns="0" rtlCol="0" anchor="ctr"/>
          <a:lstStyle/>
          <a:p>
            <a:pPr marL="0" indent="0">
              <a:buNone/>
            </a:pPr>
            <a:r>
              <a:rPr lang="en-US" sz="1200">
                <a:solidFill>
                  <a:srgbClr val="12212F"/>
                </a:solidFill>
                <a:latin typeface="Cambria" pitchFamily="34" charset="0"/>
                <a:ea typeface="Cambria" pitchFamily="34" charset="-122"/>
                <a:cs typeface="Cambria" pitchFamily="34" charset="-120"/>
              </a:rPr>
              <a:t>(+) Seguro de ida  US$ 150.00 + retorno US$ 220.00</a:t>
            </a:r>
            <a:endParaRPr lang="en-US" sz="1200"/>
          </a:p>
        </p:txBody>
      </p:sp>
      <p:sp>
        <p:nvSpPr>
          <p:cNvPr id="16" name="Text 14"/>
          <p:cNvSpPr/>
          <p:nvPr/>
        </p:nvSpPr>
        <p:spPr>
          <a:xfrm>
            <a:off x="4480560" y="4672584"/>
            <a:ext cx="1234440" cy="384048"/>
          </a:xfrm>
          <a:prstGeom prst="rect">
            <a:avLst/>
          </a:prstGeom>
          <a:noFill/>
          <a:ln/>
        </p:spPr>
        <p:txBody>
          <a:bodyPr wrap="square" lIns="0" tIns="0" rIns="0" bIns="0" rtlCol="0" anchor="ctr"/>
          <a:lstStyle/>
          <a:p>
            <a:pPr marL="0" indent="0" algn="r">
              <a:buNone/>
            </a:pPr>
            <a:r>
              <a:rPr lang="en-US" sz="1250" b="1">
                <a:solidFill>
                  <a:srgbClr val="12212F"/>
                </a:solidFill>
                <a:latin typeface="Cambria" pitchFamily="34" charset="0"/>
                <a:ea typeface="Cambria" pitchFamily="34" charset="-122"/>
                <a:cs typeface="Cambria" pitchFamily="34" charset="-120"/>
              </a:rPr>
              <a:t>370.00</a:t>
            </a:r>
            <a:endParaRPr lang="en-US" sz="1250"/>
          </a:p>
        </p:txBody>
      </p:sp>
      <p:sp>
        <p:nvSpPr>
          <p:cNvPr id="17" name="Shape 15"/>
          <p:cNvSpPr/>
          <p:nvPr/>
        </p:nvSpPr>
        <p:spPr>
          <a:xfrm>
            <a:off x="822960" y="5138928"/>
            <a:ext cx="4892040" cy="18288"/>
          </a:xfrm>
          <a:prstGeom prst="rect">
            <a:avLst/>
          </a:prstGeom>
          <a:solidFill>
            <a:srgbClr val="7A3B69"/>
          </a:solidFill>
          <a:ln w="12700">
            <a:solidFill>
              <a:srgbClr val="7A3B69"/>
            </a:solidFill>
            <a:prstDash val="solid"/>
          </a:ln>
        </p:spPr>
        <p:txBody>
          <a:bodyPr/>
          <a:lstStyle/>
          <a:p>
            <a:endParaRPr lang="es-PE"/>
          </a:p>
        </p:txBody>
      </p:sp>
      <p:sp>
        <p:nvSpPr>
          <p:cNvPr id="18" name="Text 16"/>
          <p:cNvSpPr/>
          <p:nvPr/>
        </p:nvSpPr>
        <p:spPr>
          <a:xfrm>
            <a:off x="822960" y="5230368"/>
            <a:ext cx="3108960" cy="457200"/>
          </a:xfrm>
          <a:prstGeom prst="rect">
            <a:avLst/>
          </a:prstGeom>
          <a:noFill/>
          <a:ln/>
        </p:spPr>
        <p:txBody>
          <a:bodyPr wrap="square" lIns="0" tIns="0" rIns="0" bIns="0" rtlCol="0" anchor="ctr"/>
          <a:lstStyle/>
          <a:p>
            <a:pPr marL="0" indent="0">
              <a:buNone/>
            </a:pPr>
            <a:r>
              <a:rPr lang="en-US" sz="1400" b="1">
                <a:solidFill>
                  <a:srgbClr val="7A3B69"/>
                </a:solidFill>
                <a:latin typeface="Century Schoolbook" pitchFamily="34" charset="0"/>
                <a:ea typeface="Century Schoolbook" pitchFamily="34" charset="-122"/>
                <a:cs typeface="Century Schoolbook" pitchFamily="34" charset="-120"/>
              </a:rPr>
              <a:t>BASE IMPONIBLE</a:t>
            </a:r>
            <a:endParaRPr lang="en-US" sz="1400"/>
          </a:p>
        </p:txBody>
      </p:sp>
      <p:sp>
        <p:nvSpPr>
          <p:cNvPr id="19" name="Text 17"/>
          <p:cNvSpPr/>
          <p:nvPr/>
        </p:nvSpPr>
        <p:spPr>
          <a:xfrm>
            <a:off x="3749040" y="5230368"/>
            <a:ext cx="1965960" cy="457200"/>
          </a:xfrm>
          <a:prstGeom prst="rect">
            <a:avLst/>
          </a:prstGeom>
          <a:noFill/>
          <a:ln/>
        </p:spPr>
        <p:txBody>
          <a:bodyPr wrap="square" lIns="0" tIns="0" rIns="0" bIns="0" rtlCol="0" anchor="ctr"/>
          <a:lstStyle/>
          <a:p>
            <a:pPr marL="0" indent="0" algn="r">
              <a:buNone/>
            </a:pPr>
            <a:r>
              <a:rPr lang="en-US" sz="1900" b="1">
                <a:solidFill>
                  <a:srgbClr val="7A3B69"/>
                </a:solidFill>
                <a:latin typeface="Century Schoolbook" pitchFamily="34" charset="0"/>
                <a:ea typeface="Century Schoolbook" pitchFamily="34" charset="-122"/>
                <a:cs typeface="Century Schoolbook" pitchFamily="34" charset="-120"/>
              </a:rPr>
              <a:t>US$ 39,870.00</a:t>
            </a:r>
            <a:endParaRPr lang="en-US" sz="1900"/>
          </a:p>
        </p:txBody>
      </p:sp>
      <p:sp>
        <p:nvSpPr>
          <p:cNvPr id="20" name="Shape 18"/>
          <p:cNvSpPr/>
          <p:nvPr/>
        </p:nvSpPr>
        <p:spPr>
          <a:xfrm>
            <a:off x="6190488" y="1508760"/>
            <a:ext cx="5440680" cy="2148840"/>
          </a:xfrm>
          <a:prstGeom prst="roundRect">
            <a:avLst>
              <a:gd name="adj" fmla="val 2553"/>
            </a:avLst>
          </a:prstGeom>
          <a:solidFill>
            <a:srgbClr val="E4EDF3"/>
          </a:solidFill>
          <a:ln w="12700">
            <a:solidFill>
              <a:srgbClr val="C9D8E2"/>
            </a:solidFill>
            <a:prstDash val="solid"/>
          </a:ln>
        </p:spPr>
        <p:txBody>
          <a:bodyPr/>
          <a:lstStyle/>
          <a:p>
            <a:endParaRPr lang="es-PE"/>
          </a:p>
        </p:txBody>
      </p:sp>
      <p:sp>
        <p:nvSpPr>
          <p:cNvPr id="21" name="Text 19"/>
          <p:cNvSpPr/>
          <p:nvPr/>
        </p:nvSpPr>
        <p:spPr>
          <a:xfrm>
            <a:off x="6464808" y="1691640"/>
            <a:ext cx="4892040" cy="256032"/>
          </a:xfrm>
          <a:prstGeom prst="rect">
            <a:avLst/>
          </a:prstGeom>
          <a:noFill/>
          <a:ln/>
        </p:spPr>
        <p:txBody>
          <a:bodyPr wrap="square" lIns="0" tIns="0" rIns="0" bIns="0" rtlCol="0" anchor="ctr"/>
          <a:lstStyle/>
          <a:p>
            <a:pPr marL="0" indent="0">
              <a:buNone/>
            </a:pPr>
            <a:r>
              <a:rPr lang="en-US" sz="950" b="1" kern="0" spc="110">
                <a:solidFill>
                  <a:srgbClr val="44586A"/>
                </a:solidFill>
                <a:latin typeface="Cambria" pitchFamily="34" charset="0"/>
                <a:ea typeface="Cambria" pitchFamily="34" charset="-122"/>
                <a:cs typeface="Cambria" pitchFamily="34" charset="-120"/>
              </a:rPr>
              <a:t>LA REGLA DEL RÉGIMEN</a:t>
            </a:r>
            <a:endParaRPr lang="en-US" sz="950"/>
          </a:p>
        </p:txBody>
      </p:sp>
      <p:sp>
        <p:nvSpPr>
          <p:cNvPr id="22" name="Text 20"/>
          <p:cNvSpPr/>
          <p:nvPr/>
        </p:nvSpPr>
        <p:spPr>
          <a:xfrm>
            <a:off x="6464808" y="1965960"/>
            <a:ext cx="4892040" cy="1554480"/>
          </a:xfrm>
          <a:prstGeom prst="rect">
            <a:avLst/>
          </a:prstGeom>
          <a:noFill/>
          <a:ln/>
        </p:spPr>
        <p:txBody>
          <a:bodyPr wrap="square" lIns="0" tIns="0" rIns="0" bIns="0" rtlCol="0" anchor="ctr"/>
          <a:lstStyle/>
          <a:p>
            <a:pPr marL="0" indent="0">
              <a:lnSpc>
                <a:spcPts val="1700"/>
              </a:lnSpc>
              <a:buNone/>
            </a:pPr>
            <a:r>
              <a:rPr lang="en-US" sz="1300">
                <a:solidFill>
                  <a:srgbClr val="12212F"/>
                </a:solidFill>
                <a:latin typeface="Cambria" pitchFamily="34" charset="0"/>
                <a:ea typeface="Cambria" pitchFamily="34" charset="-122"/>
                <a:cs typeface="Cambria" pitchFamily="34" charset="-120"/>
              </a:rPr>
              <a:t>Los tributos se pagan únicamente por el valor agregado obtenido en el extranjero, entendido como el valor del perfeccionamiento más los gastos de transporte y seguro ocasionados por la salida y el retorno de la mercancía.</a:t>
            </a:r>
            <a:endParaRPr lang="en-US" sz="1300"/>
          </a:p>
        </p:txBody>
      </p:sp>
      <p:sp>
        <p:nvSpPr>
          <p:cNvPr id="23" name="Shape 21"/>
          <p:cNvSpPr/>
          <p:nvPr/>
        </p:nvSpPr>
        <p:spPr>
          <a:xfrm>
            <a:off x="6190488" y="3840480"/>
            <a:ext cx="5440680" cy="2167128"/>
          </a:xfrm>
          <a:prstGeom prst="roundRect">
            <a:avLst>
              <a:gd name="adj" fmla="val 2532"/>
            </a:avLst>
          </a:prstGeom>
          <a:solidFill>
            <a:srgbClr val="FFFFFF"/>
          </a:solidFill>
          <a:ln w="12700">
            <a:solidFill>
              <a:srgbClr val="C9D8E2"/>
            </a:solidFill>
            <a:prstDash val="solid"/>
          </a:ln>
        </p:spPr>
        <p:txBody>
          <a:bodyPr/>
          <a:lstStyle/>
          <a:p>
            <a:endParaRPr lang="es-PE"/>
          </a:p>
        </p:txBody>
      </p:sp>
      <p:sp>
        <p:nvSpPr>
          <p:cNvPr id="24" name="Text 22"/>
          <p:cNvSpPr/>
          <p:nvPr/>
        </p:nvSpPr>
        <p:spPr>
          <a:xfrm>
            <a:off x="6464808" y="4023360"/>
            <a:ext cx="4892040" cy="256032"/>
          </a:xfrm>
          <a:prstGeom prst="rect">
            <a:avLst/>
          </a:prstGeom>
          <a:noFill/>
          <a:ln/>
        </p:spPr>
        <p:txBody>
          <a:bodyPr wrap="square" lIns="0" tIns="0" rIns="0" bIns="0" rtlCol="0" anchor="ctr"/>
          <a:lstStyle/>
          <a:p>
            <a:pPr marL="0" indent="0">
              <a:buNone/>
            </a:pPr>
            <a:r>
              <a:rPr lang="en-US" sz="950" b="1" kern="0" spc="110">
                <a:solidFill>
                  <a:srgbClr val="44586A"/>
                </a:solidFill>
                <a:latin typeface="Cambria" pitchFamily="34" charset="0"/>
                <a:ea typeface="Cambria" pitchFamily="34" charset="-122"/>
                <a:cs typeface="Cambria" pitchFamily="34" charset="-120"/>
              </a:rPr>
              <a:t>UNA CONDICIÓN IMPORTANTE</a:t>
            </a:r>
            <a:endParaRPr lang="en-US" sz="950"/>
          </a:p>
        </p:txBody>
      </p:sp>
      <p:sp>
        <p:nvSpPr>
          <p:cNvPr id="25" name="Text 23"/>
          <p:cNvSpPr/>
          <p:nvPr/>
        </p:nvSpPr>
        <p:spPr>
          <a:xfrm>
            <a:off x="6464808" y="4297680"/>
            <a:ext cx="4892040" cy="1600200"/>
          </a:xfrm>
          <a:prstGeom prst="rect">
            <a:avLst/>
          </a:prstGeom>
          <a:noFill/>
          <a:ln/>
        </p:spPr>
        <p:txBody>
          <a:bodyPr wrap="square" lIns="0" tIns="0" rIns="0" bIns="0" rtlCol="0" anchor="ctr"/>
          <a:lstStyle/>
          <a:p>
            <a:pPr marL="0" indent="0">
              <a:lnSpc>
                <a:spcPts val="1700"/>
              </a:lnSpc>
              <a:buNone/>
            </a:pPr>
            <a:r>
              <a:rPr lang="en-US" sz="1300">
                <a:solidFill>
                  <a:srgbClr val="12212F"/>
                </a:solidFill>
                <a:latin typeface="Cambria" pitchFamily="34" charset="0"/>
                <a:ea typeface="Cambria" pitchFamily="34" charset="-122"/>
                <a:cs typeface="Cambria" pitchFamily="34" charset="-120"/>
              </a:rPr>
              <a:t>El valor agregado paga tributos solo si la mercancía se queda definitivamente en el Perú. Si el producto compensador se trae con el fin de volver a exportarlo, no paga tributos: en ese caso ingresa bajo el régimen de Admisión Temporal.</a:t>
            </a:r>
            <a:endParaRPr lang="en-US" sz="1300"/>
          </a:p>
        </p:txBody>
      </p:sp>
      <p:sp>
        <p:nvSpPr>
          <p:cNvPr id="26" name="Text 24"/>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La base imponible es 39,870.00 y no 84,870.00: la diferencia es el valor de la plata peruana, que no vuelve a tributar.</a:t>
            </a:r>
            <a:endParaRPr lang="en-US" sz="950"/>
          </a:p>
        </p:txBody>
      </p:sp>
      <p:sp>
        <p:nvSpPr>
          <p:cNvPr id="27" name="Text 25"/>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NICOLÁS CASTRO</a:t>
            </a:r>
            <a:endParaRPr lang="en-US" sz="850"/>
          </a:p>
        </p:txBody>
      </p:sp>
      <p:sp>
        <p:nvSpPr>
          <p:cNvPr id="28" name="Text 26"/>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25</a:t>
            </a:r>
            <a:endParaRPr lang="en-US" sz="95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7A3B69"/>
                </a:solidFill>
                <a:latin typeface="Cambria" pitchFamily="34" charset="0"/>
                <a:ea typeface="Cambria" pitchFamily="34" charset="-122"/>
                <a:cs typeface="Cambria" pitchFamily="34" charset="-120"/>
              </a:rPr>
              <a:t>CASO 3</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Liquidación de los tributos</a:t>
            </a:r>
            <a:endParaRPr lang="en-US" sz="300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840480">
                  <a:extLst>
                    <a:ext uri="{9D8B030D-6E8A-4147-A177-3AD203B41FA5}">
                      <a16:colId xmlns:a16="http://schemas.microsoft.com/office/drawing/2014/main" val="20000"/>
                    </a:ext>
                  </a:extLst>
                </a:gridCol>
                <a:gridCol w="4602175">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429768">
                <a:tc>
                  <a:txBody>
                    <a:bodyPr/>
                    <a:lstStyle/>
                    <a:p>
                      <a:pPr marL="0" indent="0" algn="l">
                        <a:buNone/>
                      </a:pPr>
                      <a:r>
                        <a:rPr lang="en-US" sz="1200" b="1">
                          <a:solidFill>
                            <a:srgbClr val="FFFFFF"/>
                          </a:solidFill>
                          <a:latin typeface="Century Schoolbook" pitchFamily="34" charset="0"/>
                          <a:ea typeface="Century Schoolbook" pitchFamily="34" charset="-122"/>
                          <a:cs typeface="Century Schoolbook" pitchFamily="34" charset="-120"/>
                        </a:rPr>
                        <a:t>Concepto</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tc>
                  <a:txBody>
                    <a:bodyPr/>
                    <a:lstStyle/>
                    <a:p>
                      <a:pPr marL="0" indent="0" algn="l">
                        <a:buNone/>
                      </a:pPr>
                      <a:r>
                        <a:rPr lang="en-US" sz="1200" b="1">
                          <a:solidFill>
                            <a:srgbClr val="FFFFFF"/>
                          </a:solidFill>
                          <a:latin typeface="Century Schoolbook" pitchFamily="34" charset="0"/>
                          <a:ea typeface="Century Schoolbook" pitchFamily="34" charset="-122"/>
                          <a:cs typeface="Century Schoolbook" pitchFamily="34" charset="-120"/>
                        </a:rPr>
                        <a:t>Cálculo</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tc>
                  <a:txBody>
                    <a:bodyPr/>
                    <a:lstStyle/>
                    <a:p>
                      <a:pPr marL="0" indent="0" algn="r">
                        <a:buNone/>
                      </a:pPr>
                      <a:r>
                        <a:rPr lang="en-US" sz="1200" b="1">
                          <a:solidFill>
                            <a:srgbClr val="FFFFFF"/>
                          </a:solidFill>
                          <a:latin typeface="Century Schoolbook" pitchFamily="34" charset="0"/>
                          <a:ea typeface="Century Schoolbook" pitchFamily="34" charset="-122"/>
                          <a:cs typeface="Century Schoolbook" pitchFamily="34" charset="-120"/>
                        </a:rPr>
                        <a:t>Monto US$</a:t>
                      </a:r>
                      <a:endParaRPr lang="en-US" sz="1200">
                        <a:latin typeface="Century Schoolbook" charset="0"/>
                        <a:ea typeface="Century Schoolbook" charset="0"/>
                        <a:cs typeface="Century Schoolbook"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29768">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Base imponible</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38,000.00 + 1,500.00 + 370.00</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b="1">
                          <a:solidFill>
                            <a:srgbClr val="7A3B69"/>
                          </a:solidFill>
                          <a:latin typeface="Cambria" pitchFamily="34" charset="0"/>
                          <a:ea typeface="Cambria" pitchFamily="34" charset="-122"/>
                          <a:cs typeface="Cambria" pitchFamily="34" charset="-120"/>
                        </a:rPr>
                        <a:t>39,870.00</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Ad Valorem  11%</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39,870.00 × 11%</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r">
                        <a:buNone/>
                      </a:pPr>
                      <a:r>
                        <a:rPr lang="en-US" sz="1250" b="1">
                          <a:solidFill>
                            <a:srgbClr val="12212F"/>
                          </a:solidFill>
                          <a:latin typeface="Cambria" pitchFamily="34" charset="0"/>
                          <a:ea typeface="Cambria" pitchFamily="34" charset="-122"/>
                          <a:cs typeface="Cambria" pitchFamily="34" charset="-120"/>
                        </a:rPr>
                        <a:t>4,385.70</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extLst>
                  <a:ext uri="{0D108BD9-81ED-4DB2-BD59-A6C34878D82A}">
                    <a16:rowId xmlns:a16="http://schemas.microsoft.com/office/drawing/2014/main" val="10002"/>
                  </a:ext>
                </a:extLst>
              </a:tr>
              <a:tr h="429768">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Base IGV + IPM</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39,870.00 + 4,385.70</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a:solidFill>
                            <a:srgbClr val="12212F"/>
                          </a:solidFill>
                          <a:latin typeface="Cambria" pitchFamily="34" charset="0"/>
                          <a:ea typeface="Cambria" pitchFamily="34" charset="-122"/>
                          <a:cs typeface="Cambria" pitchFamily="34" charset="-120"/>
                        </a:rPr>
                        <a:t>44,255.70</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IGV  15.5%</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44,255.70 × 15.5%</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tc>
                  <a:txBody>
                    <a:bodyPr/>
                    <a:lstStyle/>
                    <a:p>
                      <a:pPr marL="0" indent="0" algn="r">
                        <a:buNone/>
                      </a:pPr>
                      <a:r>
                        <a:rPr lang="en-US" sz="1250" b="1">
                          <a:solidFill>
                            <a:srgbClr val="12212F"/>
                          </a:solidFill>
                          <a:latin typeface="Cambria" pitchFamily="34" charset="0"/>
                          <a:ea typeface="Cambria" pitchFamily="34" charset="-122"/>
                          <a:cs typeface="Cambria" pitchFamily="34" charset="-120"/>
                        </a:rPr>
                        <a:t>6,859.63</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1F6F9"/>
                    </a:solidFill>
                  </a:tcPr>
                </a:tc>
                <a:extLst>
                  <a:ext uri="{0D108BD9-81ED-4DB2-BD59-A6C34878D82A}">
                    <a16:rowId xmlns:a16="http://schemas.microsoft.com/office/drawing/2014/main" val="10004"/>
                  </a:ext>
                </a:extLst>
              </a:tr>
              <a:tr h="429768">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IPM  2.5%</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44,255.70 × 2.5%</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b="1">
                          <a:solidFill>
                            <a:srgbClr val="12212F"/>
                          </a:solidFill>
                          <a:latin typeface="Cambria" pitchFamily="34" charset="0"/>
                          <a:ea typeface="Cambria" pitchFamily="34" charset="-122"/>
                          <a:cs typeface="Cambria" pitchFamily="34" charset="-120"/>
                        </a:rPr>
                        <a:t>1,106.39</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lgn="l">
                        <a:buNone/>
                      </a:pPr>
                      <a:r>
                        <a:rPr lang="en-US" sz="1250" b="1">
                          <a:solidFill>
                            <a:srgbClr val="12212F"/>
                          </a:solidFill>
                          <a:latin typeface="Cambria" pitchFamily="34" charset="0"/>
                          <a:ea typeface="Cambria" pitchFamily="34" charset="-122"/>
                          <a:cs typeface="Cambria" pitchFamily="34" charset="-120"/>
                        </a:rPr>
                        <a:t>Deuda tributaria aduanera</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4,385.70 + 6,859.63 + 1,106.39</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r">
                        <a:buNone/>
                      </a:pPr>
                      <a:r>
                        <a:rPr lang="en-US" sz="1250" b="1">
                          <a:solidFill>
                            <a:srgbClr val="12212F"/>
                          </a:solidFill>
                          <a:latin typeface="Cambria" pitchFamily="34" charset="0"/>
                          <a:ea typeface="Cambria" pitchFamily="34" charset="-122"/>
                          <a:cs typeface="Cambria" pitchFamily="34" charset="-120"/>
                        </a:rPr>
                        <a:t>12,351.72</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6"/>
                  </a:ext>
                </a:extLst>
              </a:tr>
              <a:tr h="429768">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Percepción del IGV  3.5%</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(39,870.00 + 12,351.72) × 3.5%</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tc>
                  <a:txBody>
                    <a:bodyPr/>
                    <a:lstStyle/>
                    <a:p>
                      <a:pPr marL="0" indent="0" algn="r">
                        <a:buNone/>
                      </a:pPr>
                      <a:r>
                        <a:rPr lang="en-US" sz="1250">
                          <a:solidFill>
                            <a:srgbClr val="12212F"/>
                          </a:solidFill>
                          <a:latin typeface="Cambria" pitchFamily="34" charset="0"/>
                          <a:ea typeface="Cambria" pitchFamily="34" charset="-122"/>
                          <a:cs typeface="Cambria" pitchFamily="34" charset="-120"/>
                        </a:rPr>
                        <a:t>1,827.76</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9768">
                <a:tc>
                  <a:txBody>
                    <a:bodyPr/>
                    <a:lstStyle/>
                    <a:p>
                      <a:pPr marL="0" indent="0" algn="l">
                        <a:buNone/>
                      </a:pPr>
                      <a:r>
                        <a:rPr lang="en-US" sz="1250" b="1">
                          <a:solidFill>
                            <a:srgbClr val="12212F"/>
                          </a:solidFill>
                          <a:latin typeface="Cambria" pitchFamily="34" charset="0"/>
                          <a:ea typeface="Cambria" pitchFamily="34" charset="-122"/>
                          <a:cs typeface="Cambria" pitchFamily="34" charset="-120"/>
                        </a:rPr>
                        <a:t>TOTAL A PAGAR</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l">
                        <a:buNone/>
                      </a:pPr>
                      <a:r>
                        <a:rPr lang="en-US" sz="1250">
                          <a:solidFill>
                            <a:srgbClr val="12212F"/>
                          </a:solidFill>
                          <a:latin typeface="Cambria" pitchFamily="34" charset="0"/>
                          <a:ea typeface="Cambria" pitchFamily="34" charset="-122"/>
                          <a:cs typeface="Cambria" pitchFamily="34" charset="-120"/>
                        </a:rPr>
                        <a:t>12,351.72 + 1,827.76</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tc>
                  <a:txBody>
                    <a:bodyPr/>
                    <a:lstStyle/>
                    <a:p>
                      <a:pPr marL="0" indent="0" algn="r">
                        <a:buNone/>
                      </a:pPr>
                      <a:r>
                        <a:rPr lang="en-US" sz="1250" b="1">
                          <a:solidFill>
                            <a:srgbClr val="A63A50"/>
                          </a:solidFill>
                          <a:latin typeface="Cambria" pitchFamily="34" charset="0"/>
                          <a:ea typeface="Cambria" pitchFamily="34" charset="-122"/>
                          <a:cs typeface="Cambria" pitchFamily="34" charset="-120"/>
                        </a:rPr>
                        <a:t>14,179.48</a:t>
                      </a:r>
                      <a:endParaRPr lang="en-US" sz="1250">
                        <a:latin typeface="Cambria" charset="0"/>
                        <a:ea typeface="Cambria" charset="0"/>
                        <a:cs typeface="Cambria" charset="0"/>
                      </a:endParaRPr>
                    </a:p>
                  </a:txBody>
                  <a:tcPr marL="88900" marR="88900" marT="50800" marB="50800" anchor="ctr">
                    <a:lnL w="9525" cap="flat" cmpd="sng" algn="ctr">
                      <a:solidFill>
                        <a:srgbClr val="C9D8E2"/>
                      </a:solidFill>
                      <a:prstDash val="solid"/>
                      <a:round/>
                      <a:headEnd type="none" w="med" len="med"/>
                      <a:tailEnd type="none" w="med" len="med"/>
                    </a:lnL>
                    <a:lnR w="9525" cap="flat" cmpd="sng" algn="ctr">
                      <a:solidFill>
                        <a:srgbClr val="C9D8E2"/>
                      </a:solidFill>
                      <a:prstDash val="solid"/>
                      <a:round/>
                      <a:headEnd type="none" w="med" len="med"/>
                      <a:tailEnd type="none" w="med" len="med"/>
                    </a:lnR>
                    <a:lnT w="9525" cap="flat" cmpd="sng" algn="ctr">
                      <a:solidFill>
                        <a:srgbClr val="C9D8E2"/>
                      </a:solidFill>
                      <a:prstDash val="solid"/>
                      <a:round/>
                      <a:headEnd type="none" w="med" len="med"/>
                      <a:tailEnd type="none" w="med" len="med"/>
                    </a:lnT>
                    <a:lnB w="9525" cap="flat" cmpd="sng" algn="ctr">
                      <a:solidFill>
                        <a:srgbClr val="C9D8E2"/>
                      </a:solidFill>
                      <a:prstDash val="solid"/>
                      <a:round/>
                      <a:headEnd type="none" w="med" len="med"/>
                      <a:tailEnd type="none" w="med" len="med"/>
                    </a:lnB>
                    <a:solidFill>
                      <a:srgbClr val="E4EDF3"/>
                    </a:solidFill>
                  </a:tcPr>
                </a:tc>
                <a:extLst>
                  <a:ext uri="{0D108BD9-81ED-4DB2-BD59-A6C34878D82A}">
                    <a16:rowId xmlns:a16="http://schemas.microsoft.com/office/drawing/2014/main" val="10008"/>
                  </a:ext>
                </a:extLst>
              </a:tr>
            </a:tbl>
          </a:graphicData>
        </a:graphic>
      </p:graphicFrame>
      <p:sp>
        <p:nvSpPr>
          <p:cNvPr id="5" name="Shape 2"/>
          <p:cNvSpPr/>
          <p:nvPr/>
        </p:nvSpPr>
        <p:spPr>
          <a:xfrm>
            <a:off x="548640" y="5349240"/>
            <a:ext cx="11094415" cy="685800"/>
          </a:xfrm>
          <a:prstGeom prst="roundRect">
            <a:avLst>
              <a:gd name="adj" fmla="val 8000"/>
            </a:avLst>
          </a:prstGeom>
          <a:solidFill>
            <a:srgbClr val="FFFFFF"/>
          </a:solidFill>
          <a:ln w="12700">
            <a:solidFill>
              <a:srgbClr val="C9D8E2"/>
            </a:solidFill>
            <a:prstDash val="solid"/>
          </a:ln>
        </p:spPr>
        <p:txBody>
          <a:bodyPr/>
          <a:lstStyle/>
          <a:p>
            <a:endParaRPr lang="es-PE"/>
          </a:p>
        </p:txBody>
      </p:sp>
      <p:sp>
        <p:nvSpPr>
          <p:cNvPr id="6" name="Text 3"/>
          <p:cNvSpPr/>
          <p:nvPr/>
        </p:nvSpPr>
        <p:spPr>
          <a:xfrm>
            <a:off x="868680" y="5468112"/>
            <a:ext cx="10454335" cy="457200"/>
          </a:xfrm>
          <a:prstGeom prst="rect">
            <a:avLst/>
          </a:prstGeom>
          <a:noFill/>
          <a:ln/>
        </p:spPr>
        <p:txBody>
          <a:bodyPr wrap="square" lIns="0" tIns="0" rIns="0" bIns="0" rtlCol="0" anchor="ctr"/>
          <a:lstStyle/>
          <a:p>
            <a:pPr marL="0" indent="0">
              <a:buNone/>
            </a:pPr>
            <a:r>
              <a:rPr lang="en-US" sz="1250">
                <a:solidFill>
                  <a:srgbClr val="12212F"/>
                </a:solidFill>
                <a:latin typeface="Cambria" pitchFamily="34" charset="0"/>
                <a:ea typeface="Cambria" pitchFamily="34" charset="-122"/>
                <a:cs typeface="Cambria" pitchFamily="34" charset="-120"/>
              </a:rPr>
              <a:t>La percepción del IGV no es un tributo: es un pago adelantado que la empresa aplicará contra su IGV de ventas. El costo tributario real de la operación es la deuda aduanera de US$ 12,351.72.</a:t>
            </a:r>
            <a:endParaRPr lang="en-US" sz="1250"/>
          </a:p>
        </p:txBody>
      </p:sp>
      <p:sp>
        <p:nvSpPr>
          <p:cNvPr id="7" name="Text 4"/>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Caso 3 · Exportación Temporal para Perfeccionamiento Pasivo</a:t>
            </a:r>
            <a:endParaRPr lang="en-US" sz="950"/>
          </a:p>
        </p:txBody>
      </p:sp>
      <p:sp>
        <p:nvSpPr>
          <p:cNvPr id="8" name="Text 5"/>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NICOLÁS CASTRO</a:t>
            </a:r>
            <a:endParaRPr lang="en-US" sz="850"/>
          </a:p>
        </p:txBody>
      </p:sp>
      <p:sp>
        <p:nvSpPr>
          <p:cNvPr id="9" name="Text 6"/>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26</a:t>
            </a:r>
            <a:endParaRPr lang="en-US" sz="95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7A3B69"/>
                </a:solidFill>
                <a:latin typeface="Cambria" pitchFamily="34" charset="0"/>
                <a:ea typeface="Cambria" pitchFamily="34" charset="-122"/>
                <a:cs typeface="Cambria" pitchFamily="34" charset="-120"/>
              </a:rPr>
              <a:t>CASO 3</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Qué habría pasado sin el régimen</a:t>
            </a:r>
            <a:endParaRPr lang="en-US" sz="3000"/>
          </a:p>
        </p:txBody>
      </p:sp>
      <p:sp>
        <p:nvSpPr>
          <p:cNvPr id="4" name="Shape 2"/>
          <p:cNvSpPr/>
          <p:nvPr/>
        </p:nvSpPr>
        <p:spPr>
          <a:xfrm>
            <a:off x="548640" y="1554480"/>
            <a:ext cx="5440680" cy="3017520"/>
          </a:xfrm>
          <a:prstGeom prst="roundRect">
            <a:avLst>
              <a:gd name="adj" fmla="val 1818"/>
            </a:avLst>
          </a:prstGeom>
          <a:solidFill>
            <a:srgbClr val="F1F6F9"/>
          </a:solidFill>
          <a:ln w="12700">
            <a:solidFill>
              <a:srgbClr val="C9D8E2"/>
            </a:solidFill>
            <a:prstDash val="solid"/>
          </a:ln>
        </p:spPr>
        <p:txBody>
          <a:bodyPr/>
          <a:lstStyle/>
          <a:p>
            <a:endParaRPr lang="es-PE"/>
          </a:p>
        </p:txBody>
      </p:sp>
      <p:sp>
        <p:nvSpPr>
          <p:cNvPr id="5" name="Text 3"/>
          <p:cNvSpPr/>
          <p:nvPr/>
        </p:nvSpPr>
        <p:spPr>
          <a:xfrm>
            <a:off x="841248" y="1783080"/>
            <a:ext cx="4846320" cy="292608"/>
          </a:xfrm>
          <a:prstGeom prst="rect">
            <a:avLst/>
          </a:prstGeom>
          <a:noFill/>
          <a:ln/>
        </p:spPr>
        <p:txBody>
          <a:bodyPr wrap="square" lIns="0" tIns="0" rIns="0" bIns="0" rtlCol="0" anchor="ctr"/>
          <a:lstStyle/>
          <a:p>
            <a:pPr marL="0" indent="0">
              <a:buNone/>
            </a:pPr>
            <a:r>
              <a:rPr lang="en-US" sz="1500" b="1">
                <a:solidFill>
                  <a:srgbClr val="44586A"/>
                </a:solidFill>
                <a:latin typeface="Century Schoolbook" pitchFamily="34" charset="0"/>
                <a:ea typeface="Century Schoolbook" pitchFamily="34" charset="-122"/>
                <a:cs typeface="Century Schoolbook" pitchFamily="34" charset="-120"/>
              </a:rPr>
              <a:t>IMPORTACIÓN ORDINARIA</a:t>
            </a:r>
            <a:endParaRPr lang="en-US" sz="1500"/>
          </a:p>
        </p:txBody>
      </p:sp>
      <p:sp>
        <p:nvSpPr>
          <p:cNvPr id="6" name="Text 4"/>
          <p:cNvSpPr/>
          <p:nvPr/>
        </p:nvSpPr>
        <p:spPr>
          <a:xfrm>
            <a:off x="841248" y="2121408"/>
            <a:ext cx="4892040" cy="777240"/>
          </a:xfrm>
          <a:prstGeom prst="rect">
            <a:avLst/>
          </a:prstGeom>
          <a:noFill/>
          <a:ln/>
        </p:spPr>
        <p:txBody>
          <a:bodyPr wrap="square" lIns="0" tIns="0" rIns="0" bIns="0" rtlCol="0" anchor="ctr"/>
          <a:lstStyle/>
          <a:p>
            <a:pPr marL="0" indent="0">
              <a:lnSpc>
                <a:spcPts val="1500"/>
              </a:lnSpc>
              <a:buNone/>
            </a:pPr>
            <a:r>
              <a:rPr lang="en-US" sz="1200">
                <a:solidFill>
                  <a:srgbClr val="12212F"/>
                </a:solidFill>
                <a:latin typeface="Cambria" pitchFamily="34" charset="0"/>
                <a:ea typeface="Cambria" pitchFamily="34" charset="-122"/>
                <a:cs typeface="Cambria" pitchFamily="34" charset="-120"/>
              </a:rPr>
              <a:t>Si las 8,000 piezas se hubieran importado como mercancía extranjera común, la base habría incluido también el valor de la plata.</a:t>
            </a:r>
            <a:endParaRPr lang="en-US" sz="1200"/>
          </a:p>
        </p:txBody>
      </p:sp>
      <p:sp>
        <p:nvSpPr>
          <p:cNvPr id="7" name="Text 5"/>
          <p:cNvSpPr/>
          <p:nvPr/>
        </p:nvSpPr>
        <p:spPr>
          <a:xfrm>
            <a:off x="841248" y="2971800"/>
            <a:ext cx="3017520" cy="329184"/>
          </a:xfrm>
          <a:prstGeom prst="rect">
            <a:avLst/>
          </a:prstGeom>
          <a:noFill/>
          <a:ln/>
        </p:spPr>
        <p:txBody>
          <a:bodyPr wrap="square" lIns="0" tIns="0" rIns="0" bIns="0" rtlCol="0" anchor="ctr"/>
          <a:lstStyle/>
          <a:p>
            <a:pPr marL="0" indent="0">
              <a:buNone/>
            </a:pPr>
            <a:r>
              <a:rPr lang="en-US" sz="1250">
                <a:solidFill>
                  <a:srgbClr val="12212F"/>
                </a:solidFill>
                <a:latin typeface="Cambria" pitchFamily="34" charset="0"/>
                <a:ea typeface="Cambria" pitchFamily="34" charset="-122"/>
                <a:cs typeface="Cambria" pitchFamily="34" charset="-120"/>
              </a:rPr>
              <a:t>Base imponible</a:t>
            </a:r>
            <a:endParaRPr lang="en-US" sz="1250"/>
          </a:p>
        </p:txBody>
      </p:sp>
      <p:sp>
        <p:nvSpPr>
          <p:cNvPr id="8" name="Text 6"/>
          <p:cNvSpPr/>
          <p:nvPr/>
        </p:nvSpPr>
        <p:spPr>
          <a:xfrm>
            <a:off x="3840480" y="2971800"/>
            <a:ext cx="1892808" cy="329184"/>
          </a:xfrm>
          <a:prstGeom prst="rect">
            <a:avLst/>
          </a:prstGeom>
          <a:noFill/>
          <a:ln/>
        </p:spPr>
        <p:txBody>
          <a:bodyPr wrap="square" lIns="0" tIns="0" rIns="0" bIns="0" rtlCol="0" anchor="ctr"/>
          <a:lstStyle/>
          <a:p>
            <a:pPr marL="0" indent="0" algn="r">
              <a:buNone/>
            </a:pPr>
            <a:r>
              <a:rPr lang="en-US" sz="1300" b="1">
                <a:solidFill>
                  <a:srgbClr val="12212F"/>
                </a:solidFill>
                <a:latin typeface="Cambria" pitchFamily="34" charset="0"/>
                <a:ea typeface="Cambria" pitchFamily="34" charset="-122"/>
                <a:cs typeface="Cambria" pitchFamily="34" charset="-120"/>
              </a:rPr>
              <a:t>US$ 84,870.00</a:t>
            </a:r>
            <a:endParaRPr lang="en-US" sz="1300"/>
          </a:p>
        </p:txBody>
      </p:sp>
      <p:sp>
        <p:nvSpPr>
          <p:cNvPr id="9" name="Text 7"/>
          <p:cNvSpPr/>
          <p:nvPr/>
        </p:nvSpPr>
        <p:spPr>
          <a:xfrm>
            <a:off x="841248" y="3364992"/>
            <a:ext cx="3017520" cy="329184"/>
          </a:xfrm>
          <a:prstGeom prst="rect">
            <a:avLst/>
          </a:prstGeom>
          <a:noFill/>
          <a:ln/>
        </p:spPr>
        <p:txBody>
          <a:bodyPr wrap="square" lIns="0" tIns="0" rIns="0" bIns="0" rtlCol="0" anchor="ctr"/>
          <a:lstStyle/>
          <a:p>
            <a:pPr marL="0" indent="0">
              <a:buNone/>
            </a:pPr>
            <a:r>
              <a:rPr lang="en-US" sz="1250">
                <a:solidFill>
                  <a:srgbClr val="12212F"/>
                </a:solidFill>
                <a:latin typeface="Cambria" pitchFamily="34" charset="0"/>
                <a:ea typeface="Cambria" pitchFamily="34" charset="-122"/>
                <a:cs typeface="Cambria" pitchFamily="34" charset="-120"/>
              </a:rPr>
              <a:t>Deuda tributaria aduanera</a:t>
            </a:r>
            <a:endParaRPr lang="en-US" sz="1250"/>
          </a:p>
        </p:txBody>
      </p:sp>
      <p:sp>
        <p:nvSpPr>
          <p:cNvPr id="10" name="Text 8"/>
          <p:cNvSpPr/>
          <p:nvPr/>
        </p:nvSpPr>
        <p:spPr>
          <a:xfrm>
            <a:off x="3840480" y="3364992"/>
            <a:ext cx="1892808" cy="329184"/>
          </a:xfrm>
          <a:prstGeom prst="rect">
            <a:avLst/>
          </a:prstGeom>
          <a:noFill/>
          <a:ln/>
        </p:spPr>
        <p:txBody>
          <a:bodyPr wrap="square" lIns="0" tIns="0" rIns="0" bIns="0" rtlCol="0" anchor="ctr"/>
          <a:lstStyle/>
          <a:p>
            <a:pPr marL="0" indent="0" algn="r">
              <a:buNone/>
            </a:pPr>
            <a:r>
              <a:rPr lang="en-US" sz="1600" b="1">
                <a:solidFill>
                  <a:srgbClr val="A63A50"/>
                </a:solidFill>
                <a:latin typeface="Century Schoolbook" pitchFamily="34" charset="0"/>
                <a:ea typeface="Century Schoolbook" pitchFamily="34" charset="-122"/>
                <a:cs typeface="Century Schoolbook" pitchFamily="34" charset="-120"/>
              </a:rPr>
              <a:t>US$ 26,292.72</a:t>
            </a:r>
            <a:endParaRPr lang="en-US" sz="1600"/>
          </a:p>
        </p:txBody>
      </p:sp>
      <p:sp>
        <p:nvSpPr>
          <p:cNvPr id="11" name="Text 9"/>
          <p:cNvSpPr/>
          <p:nvPr/>
        </p:nvSpPr>
        <p:spPr>
          <a:xfrm>
            <a:off x="841248" y="3794760"/>
            <a:ext cx="4892040" cy="640080"/>
          </a:xfrm>
          <a:prstGeom prst="rect">
            <a:avLst/>
          </a:prstGeom>
          <a:noFill/>
          <a:ln/>
        </p:spPr>
        <p:txBody>
          <a:bodyPr wrap="square" lIns="0" tIns="0" rIns="0" bIns="0" rtlCol="0" anchor="ctr"/>
          <a:lstStyle/>
          <a:p>
            <a:pPr marL="0" indent="0">
              <a:lnSpc>
                <a:spcPts val="1400"/>
              </a:lnSpc>
              <a:buNone/>
            </a:pPr>
            <a:r>
              <a:rPr lang="en-US" sz="1150" i="1">
                <a:solidFill>
                  <a:srgbClr val="44586A"/>
                </a:solidFill>
                <a:latin typeface="Cambria" pitchFamily="34" charset="0"/>
                <a:ea typeface="Cambria" pitchFamily="34" charset="-122"/>
                <a:cs typeface="Cambria" pitchFamily="34" charset="-120"/>
              </a:rPr>
              <a:t>Incluye los US$ 45,000.00 de plata peruana que ya había salido del país.</a:t>
            </a:r>
            <a:endParaRPr lang="en-US" sz="1150"/>
          </a:p>
        </p:txBody>
      </p:sp>
      <p:sp>
        <p:nvSpPr>
          <p:cNvPr id="12" name="Shape 10"/>
          <p:cNvSpPr/>
          <p:nvPr/>
        </p:nvSpPr>
        <p:spPr>
          <a:xfrm>
            <a:off x="6190488" y="1554480"/>
            <a:ext cx="5440680" cy="3017520"/>
          </a:xfrm>
          <a:prstGeom prst="roundRect">
            <a:avLst>
              <a:gd name="adj" fmla="val 1818"/>
            </a:avLst>
          </a:prstGeom>
          <a:solidFill>
            <a:srgbClr val="FFFFFF"/>
          </a:solidFill>
          <a:ln w="12700">
            <a:solidFill>
              <a:srgbClr val="7A3B69"/>
            </a:solidFill>
            <a:prstDash val="solid"/>
          </a:ln>
        </p:spPr>
        <p:txBody>
          <a:bodyPr/>
          <a:lstStyle/>
          <a:p>
            <a:endParaRPr lang="es-PE"/>
          </a:p>
        </p:txBody>
      </p:sp>
      <p:sp>
        <p:nvSpPr>
          <p:cNvPr id="13" name="Text 11"/>
          <p:cNvSpPr/>
          <p:nvPr/>
        </p:nvSpPr>
        <p:spPr>
          <a:xfrm>
            <a:off x="6483096" y="1783080"/>
            <a:ext cx="4846320" cy="292608"/>
          </a:xfrm>
          <a:prstGeom prst="rect">
            <a:avLst/>
          </a:prstGeom>
          <a:noFill/>
          <a:ln/>
        </p:spPr>
        <p:txBody>
          <a:bodyPr wrap="square" lIns="0" tIns="0" rIns="0" bIns="0" rtlCol="0" anchor="ctr"/>
          <a:lstStyle/>
          <a:p>
            <a:pPr marL="0" indent="0">
              <a:buNone/>
            </a:pPr>
            <a:r>
              <a:rPr lang="en-US" sz="1500" b="1">
                <a:solidFill>
                  <a:srgbClr val="7A3B69"/>
                </a:solidFill>
                <a:latin typeface="Century Schoolbook" pitchFamily="34" charset="0"/>
                <a:ea typeface="Century Schoolbook" pitchFamily="34" charset="-122"/>
                <a:cs typeface="Century Schoolbook" pitchFamily="34" charset="-120"/>
              </a:rPr>
              <a:t>PERFECCIONAMIENTO PASIVO</a:t>
            </a:r>
            <a:endParaRPr lang="en-US" sz="1500"/>
          </a:p>
        </p:txBody>
      </p:sp>
      <p:sp>
        <p:nvSpPr>
          <p:cNvPr id="14" name="Text 12"/>
          <p:cNvSpPr/>
          <p:nvPr/>
        </p:nvSpPr>
        <p:spPr>
          <a:xfrm>
            <a:off x="6483096" y="2121408"/>
            <a:ext cx="4892040" cy="777240"/>
          </a:xfrm>
          <a:prstGeom prst="rect">
            <a:avLst/>
          </a:prstGeom>
          <a:noFill/>
          <a:ln/>
        </p:spPr>
        <p:txBody>
          <a:bodyPr wrap="square" lIns="0" tIns="0" rIns="0" bIns="0" rtlCol="0" anchor="ctr"/>
          <a:lstStyle/>
          <a:p>
            <a:pPr marL="0" indent="0">
              <a:lnSpc>
                <a:spcPts val="1500"/>
              </a:lnSpc>
              <a:buNone/>
            </a:pPr>
            <a:r>
              <a:rPr lang="en-US" sz="1200">
                <a:solidFill>
                  <a:srgbClr val="12212F"/>
                </a:solidFill>
                <a:latin typeface="Cambria" pitchFamily="34" charset="0"/>
                <a:ea typeface="Cambria" pitchFamily="34" charset="-122"/>
                <a:cs typeface="Cambria" pitchFamily="34" charset="-120"/>
              </a:rPr>
              <a:t>Al acogerse al régimen, la base se reduce al valor agregado en Italia más los fletes y seguros de ida y retorno.</a:t>
            </a:r>
            <a:endParaRPr lang="en-US" sz="1200"/>
          </a:p>
        </p:txBody>
      </p:sp>
      <p:sp>
        <p:nvSpPr>
          <p:cNvPr id="15" name="Text 13"/>
          <p:cNvSpPr/>
          <p:nvPr/>
        </p:nvSpPr>
        <p:spPr>
          <a:xfrm>
            <a:off x="6483096" y="2971800"/>
            <a:ext cx="3017520" cy="329184"/>
          </a:xfrm>
          <a:prstGeom prst="rect">
            <a:avLst/>
          </a:prstGeom>
          <a:noFill/>
          <a:ln/>
        </p:spPr>
        <p:txBody>
          <a:bodyPr wrap="square" lIns="0" tIns="0" rIns="0" bIns="0" rtlCol="0" anchor="ctr"/>
          <a:lstStyle/>
          <a:p>
            <a:pPr marL="0" indent="0">
              <a:buNone/>
            </a:pPr>
            <a:r>
              <a:rPr lang="en-US" sz="1250">
                <a:solidFill>
                  <a:srgbClr val="12212F"/>
                </a:solidFill>
                <a:latin typeface="Cambria" pitchFamily="34" charset="0"/>
                <a:ea typeface="Cambria" pitchFamily="34" charset="-122"/>
                <a:cs typeface="Cambria" pitchFamily="34" charset="-120"/>
              </a:rPr>
              <a:t>Base imponible</a:t>
            </a:r>
            <a:endParaRPr lang="en-US" sz="1250"/>
          </a:p>
        </p:txBody>
      </p:sp>
      <p:sp>
        <p:nvSpPr>
          <p:cNvPr id="16" name="Text 14"/>
          <p:cNvSpPr/>
          <p:nvPr/>
        </p:nvSpPr>
        <p:spPr>
          <a:xfrm>
            <a:off x="9482328" y="2971800"/>
            <a:ext cx="1892808" cy="329184"/>
          </a:xfrm>
          <a:prstGeom prst="rect">
            <a:avLst/>
          </a:prstGeom>
          <a:noFill/>
          <a:ln/>
        </p:spPr>
        <p:txBody>
          <a:bodyPr wrap="square" lIns="0" tIns="0" rIns="0" bIns="0" rtlCol="0" anchor="ctr"/>
          <a:lstStyle/>
          <a:p>
            <a:pPr marL="0" indent="0" algn="r">
              <a:buNone/>
            </a:pPr>
            <a:r>
              <a:rPr lang="en-US" sz="1300" b="1">
                <a:solidFill>
                  <a:srgbClr val="12212F"/>
                </a:solidFill>
                <a:latin typeface="Cambria" pitchFamily="34" charset="0"/>
                <a:ea typeface="Cambria" pitchFamily="34" charset="-122"/>
                <a:cs typeface="Cambria" pitchFamily="34" charset="-120"/>
              </a:rPr>
              <a:t>US$ 39,870.00</a:t>
            </a:r>
            <a:endParaRPr lang="en-US" sz="1300"/>
          </a:p>
        </p:txBody>
      </p:sp>
      <p:sp>
        <p:nvSpPr>
          <p:cNvPr id="17" name="Text 15"/>
          <p:cNvSpPr/>
          <p:nvPr/>
        </p:nvSpPr>
        <p:spPr>
          <a:xfrm>
            <a:off x="6483096" y="3364992"/>
            <a:ext cx="3017520" cy="329184"/>
          </a:xfrm>
          <a:prstGeom prst="rect">
            <a:avLst/>
          </a:prstGeom>
          <a:noFill/>
          <a:ln/>
        </p:spPr>
        <p:txBody>
          <a:bodyPr wrap="square" lIns="0" tIns="0" rIns="0" bIns="0" rtlCol="0" anchor="ctr"/>
          <a:lstStyle/>
          <a:p>
            <a:pPr marL="0" indent="0">
              <a:buNone/>
            </a:pPr>
            <a:r>
              <a:rPr lang="en-US" sz="1250">
                <a:solidFill>
                  <a:srgbClr val="12212F"/>
                </a:solidFill>
                <a:latin typeface="Cambria" pitchFamily="34" charset="0"/>
                <a:ea typeface="Cambria" pitchFamily="34" charset="-122"/>
                <a:cs typeface="Cambria" pitchFamily="34" charset="-120"/>
              </a:rPr>
              <a:t>Deuda tributaria aduanera</a:t>
            </a:r>
            <a:endParaRPr lang="en-US" sz="1250"/>
          </a:p>
        </p:txBody>
      </p:sp>
      <p:sp>
        <p:nvSpPr>
          <p:cNvPr id="18" name="Text 16"/>
          <p:cNvSpPr/>
          <p:nvPr/>
        </p:nvSpPr>
        <p:spPr>
          <a:xfrm>
            <a:off x="9482328" y="3364992"/>
            <a:ext cx="1892808" cy="329184"/>
          </a:xfrm>
          <a:prstGeom prst="rect">
            <a:avLst/>
          </a:prstGeom>
          <a:noFill/>
          <a:ln/>
        </p:spPr>
        <p:txBody>
          <a:bodyPr wrap="square" lIns="0" tIns="0" rIns="0" bIns="0" rtlCol="0" anchor="ctr"/>
          <a:lstStyle/>
          <a:p>
            <a:pPr marL="0" indent="0" algn="r">
              <a:buNone/>
            </a:pPr>
            <a:r>
              <a:rPr lang="en-US" sz="1600" b="1">
                <a:solidFill>
                  <a:srgbClr val="7A3B69"/>
                </a:solidFill>
                <a:latin typeface="Century Schoolbook" pitchFamily="34" charset="0"/>
                <a:ea typeface="Century Schoolbook" pitchFamily="34" charset="-122"/>
                <a:cs typeface="Century Schoolbook" pitchFamily="34" charset="-120"/>
              </a:rPr>
              <a:t>US$ 12,351.72</a:t>
            </a:r>
            <a:endParaRPr lang="en-US" sz="1600"/>
          </a:p>
        </p:txBody>
      </p:sp>
      <p:sp>
        <p:nvSpPr>
          <p:cNvPr id="19" name="Text 17"/>
          <p:cNvSpPr/>
          <p:nvPr/>
        </p:nvSpPr>
        <p:spPr>
          <a:xfrm>
            <a:off x="6483096" y="3794760"/>
            <a:ext cx="4892040" cy="640080"/>
          </a:xfrm>
          <a:prstGeom prst="rect">
            <a:avLst/>
          </a:prstGeom>
          <a:noFill/>
          <a:ln/>
        </p:spPr>
        <p:txBody>
          <a:bodyPr wrap="square" lIns="0" tIns="0" rIns="0" bIns="0" rtlCol="0" anchor="ctr"/>
          <a:lstStyle/>
          <a:p>
            <a:pPr marL="0" indent="0">
              <a:lnSpc>
                <a:spcPts val="1400"/>
              </a:lnSpc>
              <a:buNone/>
            </a:pPr>
            <a:r>
              <a:rPr lang="en-US" sz="1150" i="1">
                <a:solidFill>
                  <a:srgbClr val="44586A"/>
                </a:solidFill>
                <a:latin typeface="Cambria" pitchFamily="34" charset="0"/>
                <a:ea typeface="Cambria" pitchFamily="34" charset="-122"/>
                <a:cs typeface="Cambria" pitchFamily="34" charset="-120"/>
              </a:rPr>
              <a:t>Solo se tributa por lo que el taller italiano efectivamente agregó.</a:t>
            </a:r>
            <a:endParaRPr lang="en-US" sz="1150"/>
          </a:p>
        </p:txBody>
      </p:sp>
      <p:sp>
        <p:nvSpPr>
          <p:cNvPr id="20" name="Shape 18"/>
          <p:cNvSpPr/>
          <p:nvPr/>
        </p:nvSpPr>
        <p:spPr>
          <a:xfrm>
            <a:off x="548640" y="4800600"/>
            <a:ext cx="11094415" cy="1188720"/>
          </a:xfrm>
          <a:prstGeom prst="roundRect">
            <a:avLst>
              <a:gd name="adj" fmla="val 4615"/>
            </a:avLst>
          </a:prstGeom>
          <a:solidFill>
            <a:srgbClr val="E4EDF3"/>
          </a:solidFill>
          <a:ln w="12700">
            <a:solidFill>
              <a:srgbClr val="7A3B69"/>
            </a:solidFill>
            <a:prstDash val="solid"/>
          </a:ln>
        </p:spPr>
        <p:txBody>
          <a:bodyPr/>
          <a:lstStyle/>
          <a:p>
            <a:endParaRPr lang="es-PE"/>
          </a:p>
        </p:txBody>
      </p:sp>
      <p:sp>
        <p:nvSpPr>
          <p:cNvPr id="21" name="Text 19"/>
          <p:cNvSpPr/>
          <p:nvPr/>
        </p:nvSpPr>
        <p:spPr>
          <a:xfrm>
            <a:off x="914400" y="4983480"/>
            <a:ext cx="5029200" cy="274320"/>
          </a:xfrm>
          <a:prstGeom prst="rect">
            <a:avLst/>
          </a:prstGeom>
          <a:noFill/>
          <a:ln/>
        </p:spPr>
        <p:txBody>
          <a:bodyPr wrap="square" lIns="0" tIns="0" rIns="0" bIns="0" rtlCol="0" anchor="ctr"/>
          <a:lstStyle/>
          <a:p>
            <a:pPr marL="0" indent="0">
              <a:buNone/>
            </a:pPr>
            <a:r>
              <a:rPr lang="en-US" sz="1000" b="1" kern="0" spc="120">
                <a:solidFill>
                  <a:srgbClr val="44586A"/>
                </a:solidFill>
                <a:latin typeface="Cambria" pitchFamily="34" charset="0"/>
                <a:ea typeface="Cambria" pitchFamily="34" charset="-122"/>
                <a:cs typeface="Cambria" pitchFamily="34" charset="-120"/>
              </a:rPr>
              <a:t>DIFERENCIA A FAVOR DE LA EMPRESA</a:t>
            </a:r>
            <a:endParaRPr lang="en-US" sz="1000"/>
          </a:p>
        </p:txBody>
      </p:sp>
      <p:sp>
        <p:nvSpPr>
          <p:cNvPr id="22" name="Text 20"/>
          <p:cNvSpPr/>
          <p:nvPr/>
        </p:nvSpPr>
        <p:spPr>
          <a:xfrm>
            <a:off x="914400" y="5257800"/>
            <a:ext cx="3108960" cy="502920"/>
          </a:xfrm>
          <a:prstGeom prst="rect">
            <a:avLst/>
          </a:prstGeom>
          <a:noFill/>
          <a:ln/>
        </p:spPr>
        <p:txBody>
          <a:bodyPr wrap="square" lIns="0" tIns="0" rIns="0" bIns="0" rtlCol="0" anchor="ctr"/>
          <a:lstStyle/>
          <a:p>
            <a:pPr marL="0" indent="0">
              <a:buNone/>
            </a:pPr>
            <a:r>
              <a:rPr lang="en-US" sz="2600" b="1">
                <a:solidFill>
                  <a:srgbClr val="7A3B69"/>
                </a:solidFill>
                <a:latin typeface="Century Schoolbook" pitchFamily="34" charset="0"/>
                <a:ea typeface="Century Schoolbook" pitchFamily="34" charset="-122"/>
                <a:cs typeface="Century Schoolbook" pitchFamily="34" charset="-120"/>
              </a:rPr>
              <a:t>US$ 13,941.00</a:t>
            </a:r>
            <a:endParaRPr lang="en-US" sz="2600"/>
          </a:p>
        </p:txBody>
      </p:sp>
      <p:sp>
        <p:nvSpPr>
          <p:cNvPr id="23" name="Text 21"/>
          <p:cNvSpPr/>
          <p:nvPr/>
        </p:nvSpPr>
        <p:spPr>
          <a:xfrm>
            <a:off x="4297680" y="5029200"/>
            <a:ext cx="6949440" cy="777240"/>
          </a:xfrm>
          <a:prstGeom prst="rect">
            <a:avLst/>
          </a:prstGeom>
          <a:noFill/>
          <a:ln/>
        </p:spPr>
        <p:txBody>
          <a:bodyPr wrap="square" lIns="0" tIns="0" rIns="0" bIns="0" rtlCol="0" anchor="ctr"/>
          <a:lstStyle/>
          <a:p>
            <a:pPr marL="0" indent="0">
              <a:lnSpc>
                <a:spcPts val="1600"/>
              </a:lnSpc>
              <a:buNone/>
            </a:pPr>
            <a:r>
              <a:rPr lang="en-US" sz="1250">
                <a:solidFill>
                  <a:srgbClr val="12212F"/>
                </a:solidFill>
                <a:latin typeface="Cambria" pitchFamily="34" charset="0"/>
                <a:ea typeface="Cambria" pitchFamily="34" charset="-122"/>
                <a:cs typeface="Cambria" pitchFamily="34" charset="-120"/>
              </a:rPr>
              <a:t>Es el efecto de no volver a tributar por una materia prima que ya era peruana. Esto es lo que hace financieramente viable combinar insumo nacional con manufactura especializada en el extranjero.</a:t>
            </a:r>
            <a:endParaRPr lang="en-US" sz="1250"/>
          </a:p>
        </p:txBody>
      </p:sp>
      <p:sp>
        <p:nvSpPr>
          <p:cNvPr id="24" name="Text 22"/>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Comparación referencial, calculada con las mismas tasas: Ad Valorem 11%, IGV 15.5% e IPM 2.5%.</a:t>
            </a:r>
            <a:endParaRPr lang="en-US" sz="950"/>
          </a:p>
        </p:txBody>
      </p:sp>
      <p:sp>
        <p:nvSpPr>
          <p:cNvPr id="25" name="Text 23"/>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NICOLÁS CASTRO</a:t>
            </a:r>
            <a:endParaRPr lang="en-US" sz="850"/>
          </a:p>
        </p:txBody>
      </p:sp>
      <p:sp>
        <p:nvSpPr>
          <p:cNvPr id="26" name="Text 24"/>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27</a:t>
            </a:r>
            <a:endParaRPr lang="en-US" sz="95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094415" cy="274320"/>
          </a:xfrm>
          <a:prstGeom prst="rect">
            <a:avLst/>
          </a:prstGeom>
          <a:noFill/>
          <a:ln/>
        </p:spPr>
        <p:txBody>
          <a:bodyPr wrap="square" lIns="0" tIns="0" rIns="0" bIns="0" rtlCol="0" anchor="ctr"/>
          <a:lstStyle/>
          <a:p>
            <a:pPr marL="0" indent="0" algn="l">
              <a:buNone/>
            </a:pPr>
            <a:r>
              <a:rPr lang="en-US" sz="1200" b="1" kern="0" spc="160">
                <a:solidFill>
                  <a:srgbClr val="7A3B69"/>
                </a:solidFill>
                <a:latin typeface="Cambria" pitchFamily="34" charset="0"/>
                <a:ea typeface="Cambria" pitchFamily="34" charset="-122"/>
                <a:cs typeface="Cambria" pitchFamily="34" charset="-120"/>
              </a:rPr>
              <a:t>CASO 3</a:t>
            </a:r>
            <a:endParaRPr lang="en-US" sz="1200"/>
          </a:p>
        </p:txBody>
      </p:sp>
      <p:sp>
        <p:nvSpPr>
          <p:cNvPr id="3" name="Text 1"/>
          <p:cNvSpPr/>
          <p:nvPr/>
        </p:nvSpPr>
        <p:spPr>
          <a:xfrm>
            <a:off x="548640" y="603504"/>
            <a:ext cx="11094415" cy="658368"/>
          </a:xfrm>
          <a:prstGeom prst="rect">
            <a:avLst/>
          </a:prstGeom>
          <a:noFill/>
          <a:ln/>
        </p:spPr>
        <p:txBody>
          <a:bodyPr wrap="square" lIns="0" tIns="0" rIns="0" bIns="0" rtlCol="0" anchor="ctr"/>
          <a:lstStyle/>
          <a:p>
            <a:pPr marL="0" indent="0" algn="l">
              <a:buNone/>
            </a:pPr>
            <a:r>
              <a:rPr lang="en-US" sz="3000" b="1">
                <a:solidFill>
                  <a:srgbClr val="12212F"/>
                </a:solidFill>
                <a:latin typeface="Century Schoolbook" pitchFamily="34" charset="0"/>
                <a:ea typeface="Century Schoolbook" pitchFamily="34" charset="-122"/>
                <a:cs typeface="Century Schoolbook" pitchFamily="34" charset="-120"/>
              </a:rPr>
              <a:t>Conclusión</a:t>
            </a:r>
            <a:endParaRPr lang="en-US" sz="3000"/>
          </a:p>
        </p:txBody>
      </p:sp>
      <p:sp>
        <p:nvSpPr>
          <p:cNvPr id="4" name="Shape 2"/>
          <p:cNvSpPr/>
          <p:nvPr/>
        </p:nvSpPr>
        <p:spPr>
          <a:xfrm>
            <a:off x="548640" y="1554480"/>
            <a:ext cx="11094415" cy="1417320"/>
          </a:xfrm>
          <a:prstGeom prst="roundRect">
            <a:avLst>
              <a:gd name="adj" fmla="val 3871"/>
            </a:avLst>
          </a:prstGeom>
          <a:solidFill>
            <a:srgbClr val="FFFFFF"/>
          </a:solidFill>
          <a:ln w="12700">
            <a:solidFill>
              <a:srgbClr val="7A3B69"/>
            </a:solidFill>
            <a:prstDash val="solid"/>
          </a:ln>
        </p:spPr>
        <p:txBody>
          <a:bodyPr/>
          <a:lstStyle/>
          <a:p>
            <a:endParaRPr lang="es-PE"/>
          </a:p>
        </p:txBody>
      </p:sp>
      <p:sp>
        <p:nvSpPr>
          <p:cNvPr id="5" name="Text 3"/>
          <p:cNvSpPr/>
          <p:nvPr/>
        </p:nvSpPr>
        <p:spPr>
          <a:xfrm>
            <a:off x="914400" y="1783080"/>
            <a:ext cx="10362895" cy="1005840"/>
          </a:xfrm>
          <a:prstGeom prst="rect">
            <a:avLst/>
          </a:prstGeom>
          <a:noFill/>
          <a:ln/>
        </p:spPr>
        <p:txBody>
          <a:bodyPr wrap="square" lIns="0" tIns="0" rIns="0" bIns="0" rtlCol="0" anchor="ctr"/>
          <a:lstStyle/>
          <a:p>
            <a:pPr marL="0" indent="0">
              <a:lnSpc>
                <a:spcPts val="1900"/>
              </a:lnSpc>
              <a:buNone/>
            </a:pPr>
            <a:r>
              <a:rPr lang="en-US" sz="1400">
                <a:solidFill>
                  <a:srgbClr val="12212F"/>
                </a:solidFill>
                <a:latin typeface="Cambria" pitchFamily="34" charset="0"/>
                <a:ea typeface="Cambria" pitchFamily="34" charset="-122"/>
                <a:cs typeface="Cambria" pitchFamily="34" charset="-120"/>
              </a:rPr>
              <a:t>Joyas del Inca reimporta sus 8,000 piezas pagando tributos únicamente sobre US$ 39,870.00 (el valor agregado más la logística de ida y retorno) en lugar de hacerlo sobre el valor comercial total de las piezas terminadas.</a:t>
            </a:r>
            <a:endParaRPr lang="en-US" sz="1400"/>
          </a:p>
        </p:txBody>
      </p:sp>
      <p:sp>
        <p:nvSpPr>
          <p:cNvPr id="6" name="Shape 4"/>
          <p:cNvSpPr/>
          <p:nvPr/>
        </p:nvSpPr>
        <p:spPr>
          <a:xfrm>
            <a:off x="548640" y="3200400"/>
            <a:ext cx="3520440" cy="2148840"/>
          </a:xfrm>
          <a:prstGeom prst="roundRect">
            <a:avLst>
              <a:gd name="adj" fmla="val 2553"/>
            </a:avLst>
          </a:prstGeom>
          <a:solidFill>
            <a:srgbClr val="F1F6F9"/>
          </a:solidFill>
          <a:ln w="12700">
            <a:solidFill>
              <a:srgbClr val="C9D8E2"/>
            </a:solidFill>
            <a:prstDash val="solid"/>
          </a:ln>
        </p:spPr>
        <p:txBody>
          <a:bodyPr/>
          <a:lstStyle/>
          <a:p>
            <a:endParaRPr lang="es-PE"/>
          </a:p>
        </p:txBody>
      </p:sp>
      <p:sp>
        <p:nvSpPr>
          <p:cNvPr id="7" name="Shape 5"/>
          <p:cNvSpPr/>
          <p:nvPr/>
        </p:nvSpPr>
        <p:spPr>
          <a:xfrm>
            <a:off x="822960" y="2944368"/>
            <a:ext cx="512064" cy="512064"/>
          </a:xfrm>
          <a:prstGeom prst="ellipse">
            <a:avLst/>
          </a:prstGeom>
          <a:solidFill>
            <a:srgbClr val="7A3B69"/>
          </a:solidFill>
          <a:ln w="12700">
            <a:solidFill>
              <a:srgbClr val="7A3B69"/>
            </a:solidFill>
            <a:prstDash val="solid"/>
          </a:ln>
        </p:spPr>
        <p:txBody>
          <a:bodyPr/>
          <a:lstStyle/>
          <a:p>
            <a:endParaRPr lang="es-PE"/>
          </a:p>
        </p:txBody>
      </p:sp>
      <p:sp>
        <p:nvSpPr>
          <p:cNvPr id="8" name="Text 6"/>
          <p:cNvSpPr/>
          <p:nvPr/>
        </p:nvSpPr>
        <p:spPr>
          <a:xfrm>
            <a:off x="822960" y="2944368"/>
            <a:ext cx="512064" cy="512064"/>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1</a:t>
            </a:r>
            <a:endParaRPr lang="en-US" sz="1400"/>
          </a:p>
        </p:txBody>
      </p:sp>
      <p:sp>
        <p:nvSpPr>
          <p:cNvPr id="9" name="Text 7"/>
          <p:cNvSpPr/>
          <p:nvPr/>
        </p:nvSpPr>
        <p:spPr>
          <a:xfrm>
            <a:off x="768096" y="3584448"/>
            <a:ext cx="3108960" cy="347472"/>
          </a:xfrm>
          <a:prstGeom prst="rect">
            <a:avLst/>
          </a:prstGeom>
          <a:noFill/>
          <a:ln/>
        </p:spPr>
        <p:txBody>
          <a:bodyPr wrap="square" lIns="0" tIns="0" rIns="0" bIns="0" rtlCol="0" anchor="ctr"/>
          <a:lstStyle/>
          <a:p>
            <a:pPr marL="0" indent="0">
              <a:buNone/>
            </a:pPr>
            <a:r>
              <a:rPr lang="en-US" sz="1450" b="1">
                <a:solidFill>
                  <a:srgbClr val="7A3B69"/>
                </a:solidFill>
                <a:latin typeface="Century Schoolbook" pitchFamily="34" charset="0"/>
                <a:ea typeface="Century Schoolbook" pitchFamily="34" charset="-122"/>
                <a:cs typeface="Century Schoolbook" pitchFamily="34" charset="-120"/>
              </a:rPr>
              <a:t>El plazo</a:t>
            </a:r>
            <a:endParaRPr lang="en-US" sz="1450"/>
          </a:p>
        </p:txBody>
      </p:sp>
      <p:sp>
        <p:nvSpPr>
          <p:cNvPr id="10" name="Text 8"/>
          <p:cNvSpPr/>
          <p:nvPr/>
        </p:nvSpPr>
        <p:spPr>
          <a:xfrm>
            <a:off x="768096" y="3950208"/>
            <a:ext cx="3127248" cy="1280160"/>
          </a:xfrm>
          <a:prstGeom prst="rect">
            <a:avLst/>
          </a:prstGeom>
          <a:noFill/>
          <a:ln/>
        </p:spPr>
        <p:txBody>
          <a:bodyPr wrap="square" lIns="0" tIns="0" rIns="0" bIns="0" rtlCol="0" anchor="ctr"/>
          <a:lstStyle/>
          <a:p>
            <a:pPr marL="0" indent="0">
              <a:lnSpc>
                <a:spcPts val="1500"/>
              </a:lnSpc>
              <a:buNone/>
            </a:pPr>
            <a:r>
              <a:rPr lang="en-US" sz="1150">
                <a:solidFill>
                  <a:srgbClr val="12212F"/>
                </a:solidFill>
                <a:latin typeface="Cambria" pitchFamily="34" charset="0"/>
                <a:ea typeface="Cambria" pitchFamily="34" charset="-122"/>
                <a:cs typeface="Cambria" pitchFamily="34" charset="-120"/>
              </a:rPr>
              <a:t>12 meses desde el término del embarque, ampliable por la Aduana a solicitud del interesado en casos debidamente justificados. En este caso el retorno ocurrió a los 22 días.</a:t>
            </a:r>
            <a:endParaRPr lang="en-US" sz="1150"/>
          </a:p>
        </p:txBody>
      </p:sp>
      <p:sp>
        <p:nvSpPr>
          <p:cNvPr id="11" name="Shape 9"/>
          <p:cNvSpPr/>
          <p:nvPr/>
        </p:nvSpPr>
        <p:spPr>
          <a:xfrm>
            <a:off x="4325112" y="3200400"/>
            <a:ext cx="3520440" cy="2148840"/>
          </a:xfrm>
          <a:prstGeom prst="roundRect">
            <a:avLst>
              <a:gd name="adj" fmla="val 2553"/>
            </a:avLst>
          </a:prstGeom>
          <a:solidFill>
            <a:srgbClr val="FFFFFF"/>
          </a:solidFill>
          <a:ln w="12700">
            <a:solidFill>
              <a:srgbClr val="C9D8E2"/>
            </a:solidFill>
            <a:prstDash val="solid"/>
          </a:ln>
        </p:spPr>
        <p:txBody>
          <a:bodyPr/>
          <a:lstStyle/>
          <a:p>
            <a:endParaRPr lang="es-PE"/>
          </a:p>
        </p:txBody>
      </p:sp>
      <p:sp>
        <p:nvSpPr>
          <p:cNvPr id="12" name="Shape 10"/>
          <p:cNvSpPr/>
          <p:nvPr/>
        </p:nvSpPr>
        <p:spPr>
          <a:xfrm>
            <a:off x="4599432" y="2944368"/>
            <a:ext cx="512064" cy="512064"/>
          </a:xfrm>
          <a:prstGeom prst="ellipse">
            <a:avLst/>
          </a:prstGeom>
          <a:solidFill>
            <a:srgbClr val="7A3B69"/>
          </a:solidFill>
          <a:ln w="12700">
            <a:solidFill>
              <a:srgbClr val="7A3B69"/>
            </a:solidFill>
            <a:prstDash val="solid"/>
          </a:ln>
        </p:spPr>
        <p:txBody>
          <a:bodyPr/>
          <a:lstStyle/>
          <a:p>
            <a:endParaRPr lang="es-PE"/>
          </a:p>
        </p:txBody>
      </p:sp>
      <p:sp>
        <p:nvSpPr>
          <p:cNvPr id="13" name="Text 11"/>
          <p:cNvSpPr/>
          <p:nvPr/>
        </p:nvSpPr>
        <p:spPr>
          <a:xfrm>
            <a:off x="4599432" y="2944368"/>
            <a:ext cx="512064" cy="512064"/>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2</a:t>
            </a:r>
            <a:endParaRPr lang="en-US" sz="1400"/>
          </a:p>
        </p:txBody>
      </p:sp>
      <p:sp>
        <p:nvSpPr>
          <p:cNvPr id="14" name="Text 12"/>
          <p:cNvSpPr/>
          <p:nvPr/>
        </p:nvSpPr>
        <p:spPr>
          <a:xfrm>
            <a:off x="4544568" y="3584448"/>
            <a:ext cx="3108960" cy="347472"/>
          </a:xfrm>
          <a:prstGeom prst="rect">
            <a:avLst/>
          </a:prstGeom>
          <a:noFill/>
          <a:ln/>
        </p:spPr>
        <p:txBody>
          <a:bodyPr wrap="square" lIns="0" tIns="0" rIns="0" bIns="0" rtlCol="0" anchor="ctr"/>
          <a:lstStyle/>
          <a:p>
            <a:pPr marL="0" indent="0">
              <a:buNone/>
            </a:pPr>
            <a:r>
              <a:rPr lang="en-US" sz="1450" b="1">
                <a:solidFill>
                  <a:srgbClr val="7A3B69"/>
                </a:solidFill>
                <a:latin typeface="Century Schoolbook" pitchFamily="34" charset="0"/>
                <a:ea typeface="Century Schoolbook" pitchFamily="34" charset="-122"/>
                <a:cs typeface="Century Schoolbook" pitchFamily="34" charset="-120"/>
              </a:rPr>
              <a:t>La prueba del valor agregado</a:t>
            </a:r>
            <a:endParaRPr lang="en-US" sz="1450"/>
          </a:p>
        </p:txBody>
      </p:sp>
      <p:sp>
        <p:nvSpPr>
          <p:cNvPr id="15" name="Text 13"/>
          <p:cNvSpPr/>
          <p:nvPr/>
        </p:nvSpPr>
        <p:spPr>
          <a:xfrm>
            <a:off x="4544568" y="3950208"/>
            <a:ext cx="3127248" cy="1280160"/>
          </a:xfrm>
          <a:prstGeom prst="rect">
            <a:avLst/>
          </a:prstGeom>
          <a:noFill/>
          <a:ln/>
        </p:spPr>
        <p:txBody>
          <a:bodyPr wrap="square" lIns="0" tIns="0" rIns="0" bIns="0" rtlCol="0" anchor="ctr"/>
          <a:lstStyle/>
          <a:p>
            <a:pPr marL="0" indent="0">
              <a:lnSpc>
                <a:spcPts val="1500"/>
              </a:lnSpc>
              <a:buNone/>
            </a:pPr>
            <a:r>
              <a:rPr lang="en-US" sz="1150">
                <a:solidFill>
                  <a:srgbClr val="12212F"/>
                </a:solidFill>
                <a:latin typeface="Cambria" pitchFamily="34" charset="0"/>
                <a:ea typeface="Cambria" pitchFamily="34" charset="-122"/>
                <a:cs typeface="Cambria" pitchFamily="34" charset="-120"/>
              </a:rPr>
              <a:t>La factura del taller extranjero es el documento que sostiene toda la liquidación. Sin ella no hay forma de acreditar cuánto se agregó, y la Aduana tributaría sobre el valor total.</a:t>
            </a:r>
            <a:endParaRPr lang="en-US" sz="1150"/>
          </a:p>
        </p:txBody>
      </p:sp>
      <p:sp>
        <p:nvSpPr>
          <p:cNvPr id="16" name="Shape 14"/>
          <p:cNvSpPr/>
          <p:nvPr/>
        </p:nvSpPr>
        <p:spPr>
          <a:xfrm>
            <a:off x="8101584" y="3200400"/>
            <a:ext cx="3520440" cy="2148840"/>
          </a:xfrm>
          <a:prstGeom prst="roundRect">
            <a:avLst>
              <a:gd name="adj" fmla="val 2553"/>
            </a:avLst>
          </a:prstGeom>
          <a:solidFill>
            <a:srgbClr val="F1F6F9"/>
          </a:solidFill>
          <a:ln w="12700">
            <a:solidFill>
              <a:srgbClr val="C9D8E2"/>
            </a:solidFill>
            <a:prstDash val="solid"/>
          </a:ln>
        </p:spPr>
        <p:txBody>
          <a:bodyPr/>
          <a:lstStyle/>
          <a:p>
            <a:endParaRPr lang="es-PE"/>
          </a:p>
        </p:txBody>
      </p:sp>
      <p:sp>
        <p:nvSpPr>
          <p:cNvPr id="17" name="Shape 15"/>
          <p:cNvSpPr/>
          <p:nvPr/>
        </p:nvSpPr>
        <p:spPr>
          <a:xfrm>
            <a:off x="8375904" y="2944368"/>
            <a:ext cx="512064" cy="512064"/>
          </a:xfrm>
          <a:prstGeom prst="ellipse">
            <a:avLst/>
          </a:prstGeom>
          <a:solidFill>
            <a:srgbClr val="7A3B69"/>
          </a:solidFill>
          <a:ln w="12700">
            <a:solidFill>
              <a:srgbClr val="7A3B69"/>
            </a:solidFill>
            <a:prstDash val="solid"/>
          </a:ln>
        </p:spPr>
        <p:txBody>
          <a:bodyPr/>
          <a:lstStyle/>
          <a:p>
            <a:endParaRPr lang="es-PE"/>
          </a:p>
        </p:txBody>
      </p:sp>
      <p:sp>
        <p:nvSpPr>
          <p:cNvPr id="18" name="Text 16"/>
          <p:cNvSpPr/>
          <p:nvPr/>
        </p:nvSpPr>
        <p:spPr>
          <a:xfrm>
            <a:off x="8375904" y="2944368"/>
            <a:ext cx="512064" cy="512064"/>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3</a:t>
            </a:r>
            <a:endParaRPr lang="en-US" sz="1400"/>
          </a:p>
        </p:txBody>
      </p:sp>
      <p:sp>
        <p:nvSpPr>
          <p:cNvPr id="19" name="Text 17"/>
          <p:cNvSpPr/>
          <p:nvPr/>
        </p:nvSpPr>
        <p:spPr>
          <a:xfrm>
            <a:off x="8321040" y="3584448"/>
            <a:ext cx="3108960" cy="347472"/>
          </a:xfrm>
          <a:prstGeom prst="rect">
            <a:avLst/>
          </a:prstGeom>
          <a:noFill/>
          <a:ln/>
        </p:spPr>
        <p:txBody>
          <a:bodyPr wrap="square" lIns="0" tIns="0" rIns="0" bIns="0" rtlCol="0" anchor="ctr"/>
          <a:lstStyle/>
          <a:p>
            <a:pPr marL="0" indent="0">
              <a:buNone/>
            </a:pPr>
            <a:r>
              <a:rPr lang="en-US" sz="1450" b="1">
                <a:solidFill>
                  <a:srgbClr val="7A3B69"/>
                </a:solidFill>
                <a:latin typeface="Century Schoolbook" pitchFamily="34" charset="0"/>
                <a:ea typeface="Century Schoolbook" pitchFamily="34" charset="-122"/>
                <a:cs typeface="Century Schoolbook" pitchFamily="34" charset="-120"/>
              </a:rPr>
              <a:t>Si no se nacionaliza</a:t>
            </a:r>
            <a:endParaRPr lang="en-US" sz="1450"/>
          </a:p>
        </p:txBody>
      </p:sp>
      <p:sp>
        <p:nvSpPr>
          <p:cNvPr id="20" name="Text 18"/>
          <p:cNvSpPr/>
          <p:nvPr/>
        </p:nvSpPr>
        <p:spPr>
          <a:xfrm>
            <a:off x="8321040" y="3950208"/>
            <a:ext cx="3127248" cy="1280160"/>
          </a:xfrm>
          <a:prstGeom prst="rect">
            <a:avLst/>
          </a:prstGeom>
          <a:noFill/>
          <a:ln/>
        </p:spPr>
        <p:txBody>
          <a:bodyPr wrap="square" lIns="0" tIns="0" rIns="0" bIns="0" rtlCol="0" anchor="ctr"/>
          <a:lstStyle/>
          <a:p>
            <a:pPr marL="0" indent="0">
              <a:lnSpc>
                <a:spcPts val="1500"/>
              </a:lnSpc>
              <a:buNone/>
            </a:pPr>
            <a:r>
              <a:rPr lang="en-US" sz="1150">
                <a:solidFill>
                  <a:srgbClr val="12212F"/>
                </a:solidFill>
                <a:latin typeface="Cambria" pitchFamily="34" charset="0"/>
                <a:ea typeface="Cambria" pitchFamily="34" charset="-122"/>
                <a:cs typeface="Cambria" pitchFamily="34" charset="-120"/>
              </a:rPr>
              <a:t>Si el producto compensador se trae para volver a exportarlo, no paga tributos: ingresa bajo Admisión Temporal. El destino final de la mercancía define el tratamiento.</a:t>
            </a:r>
            <a:endParaRPr lang="en-US" sz="1150"/>
          </a:p>
        </p:txBody>
      </p:sp>
      <p:sp>
        <p:nvSpPr>
          <p:cNvPr id="21" name="Text 19"/>
          <p:cNvSpPr/>
          <p:nvPr/>
        </p:nvSpPr>
        <p:spPr>
          <a:xfrm>
            <a:off x="548640" y="6400800"/>
            <a:ext cx="8259775" cy="256032"/>
          </a:xfrm>
          <a:prstGeom prst="rect">
            <a:avLst/>
          </a:prstGeom>
          <a:noFill/>
          <a:ln/>
        </p:spPr>
        <p:txBody>
          <a:bodyPr wrap="square" lIns="0" tIns="0" rIns="0" bIns="0" rtlCol="0" anchor="ctr"/>
          <a:lstStyle/>
          <a:p>
            <a:pPr marL="0" indent="0" algn="l">
              <a:buNone/>
            </a:pPr>
            <a:r>
              <a:rPr lang="en-US" sz="950">
                <a:solidFill>
                  <a:srgbClr val="44586A"/>
                </a:solidFill>
                <a:latin typeface="Cambria" pitchFamily="34" charset="0"/>
                <a:ea typeface="Cambria" pitchFamily="34" charset="-122"/>
                <a:cs typeface="Cambria" pitchFamily="34" charset="-120"/>
              </a:rPr>
              <a:t>Caso 3 · Exportación Temporal para Perfeccionamiento Pasivo</a:t>
            </a:r>
            <a:endParaRPr lang="en-US" sz="950"/>
          </a:p>
        </p:txBody>
      </p:sp>
      <p:sp>
        <p:nvSpPr>
          <p:cNvPr id="22" name="Text 20"/>
          <p:cNvSpPr/>
          <p:nvPr/>
        </p:nvSpPr>
        <p:spPr>
          <a:xfrm>
            <a:off x="9082735" y="6400800"/>
            <a:ext cx="1737360" cy="256032"/>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NICOLÁS CASTRO</a:t>
            </a:r>
            <a:endParaRPr lang="en-US" sz="850"/>
          </a:p>
        </p:txBody>
      </p:sp>
      <p:sp>
        <p:nvSpPr>
          <p:cNvPr id="23" name="Text 21"/>
          <p:cNvSpPr/>
          <p:nvPr/>
        </p:nvSpPr>
        <p:spPr>
          <a:xfrm>
            <a:off x="10911535" y="6400800"/>
            <a:ext cx="731520" cy="256032"/>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28</a:t>
            </a:r>
            <a:endParaRPr lang="en-US" sz="95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4EDF3"/>
        </a:solidFill>
        <a:effectLst/>
      </p:bgPr>
    </p:bg>
    <p:spTree>
      <p:nvGrpSpPr>
        <p:cNvPr id="1" name=""/>
        <p:cNvGrpSpPr/>
        <p:nvPr/>
      </p:nvGrpSpPr>
      <p:grpSpPr>
        <a:xfrm>
          <a:off x="0" y="0"/>
          <a:ext cx="0" cy="0"/>
          <a:chOff x="0" y="0"/>
          <a:chExt cx="0" cy="0"/>
        </a:xfrm>
      </p:grpSpPr>
      <p:sp>
        <p:nvSpPr>
          <p:cNvPr id="2" name="Text 0"/>
          <p:cNvSpPr/>
          <p:nvPr/>
        </p:nvSpPr>
        <p:spPr>
          <a:xfrm>
            <a:off x="548640" y="685800"/>
            <a:ext cx="11094415" cy="329184"/>
          </a:xfrm>
          <a:prstGeom prst="rect">
            <a:avLst/>
          </a:prstGeom>
          <a:noFill/>
          <a:ln/>
        </p:spPr>
        <p:txBody>
          <a:bodyPr wrap="square" lIns="0" tIns="0" rIns="0" bIns="0" rtlCol="0" anchor="ctr"/>
          <a:lstStyle/>
          <a:p>
            <a:pPr marL="0" indent="0">
              <a:buNone/>
            </a:pPr>
            <a:r>
              <a:rPr lang="en-US" sz="1300" b="1" kern="0" spc="220">
                <a:solidFill>
                  <a:srgbClr val="0B3C5D"/>
                </a:solidFill>
                <a:latin typeface="Cambria" pitchFamily="34" charset="0"/>
                <a:ea typeface="Cambria" pitchFamily="34" charset="-122"/>
                <a:cs typeface="Cambria" pitchFamily="34" charset="-120"/>
              </a:rPr>
              <a:t>CONCLUSIONES</a:t>
            </a:r>
            <a:endParaRPr lang="en-US" sz="1300"/>
          </a:p>
        </p:txBody>
      </p:sp>
      <p:sp>
        <p:nvSpPr>
          <p:cNvPr id="3" name="Text 1"/>
          <p:cNvSpPr/>
          <p:nvPr/>
        </p:nvSpPr>
        <p:spPr>
          <a:xfrm>
            <a:off x="548640" y="1005840"/>
            <a:ext cx="11094415" cy="685800"/>
          </a:xfrm>
          <a:prstGeom prst="rect">
            <a:avLst/>
          </a:prstGeom>
          <a:noFill/>
          <a:ln/>
        </p:spPr>
        <p:txBody>
          <a:bodyPr wrap="square" lIns="0" tIns="0" rIns="0" bIns="0" rtlCol="0" anchor="ctr"/>
          <a:lstStyle/>
          <a:p>
            <a:pPr marL="0" indent="0">
              <a:buNone/>
            </a:pPr>
            <a:r>
              <a:rPr lang="en-US" sz="3200" b="1">
                <a:solidFill>
                  <a:srgbClr val="12212F"/>
                </a:solidFill>
                <a:latin typeface="Century Schoolbook" pitchFamily="34" charset="0"/>
                <a:ea typeface="Century Schoolbook" pitchFamily="34" charset="-122"/>
                <a:cs typeface="Century Schoolbook" pitchFamily="34" charset="-120"/>
              </a:rPr>
              <a:t>Un mismo principio, tres soluciones distintas</a:t>
            </a:r>
            <a:endParaRPr lang="en-US" sz="3200"/>
          </a:p>
        </p:txBody>
      </p:sp>
      <p:sp>
        <p:nvSpPr>
          <p:cNvPr id="4" name="Shape 2"/>
          <p:cNvSpPr/>
          <p:nvPr/>
        </p:nvSpPr>
        <p:spPr>
          <a:xfrm>
            <a:off x="548640" y="1965960"/>
            <a:ext cx="3520440" cy="2286000"/>
          </a:xfrm>
          <a:prstGeom prst="roundRect">
            <a:avLst>
              <a:gd name="adj" fmla="val 2400"/>
            </a:avLst>
          </a:prstGeom>
          <a:solidFill>
            <a:srgbClr val="FFFFFF"/>
          </a:solidFill>
          <a:ln w="12700">
            <a:solidFill>
              <a:srgbClr val="C9D8E2"/>
            </a:solidFill>
            <a:prstDash val="solid"/>
          </a:ln>
        </p:spPr>
        <p:txBody>
          <a:bodyPr/>
          <a:lstStyle/>
          <a:p>
            <a:endParaRPr lang="es-PE"/>
          </a:p>
        </p:txBody>
      </p:sp>
      <p:sp>
        <p:nvSpPr>
          <p:cNvPr id="5" name="Shape 3"/>
          <p:cNvSpPr/>
          <p:nvPr/>
        </p:nvSpPr>
        <p:spPr>
          <a:xfrm>
            <a:off x="822960" y="1691640"/>
            <a:ext cx="548640" cy="548640"/>
          </a:xfrm>
          <a:prstGeom prst="ellipse">
            <a:avLst/>
          </a:prstGeom>
          <a:solidFill>
            <a:srgbClr val="1D7874"/>
          </a:solidFill>
          <a:ln w="12700">
            <a:solidFill>
              <a:srgbClr val="1D7874"/>
            </a:solidFill>
            <a:prstDash val="solid"/>
          </a:ln>
        </p:spPr>
        <p:txBody>
          <a:bodyPr/>
          <a:lstStyle/>
          <a:p>
            <a:endParaRPr lang="es-PE"/>
          </a:p>
        </p:txBody>
      </p:sp>
      <p:sp>
        <p:nvSpPr>
          <p:cNvPr id="6" name="Text 4"/>
          <p:cNvSpPr/>
          <p:nvPr/>
        </p:nvSpPr>
        <p:spPr>
          <a:xfrm>
            <a:off x="822960" y="1691640"/>
            <a:ext cx="548640" cy="548640"/>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1</a:t>
            </a:r>
            <a:endParaRPr lang="en-US" sz="1400"/>
          </a:p>
        </p:txBody>
      </p:sp>
      <p:sp>
        <p:nvSpPr>
          <p:cNvPr id="7" name="Text 5"/>
          <p:cNvSpPr/>
          <p:nvPr/>
        </p:nvSpPr>
        <p:spPr>
          <a:xfrm>
            <a:off x="768096" y="2377440"/>
            <a:ext cx="3108960" cy="384048"/>
          </a:xfrm>
          <a:prstGeom prst="rect">
            <a:avLst/>
          </a:prstGeom>
          <a:noFill/>
          <a:ln/>
        </p:spPr>
        <p:txBody>
          <a:bodyPr wrap="square" lIns="0" tIns="0" rIns="0" bIns="0" rtlCol="0" anchor="ctr"/>
          <a:lstStyle/>
          <a:p>
            <a:pPr marL="0" indent="0">
              <a:buNone/>
            </a:pPr>
            <a:r>
              <a:rPr lang="en-US" sz="1550" b="1">
                <a:solidFill>
                  <a:srgbClr val="1D7874"/>
                </a:solidFill>
                <a:latin typeface="Century Schoolbook" pitchFamily="34" charset="0"/>
                <a:ea typeface="Century Schoolbook" pitchFamily="34" charset="-122"/>
                <a:cs typeface="Century Schoolbook" pitchFamily="34" charset="-120"/>
              </a:rPr>
              <a:t>Admisión Temporal</a:t>
            </a:r>
            <a:endParaRPr lang="en-US" sz="1550"/>
          </a:p>
        </p:txBody>
      </p:sp>
      <p:sp>
        <p:nvSpPr>
          <p:cNvPr id="8" name="Text 6"/>
          <p:cNvSpPr/>
          <p:nvPr/>
        </p:nvSpPr>
        <p:spPr>
          <a:xfrm>
            <a:off x="768096" y="2770632"/>
            <a:ext cx="3127248" cy="960120"/>
          </a:xfrm>
          <a:prstGeom prst="rect">
            <a:avLst/>
          </a:prstGeom>
          <a:noFill/>
          <a:ln/>
        </p:spPr>
        <p:txBody>
          <a:bodyPr wrap="square" lIns="0" tIns="0" rIns="0" bIns="0" rtlCol="0" anchor="ctr"/>
          <a:lstStyle/>
          <a:p>
            <a:pPr marL="0" indent="0">
              <a:lnSpc>
                <a:spcPts val="1500"/>
              </a:lnSpc>
              <a:buNone/>
            </a:pPr>
            <a:r>
              <a:rPr lang="en-US" sz="1200">
                <a:solidFill>
                  <a:srgbClr val="12212F"/>
                </a:solidFill>
                <a:latin typeface="Cambria" pitchFamily="34" charset="0"/>
                <a:ea typeface="Cambria" pitchFamily="34" charset="-122"/>
                <a:cs typeface="Cambria" pitchFamily="34" charset="-120"/>
              </a:rPr>
              <a:t>Difiere la decisión. Se garantiza lo suspendido y se paga solo por lo que se decide quedarse.</a:t>
            </a:r>
            <a:endParaRPr lang="en-US" sz="1200"/>
          </a:p>
        </p:txBody>
      </p:sp>
      <p:sp>
        <p:nvSpPr>
          <p:cNvPr id="9" name="Text 7"/>
          <p:cNvSpPr/>
          <p:nvPr/>
        </p:nvSpPr>
        <p:spPr>
          <a:xfrm>
            <a:off x="768096" y="3794760"/>
            <a:ext cx="3108960" cy="274320"/>
          </a:xfrm>
          <a:prstGeom prst="rect">
            <a:avLst/>
          </a:prstGeom>
          <a:noFill/>
          <a:ln/>
        </p:spPr>
        <p:txBody>
          <a:bodyPr wrap="square" lIns="0" tIns="0" rIns="0" bIns="0" rtlCol="0" anchor="ctr"/>
          <a:lstStyle/>
          <a:p>
            <a:pPr marL="0" indent="0">
              <a:buNone/>
            </a:pPr>
            <a:r>
              <a:rPr lang="en-US" sz="950" b="1" kern="0" spc="110">
                <a:solidFill>
                  <a:srgbClr val="44586A"/>
                </a:solidFill>
                <a:latin typeface="Cambria" pitchFamily="34" charset="0"/>
                <a:ea typeface="Cambria" pitchFamily="34" charset="-122"/>
                <a:cs typeface="Cambria" pitchFamily="34" charset="-120"/>
              </a:rPr>
              <a:t>GARANTÍA RENOVABLE</a:t>
            </a:r>
            <a:endParaRPr lang="en-US" sz="950"/>
          </a:p>
        </p:txBody>
      </p:sp>
      <p:sp>
        <p:nvSpPr>
          <p:cNvPr id="10" name="Shape 8"/>
          <p:cNvSpPr/>
          <p:nvPr/>
        </p:nvSpPr>
        <p:spPr>
          <a:xfrm>
            <a:off x="4325112" y="1965960"/>
            <a:ext cx="3520440" cy="2286000"/>
          </a:xfrm>
          <a:prstGeom prst="roundRect">
            <a:avLst>
              <a:gd name="adj" fmla="val 2400"/>
            </a:avLst>
          </a:prstGeom>
          <a:solidFill>
            <a:srgbClr val="FFFFFF"/>
          </a:solidFill>
          <a:ln w="12700">
            <a:solidFill>
              <a:srgbClr val="C9D8E2"/>
            </a:solidFill>
            <a:prstDash val="solid"/>
          </a:ln>
        </p:spPr>
        <p:txBody>
          <a:bodyPr/>
          <a:lstStyle/>
          <a:p>
            <a:endParaRPr lang="es-PE"/>
          </a:p>
        </p:txBody>
      </p:sp>
      <p:sp>
        <p:nvSpPr>
          <p:cNvPr id="11" name="Shape 9"/>
          <p:cNvSpPr/>
          <p:nvPr/>
        </p:nvSpPr>
        <p:spPr>
          <a:xfrm>
            <a:off x="4599432" y="1691640"/>
            <a:ext cx="548640" cy="548640"/>
          </a:xfrm>
          <a:prstGeom prst="ellipse">
            <a:avLst/>
          </a:prstGeom>
          <a:solidFill>
            <a:srgbClr val="A65E2E"/>
          </a:solidFill>
          <a:ln w="12700">
            <a:solidFill>
              <a:srgbClr val="A65E2E"/>
            </a:solidFill>
            <a:prstDash val="solid"/>
          </a:ln>
        </p:spPr>
        <p:txBody>
          <a:bodyPr/>
          <a:lstStyle/>
          <a:p>
            <a:endParaRPr lang="es-PE"/>
          </a:p>
        </p:txBody>
      </p:sp>
      <p:sp>
        <p:nvSpPr>
          <p:cNvPr id="12" name="Text 10"/>
          <p:cNvSpPr/>
          <p:nvPr/>
        </p:nvSpPr>
        <p:spPr>
          <a:xfrm>
            <a:off x="4599432" y="1691640"/>
            <a:ext cx="548640" cy="548640"/>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2</a:t>
            </a:r>
            <a:endParaRPr lang="en-US" sz="1400"/>
          </a:p>
        </p:txBody>
      </p:sp>
      <p:sp>
        <p:nvSpPr>
          <p:cNvPr id="13" name="Text 11"/>
          <p:cNvSpPr/>
          <p:nvPr/>
        </p:nvSpPr>
        <p:spPr>
          <a:xfrm>
            <a:off x="4544568" y="2377440"/>
            <a:ext cx="3108960" cy="384048"/>
          </a:xfrm>
          <a:prstGeom prst="rect">
            <a:avLst/>
          </a:prstGeom>
          <a:noFill/>
          <a:ln/>
        </p:spPr>
        <p:txBody>
          <a:bodyPr wrap="square" lIns="0" tIns="0" rIns="0" bIns="0" rtlCol="0" anchor="ctr"/>
          <a:lstStyle/>
          <a:p>
            <a:pPr marL="0" indent="0">
              <a:buNone/>
            </a:pPr>
            <a:r>
              <a:rPr lang="en-US" sz="1550" b="1">
                <a:solidFill>
                  <a:srgbClr val="A65E2E"/>
                </a:solidFill>
                <a:latin typeface="Century Schoolbook" pitchFamily="34" charset="0"/>
                <a:ea typeface="Century Schoolbook" pitchFamily="34" charset="-122"/>
                <a:cs typeface="Century Schoolbook" pitchFamily="34" charset="-120"/>
              </a:rPr>
              <a:t>Depósito con Warrant</a:t>
            </a:r>
            <a:endParaRPr lang="en-US" sz="1550"/>
          </a:p>
        </p:txBody>
      </p:sp>
      <p:sp>
        <p:nvSpPr>
          <p:cNvPr id="14" name="Text 12"/>
          <p:cNvSpPr/>
          <p:nvPr/>
        </p:nvSpPr>
        <p:spPr>
          <a:xfrm>
            <a:off x="4544568" y="2770632"/>
            <a:ext cx="3127248" cy="960120"/>
          </a:xfrm>
          <a:prstGeom prst="rect">
            <a:avLst/>
          </a:prstGeom>
          <a:noFill/>
          <a:ln/>
        </p:spPr>
        <p:txBody>
          <a:bodyPr wrap="square" lIns="0" tIns="0" rIns="0" bIns="0" rtlCol="0" anchor="ctr"/>
          <a:lstStyle/>
          <a:p>
            <a:pPr marL="0" indent="0">
              <a:lnSpc>
                <a:spcPts val="1500"/>
              </a:lnSpc>
              <a:buNone/>
            </a:pPr>
            <a:r>
              <a:rPr lang="en-US" sz="1200">
                <a:solidFill>
                  <a:srgbClr val="12212F"/>
                </a:solidFill>
                <a:latin typeface="Cambria" pitchFamily="34" charset="0"/>
                <a:ea typeface="Cambria" pitchFamily="34" charset="-122"/>
                <a:cs typeface="Cambria" pitchFamily="34" charset="-120"/>
              </a:rPr>
              <a:t>Difiere el desembolso y aporta liquidez. Se nacionaliza por lotes conforme la venta genera caja.</a:t>
            </a:r>
            <a:endParaRPr lang="en-US" sz="1200"/>
          </a:p>
        </p:txBody>
      </p:sp>
      <p:sp>
        <p:nvSpPr>
          <p:cNvPr id="15" name="Text 13"/>
          <p:cNvSpPr/>
          <p:nvPr/>
        </p:nvSpPr>
        <p:spPr>
          <a:xfrm>
            <a:off x="4544568" y="3794760"/>
            <a:ext cx="3108960" cy="274320"/>
          </a:xfrm>
          <a:prstGeom prst="rect">
            <a:avLst/>
          </a:prstGeom>
          <a:noFill/>
          <a:ln/>
        </p:spPr>
        <p:txBody>
          <a:bodyPr wrap="square" lIns="0" tIns="0" rIns="0" bIns="0" rtlCol="0" anchor="ctr"/>
          <a:lstStyle/>
          <a:p>
            <a:pPr marL="0" indent="0">
              <a:buNone/>
            </a:pPr>
            <a:r>
              <a:rPr lang="en-US" sz="950" b="1" kern="0" spc="110">
                <a:solidFill>
                  <a:srgbClr val="44586A"/>
                </a:solidFill>
                <a:latin typeface="Cambria" pitchFamily="34" charset="0"/>
                <a:ea typeface="Cambria" pitchFamily="34" charset="-122"/>
                <a:cs typeface="Cambria" pitchFamily="34" charset="-120"/>
              </a:rPr>
              <a:t>PLAZO FIJO DE 12 MESES</a:t>
            </a:r>
            <a:endParaRPr lang="en-US" sz="950"/>
          </a:p>
        </p:txBody>
      </p:sp>
      <p:sp>
        <p:nvSpPr>
          <p:cNvPr id="16" name="Shape 14"/>
          <p:cNvSpPr/>
          <p:nvPr/>
        </p:nvSpPr>
        <p:spPr>
          <a:xfrm>
            <a:off x="8101584" y="1965960"/>
            <a:ext cx="3520440" cy="2286000"/>
          </a:xfrm>
          <a:prstGeom prst="roundRect">
            <a:avLst>
              <a:gd name="adj" fmla="val 2400"/>
            </a:avLst>
          </a:prstGeom>
          <a:solidFill>
            <a:srgbClr val="FFFFFF"/>
          </a:solidFill>
          <a:ln w="12700">
            <a:solidFill>
              <a:srgbClr val="C9D8E2"/>
            </a:solidFill>
            <a:prstDash val="solid"/>
          </a:ln>
        </p:spPr>
        <p:txBody>
          <a:bodyPr/>
          <a:lstStyle/>
          <a:p>
            <a:endParaRPr lang="es-PE"/>
          </a:p>
        </p:txBody>
      </p:sp>
      <p:sp>
        <p:nvSpPr>
          <p:cNvPr id="17" name="Shape 15"/>
          <p:cNvSpPr/>
          <p:nvPr/>
        </p:nvSpPr>
        <p:spPr>
          <a:xfrm>
            <a:off x="8375904" y="1691640"/>
            <a:ext cx="548640" cy="548640"/>
          </a:xfrm>
          <a:prstGeom prst="ellipse">
            <a:avLst/>
          </a:prstGeom>
          <a:solidFill>
            <a:srgbClr val="7A3B69"/>
          </a:solidFill>
          <a:ln w="12700">
            <a:solidFill>
              <a:srgbClr val="7A3B69"/>
            </a:solidFill>
            <a:prstDash val="solid"/>
          </a:ln>
        </p:spPr>
        <p:txBody>
          <a:bodyPr/>
          <a:lstStyle/>
          <a:p>
            <a:endParaRPr lang="es-PE"/>
          </a:p>
        </p:txBody>
      </p:sp>
      <p:sp>
        <p:nvSpPr>
          <p:cNvPr id="18" name="Text 16"/>
          <p:cNvSpPr/>
          <p:nvPr/>
        </p:nvSpPr>
        <p:spPr>
          <a:xfrm>
            <a:off x="8375904" y="1691640"/>
            <a:ext cx="548640" cy="548640"/>
          </a:xfrm>
          <a:prstGeom prst="rect">
            <a:avLst/>
          </a:prstGeom>
          <a:noFill/>
          <a:ln/>
        </p:spPr>
        <p:txBody>
          <a:bodyPr wrap="square" lIns="0" tIns="0" rIns="0" bIns="0" rtlCol="0" anchor="ctr"/>
          <a:lstStyle/>
          <a:p>
            <a:pPr marL="0" indent="0" algn="ctr">
              <a:buNone/>
            </a:pPr>
            <a:r>
              <a:rPr lang="en-US" sz="1400" b="1">
                <a:solidFill>
                  <a:srgbClr val="FFFFFF"/>
                </a:solidFill>
                <a:latin typeface="Century Schoolbook" pitchFamily="34" charset="0"/>
                <a:ea typeface="Century Schoolbook" pitchFamily="34" charset="-122"/>
                <a:cs typeface="Century Schoolbook" pitchFamily="34" charset="-120"/>
              </a:rPr>
              <a:t>3</a:t>
            </a:r>
            <a:endParaRPr lang="en-US" sz="1400"/>
          </a:p>
        </p:txBody>
      </p:sp>
      <p:sp>
        <p:nvSpPr>
          <p:cNvPr id="19" name="Text 17"/>
          <p:cNvSpPr/>
          <p:nvPr/>
        </p:nvSpPr>
        <p:spPr>
          <a:xfrm>
            <a:off x="8321040" y="2377440"/>
            <a:ext cx="3108960" cy="384048"/>
          </a:xfrm>
          <a:prstGeom prst="rect">
            <a:avLst/>
          </a:prstGeom>
          <a:noFill/>
          <a:ln/>
        </p:spPr>
        <p:txBody>
          <a:bodyPr wrap="square" lIns="0" tIns="0" rIns="0" bIns="0" rtlCol="0" anchor="ctr"/>
          <a:lstStyle/>
          <a:p>
            <a:pPr marL="0" indent="0">
              <a:buNone/>
            </a:pPr>
            <a:r>
              <a:rPr lang="en-US" sz="1550" b="1">
                <a:solidFill>
                  <a:srgbClr val="7A3B69"/>
                </a:solidFill>
                <a:latin typeface="Century Schoolbook" pitchFamily="34" charset="0"/>
                <a:ea typeface="Century Schoolbook" pitchFamily="34" charset="-122"/>
                <a:cs typeface="Century Schoolbook" pitchFamily="34" charset="-120"/>
              </a:rPr>
              <a:t>Perfeccionamiento Pasivo</a:t>
            </a:r>
            <a:endParaRPr lang="en-US" sz="1550"/>
          </a:p>
        </p:txBody>
      </p:sp>
      <p:sp>
        <p:nvSpPr>
          <p:cNvPr id="20" name="Text 18"/>
          <p:cNvSpPr/>
          <p:nvPr/>
        </p:nvSpPr>
        <p:spPr>
          <a:xfrm>
            <a:off x="8321040" y="2770632"/>
            <a:ext cx="3127248" cy="960120"/>
          </a:xfrm>
          <a:prstGeom prst="rect">
            <a:avLst/>
          </a:prstGeom>
          <a:noFill/>
          <a:ln/>
        </p:spPr>
        <p:txBody>
          <a:bodyPr wrap="square" lIns="0" tIns="0" rIns="0" bIns="0" rtlCol="0" anchor="ctr"/>
          <a:lstStyle/>
          <a:p>
            <a:pPr marL="0" indent="0">
              <a:lnSpc>
                <a:spcPts val="1500"/>
              </a:lnSpc>
              <a:buNone/>
            </a:pPr>
            <a:r>
              <a:rPr lang="en-US" sz="1200">
                <a:solidFill>
                  <a:srgbClr val="12212F"/>
                </a:solidFill>
                <a:latin typeface="Cambria" pitchFamily="34" charset="0"/>
                <a:ea typeface="Cambria" pitchFamily="34" charset="-122"/>
                <a:cs typeface="Cambria" pitchFamily="34" charset="-120"/>
              </a:rPr>
              <a:t>Acota la base imponible. Se tributa solo por el valor que el extranjero efectivamente agrega.</a:t>
            </a:r>
            <a:endParaRPr lang="en-US" sz="1200"/>
          </a:p>
        </p:txBody>
      </p:sp>
      <p:sp>
        <p:nvSpPr>
          <p:cNvPr id="21" name="Text 19"/>
          <p:cNvSpPr/>
          <p:nvPr/>
        </p:nvSpPr>
        <p:spPr>
          <a:xfrm>
            <a:off x="8321040" y="3794760"/>
            <a:ext cx="3108960" cy="274320"/>
          </a:xfrm>
          <a:prstGeom prst="rect">
            <a:avLst/>
          </a:prstGeom>
          <a:noFill/>
          <a:ln/>
        </p:spPr>
        <p:txBody>
          <a:bodyPr wrap="square" lIns="0" tIns="0" rIns="0" bIns="0" rtlCol="0" anchor="ctr"/>
          <a:lstStyle/>
          <a:p>
            <a:pPr marL="0" indent="0">
              <a:buNone/>
            </a:pPr>
            <a:r>
              <a:rPr lang="en-US" sz="950" b="1" kern="0" spc="110">
                <a:solidFill>
                  <a:srgbClr val="44586A"/>
                </a:solidFill>
                <a:latin typeface="Cambria" pitchFamily="34" charset="0"/>
                <a:ea typeface="Cambria" pitchFamily="34" charset="-122"/>
                <a:cs typeface="Cambria" pitchFamily="34" charset="-120"/>
              </a:rPr>
              <a:t>VALOR AGREGADO</a:t>
            </a:r>
            <a:endParaRPr lang="en-US" sz="950"/>
          </a:p>
        </p:txBody>
      </p:sp>
      <p:sp>
        <p:nvSpPr>
          <p:cNvPr id="22" name="Shape 20"/>
          <p:cNvSpPr/>
          <p:nvPr/>
        </p:nvSpPr>
        <p:spPr>
          <a:xfrm>
            <a:off x="548640" y="4526280"/>
            <a:ext cx="11094415" cy="1234440"/>
          </a:xfrm>
          <a:prstGeom prst="roundRect">
            <a:avLst>
              <a:gd name="adj" fmla="val 4444"/>
            </a:avLst>
          </a:prstGeom>
          <a:solidFill>
            <a:srgbClr val="FFFFFF"/>
          </a:solidFill>
          <a:ln w="12700">
            <a:solidFill>
              <a:srgbClr val="0B3C5D"/>
            </a:solidFill>
            <a:prstDash val="solid"/>
          </a:ln>
        </p:spPr>
        <p:txBody>
          <a:bodyPr/>
          <a:lstStyle/>
          <a:p>
            <a:endParaRPr lang="es-PE"/>
          </a:p>
        </p:txBody>
      </p:sp>
      <p:sp>
        <p:nvSpPr>
          <p:cNvPr id="23" name="Text 21"/>
          <p:cNvSpPr/>
          <p:nvPr/>
        </p:nvSpPr>
        <p:spPr>
          <a:xfrm>
            <a:off x="914400" y="4754880"/>
            <a:ext cx="10362895" cy="822960"/>
          </a:xfrm>
          <a:prstGeom prst="rect">
            <a:avLst/>
          </a:prstGeom>
          <a:noFill/>
          <a:ln/>
        </p:spPr>
        <p:txBody>
          <a:bodyPr wrap="square" lIns="0" tIns="0" rIns="0" bIns="0" rtlCol="0" anchor="ctr"/>
          <a:lstStyle/>
          <a:p>
            <a:pPr marL="0" indent="0">
              <a:lnSpc>
                <a:spcPts val="1900"/>
              </a:lnSpc>
              <a:buNone/>
            </a:pPr>
            <a:r>
              <a:rPr lang="en-US" sz="1450">
                <a:solidFill>
                  <a:srgbClr val="12212F"/>
                </a:solidFill>
                <a:latin typeface="Cambria" pitchFamily="34" charset="0"/>
                <a:ea typeface="Cambria" pitchFamily="34" charset="-122"/>
                <a:cs typeface="Cambria" pitchFamily="34" charset="-120"/>
              </a:rPr>
              <a:t>En los tres regímenes el tributo no se elimina: se suspende, se difiere o se acota. Lo que realmente distingue a una operación bien llevada de una mal llevada es el control del plazo y la documentación que sustenta cada etapa.</a:t>
            </a:r>
            <a:endParaRPr lang="en-US" sz="1450"/>
          </a:p>
        </p:txBody>
      </p:sp>
      <p:sp>
        <p:nvSpPr>
          <p:cNvPr id="24" name="Text 22"/>
          <p:cNvSpPr/>
          <p:nvPr/>
        </p:nvSpPr>
        <p:spPr>
          <a:xfrm>
            <a:off x="548640" y="5897880"/>
            <a:ext cx="3657600" cy="411480"/>
          </a:xfrm>
          <a:prstGeom prst="rect">
            <a:avLst/>
          </a:prstGeom>
          <a:noFill/>
          <a:ln/>
        </p:spPr>
        <p:txBody>
          <a:bodyPr wrap="square" lIns="0" tIns="0" rIns="0" bIns="0" rtlCol="0" anchor="ctr"/>
          <a:lstStyle/>
          <a:p>
            <a:pPr marL="0" indent="0">
              <a:buNone/>
            </a:pPr>
            <a:r>
              <a:rPr lang="en-US" sz="2000" b="1">
                <a:solidFill>
                  <a:srgbClr val="0B3C5D"/>
                </a:solidFill>
                <a:latin typeface="Century Schoolbook" pitchFamily="34" charset="0"/>
                <a:ea typeface="Century Schoolbook" pitchFamily="34" charset="-122"/>
                <a:cs typeface="Century Schoolbook" pitchFamily="34" charset="-120"/>
              </a:rPr>
              <a:t>Gracias.</a:t>
            </a:r>
            <a:endParaRPr lang="en-US" sz="2000"/>
          </a:p>
        </p:txBody>
      </p:sp>
      <p:sp>
        <p:nvSpPr>
          <p:cNvPr id="25" name="Text 23"/>
          <p:cNvSpPr/>
          <p:nvPr/>
        </p:nvSpPr>
        <p:spPr>
          <a:xfrm>
            <a:off x="9174175" y="5961888"/>
            <a:ext cx="1737360" cy="274320"/>
          </a:xfrm>
          <a:prstGeom prst="rect">
            <a:avLst/>
          </a:prstGeom>
          <a:noFill/>
          <a:ln/>
        </p:spPr>
        <p:txBody>
          <a:bodyPr wrap="square" lIns="0" tIns="0" rIns="0" bIns="0" rtlCol="0" anchor="ctr"/>
          <a:lstStyle/>
          <a:p>
            <a:pPr marL="0" indent="0" algn="r">
              <a:buNone/>
            </a:pPr>
            <a:r>
              <a:rPr lang="en-US" sz="850" b="1" kern="0" spc="60">
                <a:solidFill>
                  <a:srgbClr val="44586A"/>
                </a:solidFill>
                <a:latin typeface="Cambria" pitchFamily="34" charset="0"/>
                <a:ea typeface="Cambria" pitchFamily="34" charset="-122"/>
                <a:cs typeface="Cambria" pitchFamily="34" charset="-120"/>
              </a:rPr>
              <a:t>MARILIN MEDINA</a:t>
            </a:r>
            <a:endParaRPr lang="en-US" sz="850"/>
          </a:p>
        </p:txBody>
      </p:sp>
      <p:sp>
        <p:nvSpPr>
          <p:cNvPr id="26" name="Text 24"/>
          <p:cNvSpPr/>
          <p:nvPr/>
        </p:nvSpPr>
        <p:spPr>
          <a:xfrm>
            <a:off x="10911535" y="5961888"/>
            <a:ext cx="731520" cy="274320"/>
          </a:xfrm>
          <a:prstGeom prst="rect">
            <a:avLst/>
          </a:prstGeom>
          <a:noFill/>
          <a:ln/>
        </p:spPr>
        <p:txBody>
          <a:bodyPr wrap="square" lIns="0" tIns="0" rIns="0" bIns="0" rtlCol="0" anchor="ctr"/>
          <a:lstStyle/>
          <a:p>
            <a:pPr marL="0" indent="0" algn="r">
              <a:buNone/>
            </a:pPr>
            <a:r>
              <a:rPr lang="en-US" sz="950" b="1">
                <a:solidFill>
                  <a:srgbClr val="44586A"/>
                </a:solidFill>
                <a:latin typeface="Cambria" pitchFamily="34" charset="0"/>
                <a:ea typeface="Cambria" pitchFamily="34" charset="-122"/>
                <a:cs typeface="Cambria" pitchFamily="34" charset="-120"/>
              </a:rPr>
              <a:t>29</a:t>
            </a:r>
            <a:endParaRPr lang="en-US" sz="9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5281</Words>
  <Application>Microsoft Office PowerPoint</Application>
  <PresentationFormat>Panorámica</PresentationFormat>
  <Paragraphs>728</Paragraphs>
  <Slides>29</Slides>
  <Notes>29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29</vt:i4>
      </vt:variant>
    </vt:vector>
  </HeadingPairs>
  <TitlesOfParts>
    <vt:vector size="33" baseType="lpstr">
      <vt:lpstr>Arial</vt:lpstr>
      <vt:lpstr>Cambria</vt:lpstr>
      <vt:lpstr>Century Schoolbook</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ADEX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Regímenes Aduaneros Especiales — Tarea 4</dc:title>
  <dc:subject>PptxGenJS Presentation</dc:subject>
  <dc:creator>Grupo 4 — ADEX Ciclo V</dc:creator>
  <cp:lastModifiedBy>Eric Mozombite</cp:lastModifiedBy>
  <cp:revision>1</cp:revision>
  <dcterms:created xsi:type="dcterms:W3CDTF">2026-08-08T22:49:42Z</dcterms:created>
  <dcterms:modified xsi:type="dcterms:W3CDTF">2026-08-10T21:27:57Z</dcterms:modified>
</cp:coreProperties>
</file>